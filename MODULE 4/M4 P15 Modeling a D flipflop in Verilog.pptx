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346" r:id="rId3"/>
    <p:sldId id="347" r:id="rId4"/>
    <p:sldId id="348" r:id="rId5"/>
    <p:sldId id="350" r:id="rId6"/>
    <p:sldId id="349" r:id="rId7"/>
    <p:sldId id="351" r:id="rId8"/>
    <p:sldId id="352" r:id="rId9"/>
    <p:sldId id="353" r:id="rId10"/>
    <p:sldId id="355" r:id="rId11"/>
    <p:sldId id="35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637C5-8926-FE19-2183-75F61CD0FF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A77986-49BA-11F6-FCDC-839898EFB0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02BA70-1D08-E3EC-71ED-4AF196CBEB04}"/>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399A6731-50A0-3E03-74E6-2B9ED33CF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80ED2-9CDF-8845-DB9A-FC135635E22B}"/>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2593930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8386-A813-C399-B741-518D516174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C636D7-E021-98D1-128D-A56467585E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E58ACD-83B7-D82A-D8AF-ED5F01D5E395}"/>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95236CFF-D91F-733E-1834-FB7DCF7140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771EF9-E3D9-D472-94F7-DD7330B554AE}"/>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766161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E8091-9A2B-615E-F375-8F3A1B1791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D2B59A-E1FB-99F7-36B5-09B6D77EA3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90C24D-3062-5210-ECB2-02C88A15D5CF}"/>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56441216-96BF-8086-48B4-ECB789E577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799A6-AF2B-68C8-C0DA-039711DF76EC}"/>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2415857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0A32-6CA1-4E97-AE5D-804DDC93AF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639004-AE59-8158-2AC1-AB229B46F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5D2349-201F-13CF-270C-CBAB86F9CF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6EC82A-E16F-6D99-94CD-FB27CA9D213F}"/>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6" name="Footer Placeholder 5">
            <a:extLst>
              <a:ext uri="{FF2B5EF4-FFF2-40B4-BE49-F238E27FC236}">
                <a16:creationId xmlns:a16="http://schemas.microsoft.com/office/drawing/2014/main" id="{DFFE74D4-1153-8C89-1F43-B0DCC67EE1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DE9BB6-3A13-E147-5446-225F5346D739}"/>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4202710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8BC5-F146-31E1-49C5-B8C8ADCDFB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87DB8E-BD96-67BE-CB13-72ADA153C7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8F2553-8046-EA48-24BA-0779E1CBFF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089709-EA66-FF90-0545-2882667833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0D8273-AA5A-B839-47EB-823761B39E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F508D9-3BE7-B404-CAC8-E93CD77C2664}"/>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8" name="Footer Placeholder 7">
            <a:extLst>
              <a:ext uri="{FF2B5EF4-FFF2-40B4-BE49-F238E27FC236}">
                <a16:creationId xmlns:a16="http://schemas.microsoft.com/office/drawing/2014/main" id="{2AC8DF79-870F-56EB-15C4-D1DE5D5B68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265F24-5D92-A3B3-6487-D6DE3AEDB1AC}"/>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252636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4E8B-A439-323B-EE1F-24105FFA7D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2060AF-5183-C3CE-7B15-847CD24902AA}"/>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4" name="Footer Placeholder 3">
            <a:extLst>
              <a:ext uri="{FF2B5EF4-FFF2-40B4-BE49-F238E27FC236}">
                <a16:creationId xmlns:a16="http://schemas.microsoft.com/office/drawing/2014/main" id="{E593074B-F070-7173-ED89-E0D706EF6C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D073E4-A779-2E81-FB0D-49F2207448CC}"/>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478312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7EE96C-57F5-2318-F9AC-CF6194EA17AF}"/>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3" name="Footer Placeholder 2">
            <a:extLst>
              <a:ext uri="{FF2B5EF4-FFF2-40B4-BE49-F238E27FC236}">
                <a16:creationId xmlns:a16="http://schemas.microsoft.com/office/drawing/2014/main" id="{1C3D82D5-7B78-54E6-0179-4C04ACE836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31265C-81A8-F7D5-5A8F-A9E13587416C}"/>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325906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143B-D539-AB5F-EE38-3BA8FADB2D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91EA49-514E-4889-FCEE-4269533586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84D9F4-7B14-A90E-5D61-083A2C74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BA1DE-AE8E-2A96-AFDB-3B0027A2F435}"/>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6" name="Footer Placeholder 5">
            <a:extLst>
              <a:ext uri="{FF2B5EF4-FFF2-40B4-BE49-F238E27FC236}">
                <a16:creationId xmlns:a16="http://schemas.microsoft.com/office/drawing/2014/main" id="{9DC34FBB-FFA4-8278-3771-7821699D21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6BA1E1-C611-C8F8-4BF9-111B1D7575E9}"/>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386714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EEE9-29D4-BC90-A70D-7782AF273C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5FE13E-F0C7-1180-BF2D-57BFAD2C7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8E9E89-C9E5-362C-E6E2-878568B20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6DCB42-5377-DBF4-8426-32987C6F6043}"/>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6" name="Footer Placeholder 5">
            <a:extLst>
              <a:ext uri="{FF2B5EF4-FFF2-40B4-BE49-F238E27FC236}">
                <a16:creationId xmlns:a16="http://schemas.microsoft.com/office/drawing/2014/main" id="{7344268A-580C-4865-76D7-01EBDE5019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1155DD-048A-E96D-5CE3-7B1E6199C1F7}"/>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2658281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A538-6BD0-F900-8679-C6DE9FB601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A1CB70-9BA0-E3D0-3125-71289B52A9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182200-4D0A-B82B-1A49-422FBCB40FC7}"/>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6915C9EB-5217-86D0-B0EC-829DA55179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E295ED-6D8C-6106-F9F4-6F60CAD32DEE}"/>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600686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BC335-5A1F-778D-B060-3A6092D5E8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3A6EBF-2CFC-9379-C218-53B19FDAA7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EECC11-10A8-B93C-BA6E-71BB5725B254}"/>
              </a:ext>
            </a:extLst>
          </p:cNvPr>
          <p:cNvSpPr>
            <a:spLocks noGrp="1"/>
          </p:cNvSpPr>
          <p:nvPr>
            <p:ph type="dt" sz="half" idx="10"/>
          </p:nvPr>
        </p:nvSpPr>
        <p:spPr/>
        <p:txBody>
          <a:body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5BBA0461-03FD-53DE-FB81-BEB42F0CDC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AF7F2B-0058-DDC5-5B87-AE5E1D210C43}"/>
              </a:ext>
            </a:extLst>
          </p:cNvPr>
          <p:cNvSpPr>
            <a:spLocks noGrp="1"/>
          </p:cNvSpPr>
          <p:nvPr>
            <p:ph type="sldNum" sz="quarter" idx="12"/>
          </p:nvPr>
        </p:nvSpPr>
        <p:spPr/>
        <p:txBody>
          <a:bodyPr/>
          <a:lstStyle/>
          <a:p>
            <a:fld id="{4BE8ECB6-690B-4CA6-A99F-149490A54F4A}" type="slidenum">
              <a:rPr lang="en-IN" smtClean="0"/>
              <a:t>‹#›</a:t>
            </a:fld>
            <a:endParaRPr lang="en-IN"/>
          </a:p>
        </p:txBody>
      </p:sp>
    </p:spTree>
    <p:extLst>
      <p:ext uri="{BB962C8B-B14F-4D97-AF65-F5344CB8AC3E}">
        <p14:creationId xmlns:p14="http://schemas.microsoft.com/office/powerpoint/2010/main" val="415230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8777D7-75EC-32B3-EAC3-8202B53BE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90014A-C5E0-C87F-2474-A2A768BDA2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4B3327-55BC-D11C-42DF-97868D5596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407565-2A10-495F-ABC5-B62E4D664CE2}" type="datetimeFigureOut">
              <a:rPr lang="en-IN" smtClean="0"/>
              <a:t>09-05-2026</a:t>
            </a:fld>
            <a:endParaRPr lang="en-IN"/>
          </a:p>
        </p:txBody>
      </p:sp>
      <p:sp>
        <p:nvSpPr>
          <p:cNvPr id="5" name="Footer Placeholder 4">
            <a:extLst>
              <a:ext uri="{FF2B5EF4-FFF2-40B4-BE49-F238E27FC236}">
                <a16:creationId xmlns:a16="http://schemas.microsoft.com/office/drawing/2014/main" id="{5BB117D2-99AD-E019-016F-1C11D62951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507B51-B12A-3EBA-0371-1103D5F9E9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8ECB6-690B-4CA6-A99F-149490A54F4A}" type="slidenum">
              <a:rPr lang="en-IN" smtClean="0"/>
              <a:t>‹#›</a:t>
            </a:fld>
            <a:endParaRPr lang="en-IN"/>
          </a:p>
        </p:txBody>
      </p:sp>
    </p:spTree>
    <p:extLst>
      <p:ext uri="{BB962C8B-B14F-4D97-AF65-F5344CB8AC3E}">
        <p14:creationId xmlns:p14="http://schemas.microsoft.com/office/powerpoint/2010/main" val="2172761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A5F1-45C6-9A5B-376C-ACA9011F2604}"/>
              </a:ext>
            </a:extLst>
          </p:cNvPr>
          <p:cNvSpPr>
            <a:spLocks noGrp="1"/>
          </p:cNvSpPr>
          <p:nvPr>
            <p:ph type="title"/>
          </p:nvPr>
        </p:nvSpPr>
        <p:spPr/>
        <p:txBody>
          <a:bodyPr>
            <a:normAutofit/>
          </a:bodyPr>
          <a:lstStyle/>
          <a:p>
            <a:r>
              <a:rPr lang="en-IN" dirty="0" err="1"/>
              <a:t>Modeling</a:t>
            </a:r>
            <a:r>
              <a:rPr lang="en-IN" dirty="0"/>
              <a:t> a D flipflop in Verilog</a:t>
            </a:r>
          </a:p>
        </p:txBody>
      </p:sp>
      <p:sp>
        <p:nvSpPr>
          <p:cNvPr id="3" name="Content Placeholder 2">
            <a:extLst>
              <a:ext uri="{FF2B5EF4-FFF2-40B4-BE49-F238E27FC236}">
                <a16:creationId xmlns:a16="http://schemas.microsoft.com/office/drawing/2014/main" id="{07EC0902-4FCF-CE8E-7CD3-EA74E64DBD26}"/>
              </a:ext>
            </a:extLst>
          </p:cNvPr>
          <p:cNvSpPr>
            <a:spLocks noGrp="1"/>
          </p:cNvSpPr>
          <p:nvPr>
            <p:ph idx="1"/>
          </p:nvPr>
        </p:nvSpPr>
        <p:spPr/>
        <p:txBody>
          <a:bodyPr>
            <a:normAutofit fontScale="92500" lnSpcReduction="10000"/>
          </a:bodyPr>
          <a:lstStyle/>
          <a:p>
            <a:r>
              <a:rPr lang="en-US" dirty="0"/>
              <a:t>Outputs of this sequential storage device are not updated continuously; its </a:t>
            </a:r>
            <a:r>
              <a:rPr lang="en-US" dirty="0" err="1"/>
              <a:t>behaviour</a:t>
            </a:r>
            <a:r>
              <a:rPr lang="en-US" dirty="0"/>
              <a:t> is modeled using a procedural assignment. (Non-blocking assignments)</a:t>
            </a:r>
          </a:p>
          <a:p>
            <a:r>
              <a:rPr lang="en-US" dirty="0"/>
              <a:t>In the sensitivity list, </a:t>
            </a:r>
          </a:p>
          <a:p>
            <a:pPr lvl="1"/>
            <a:r>
              <a:rPr lang="en-US" dirty="0"/>
              <a:t>C input controls when the D-Latch is in track or store mode. </a:t>
            </a:r>
          </a:p>
          <a:p>
            <a:pPr lvl="1"/>
            <a:r>
              <a:rPr lang="en-US" dirty="0"/>
              <a:t>D input in the sensitivity list because during the track mode, the output Q will be assigned the value of D so any change on D needs to trigger the </a:t>
            </a:r>
            <a:r>
              <a:rPr lang="en-US" dirty="0" err="1"/>
              <a:t>proceduralassignments</a:t>
            </a:r>
            <a:r>
              <a:rPr lang="en-US" dirty="0"/>
              <a:t>. </a:t>
            </a:r>
          </a:p>
          <a:p>
            <a:pPr lvl="1"/>
            <a:r>
              <a:rPr lang="en-US" dirty="0"/>
              <a:t>The use of an if-else statement is used to model the behavior during track mode (C = 1)</a:t>
            </a:r>
          </a:p>
          <a:p>
            <a:pPr lvl="1"/>
            <a:r>
              <a:rPr lang="en-US" dirty="0"/>
              <a:t>Since the behavior is not explicitly stated for when C = 0, the outputs will hold their last value, which allows us to simply omit the else portion of the if statement to complete the model.</a:t>
            </a:r>
            <a:endParaRPr lang="en-IN" dirty="0"/>
          </a:p>
        </p:txBody>
      </p:sp>
    </p:spTree>
    <p:extLst>
      <p:ext uri="{BB962C8B-B14F-4D97-AF65-F5344CB8AC3E}">
        <p14:creationId xmlns:p14="http://schemas.microsoft.com/office/powerpoint/2010/main" val="1675182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3CA6D5-61CE-BE0B-BB2B-A807DB3E695A}"/>
              </a:ext>
            </a:extLst>
          </p:cNvPr>
          <p:cNvPicPr>
            <a:picLocks noGrp="1" noChangeAspect="1"/>
          </p:cNvPicPr>
          <p:nvPr>
            <p:ph idx="4294967295"/>
          </p:nvPr>
        </p:nvPicPr>
        <p:blipFill>
          <a:blip r:embed="rId2"/>
          <a:stretch>
            <a:fillRect/>
          </a:stretch>
        </p:blipFill>
        <p:spPr>
          <a:xfrm>
            <a:off x="838200" y="1137340"/>
            <a:ext cx="10515600" cy="3322638"/>
          </a:xfrm>
          <a:prstGeom prst="rect">
            <a:avLst/>
          </a:prstGeom>
        </p:spPr>
      </p:pic>
    </p:spTree>
    <p:extLst>
      <p:ext uri="{BB962C8B-B14F-4D97-AF65-F5344CB8AC3E}">
        <p14:creationId xmlns:p14="http://schemas.microsoft.com/office/powerpoint/2010/main" val="2799396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984F15-94DC-B1A8-30B0-9437C827E476}"/>
              </a:ext>
            </a:extLst>
          </p:cNvPr>
          <p:cNvPicPr>
            <a:picLocks noChangeAspect="1"/>
          </p:cNvPicPr>
          <p:nvPr/>
        </p:nvPicPr>
        <p:blipFill>
          <a:blip r:embed="rId2"/>
          <a:stretch>
            <a:fillRect/>
          </a:stretch>
        </p:blipFill>
        <p:spPr>
          <a:xfrm>
            <a:off x="518334" y="1523734"/>
            <a:ext cx="11155332" cy="3810532"/>
          </a:xfrm>
          <a:prstGeom prst="rect">
            <a:avLst/>
          </a:prstGeom>
        </p:spPr>
      </p:pic>
    </p:spTree>
    <p:extLst>
      <p:ext uri="{BB962C8B-B14F-4D97-AF65-F5344CB8AC3E}">
        <p14:creationId xmlns:p14="http://schemas.microsoft.com/office/powerpoint/2010/main" val="275293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7F28-D099-1E73-592F-ACCEE21C0CB7}"/>
              </a:ext>
            </a:extLst>
          </p:cNvPr>
          <p:cNvSpPr>
            <a:spLocks noGrp="1"/>
          </p:cNvSpPr>
          <p:nvPr>
            <p:ph type="title"/>
          </p:nvPr>
        </p:nvSpPr>
        <p:spPr/>
        <p:txBody>
          <a:bodyPr/>
          <a:lstStyle/>
          <a:p>
            <a:r>
              <a:rPr lang="en-IN" dirty="0"/>
              <a:t>D-Flip-Flop with Asynchronous Reset</a:t>
            </a:r>
          </a:p>
        </p:txBody>
      </p:sp>
      <p:sp>
        <p:nvSpPr>
          <p:cNvPr id="3" name="Content Placeholder 2">
            <a:extLst>
              <a:ext uri="{FF2B5EF4-FFF2-40B4-BE49-F238E27FC236}">
                <a16:creationId xmlns:a16="http://schemas.microsoft.com/office/drawing/2014/main" id="{D19CEAA2-3916-4EA0-2236-0C7745AAC5DD}"/>
              </a:ext>
            </a:extLst>
          </p:cNvPr>
          <p:cNvSpPr>
            <a:spLocks noGrp="1"/>
          </p:cNvSpPr>
          <p:nvPr>
            <p:ph idx="1"/>
          </p:nvPr>
        </p:nvSpPr>
        <p:spPr>
          <a:xfrm>
            <a:off x="838199" y="1560443"/>
            <a:ext cx="10780643" cy="5009322"/>
          </a:xfrm>
        </p:spPr>
        <p:txBody>
          <a:bodyPr>
            <a:normAutofit/>
          </a:bodyPr>
          <a:lstStyle/>
          <a:p>
            <a:r>
              <a:rPr lang="en-US" sz="2400" dirty="0"/>
              <a:t>D-Flip-Flops typically have a reset line to </a:t>
            </a:r>
            <a:r>
              <a:rPr lang="en-US" sz="2400" dirty="0" err="1"/>
              <a:t>initialise</a:t>
            </a:r>
            <a:r>
              <a:rPr lang="en-US" sz="2400" dirty="0"/>
              <a:t> their outputs to known states (e.g., Q = 0, Qn = 1). </a:t>
            </a:r>
          </a:p>
          <a:p>
            <a:r>
              <a:rPr lang="en-US" sz="2400" dirty="0"/>
              <a:t>Resets are asynchronous, meaning whenever they are asserted, assignments to the outputs take place immediately. </a:t>
            </a:r>
          </a:p>
          <a:p>
            <a:r>
              <a:rPr lang="en-US" sz="2400" dirty="0"/>
              <a:t>If a reset was synchronous, the outputs would only update on the next rising edge of the clock. This behavior is undesirable because if there is a system failure, there is no guarantee that a clock edge will ever occur. Thus, the reset may never take place. </a:t>
            </a:r>
          </a:p>
          <a:p>
            <a:r>
              <a:rPr lang="en-US" sz="2400" dirty="0"/>
              <a:t>Asynchronous resets are more desirable not only to put the D-Flip-Flops into a known state at startup, but also to recover from a system failure that may have impacted the clock signal. In order to model this asynchronous behavior, the reset signal is included in the sensitivity list. This allows both clock and the reset transitions to trigger the procedural block. </a:t>
            </a:r>
          </a:p>
        </p:txBody>
      </p:sp>
    </p:spTree>
    <p:extLst>
      <p:ext uri="{BB962C8B-B14F-4D97-AF65-F5344CB8AC3E}">
        <p14:creationId xmlns:p14="http://schemas.microsoft.com/office/powerpoint/2010/main" val="3229821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7F28-D099-1E73-592F-ACCEE21C0CB7}"/>
              </a:ext>
            </a:extLst>
          </p:cNvPr>
          <p:cNvSpPr>
            <a:spLocks noGrp="1"/>
          </p:cNvSpPr>
          <p:nvPr>
            <p:ph type="title"/>
          </p:nvPr>
        </p:nvSpPr>
        <p:spPr/>
        <p:txBody>
          <a:bodyPr/>
          <a:lstStyle/>
          <a:p>
            <a:r>
              <a:rPr lang="en-IN" dirty="0"/>
              <a:t>D-Flip-Flop with Asynchronous Reset</a:t>
            </a:r>
          </a:p>
        </p:txBody>
      </p:sp>
      <p:sp>
        <p:nvSpPr>
          <p:cNvPr id="3" name="Content Placeholder 2">
            <a:extLst>
              <a:ext uri="{FF2B5EF4-FFF2-40B4-BE49-F238E27FC236}">
                <a16:creationId xmlns:a16="http://schemas.microsoft.com/office/drawing/2014/main" id="{D19CEAA2-3916-4EA0-2236-0C7745AAC5DD}"/>
              </a:ext>
            </a:extLst>
          </p:cNvPr>
          <p:cNvSpPr>
            <a:spLocks noGrp="1"/>
          </p:cNvSpPr>
          <p:nvPr>
            <p:ph idx="1"/>
          </p:nvPr>
        </p:nvSpPr>
        <p:spPr/>
        <p:txBody>
          <a:bodyPr>
            <a:normAutofit fontScale="85000" lnSpcReduction="20000"/>
          </a:bodyPr>
          <a:lstStyle/>
          <a:p>
            <a:r>
              <a:rPr lang="en-US" dirty="0"/>
              <a:t>The edge sensitivity of the reset can be specified using </a:t>
            </a:r>
            <a:r>
              <a:rPr lang="en-US" dirty="0" err="1"/>
              <a:t>posedge</a:t>
            </a:r>
            <a:r>
              <a:rPr lang="en-US" dirty="0"/>
              <a:t> (active HIGH) or </a:t>
            </a:r>
            <a:r>
              <a:rPr lang="en-US" dirty="0" err="1"/>
              <a:t>negedge</a:t>
            </a:r>
            <a:r>
              <a:rPr lang="en-US" dirty="0"/>
              <a:t> (active LOW). </a:t>
            </a:r>
          </a:p>
          <a:p>
            <a:r>
              <a:rPr lang="en-US" dirty="0"/>
              <a:t>Within the block an if-else statement is used to determine whether the reset has been asserted or a rising edge of the clock has occurred. </a:t>
            </a:r>
          </a:p>
          <a:p>
            <a:r>
              <a:rPr lang="en-US" dirty="0"/>
              <a:t>The </a:t>
            </a:r>
            <a:r>
              <a:rPr lang="en-US" dirty="0" err="1"/>
              <a:t>ifelse</a:t>
            </a:r>
            <a:r>
              <a:rPr lang="en-US" dirty="0"/>
              <a:t> statement first checks whether the reset input has been asserted since it has the highest priority. If it has, it makes the appropriate assignments to the outputs (Q = 0, Qn = 1). </a:t>
            </a:r>
          </a:p>
          <a:p>
            <a:r>
              <a:rPr lang="en-US" dirty="0"/>
              <a:t>If the reset has not been asserted, the </a:t>
            </a:r>
            <a:r>
              <a:rPr lang="en-US" i="1" dirty="0"/>
              <a:t>else </a:t>
            </a:r>
            <a:r>
              <a:rPr lang="en-US" dirty="0"/>
              <a:t>clause is executed, which corresponds to a rising edge of clock (Q &lt; = D, Qn &lt; = ~ D). </a:t>
            </a:r>
          </a:p>
          <a:p>
            <a:r>
              <a:rPr lang="en-US" dirty="0"/>
              <a:t>No other assignments are listed in the block, thus the outputs are only updated on a transition of the reset or clock. </a:t>
            </a:r>
          </a:p>
          <a:p>
            <a:r>
              <a:rPr lang="en-US" dirty="0"/>
              <a:t>At all other times the outputs remain at their current </a:t>
            </a:r>
            <a:r>
              <a:rPr lang="en-IN" dirty="0"/>
              <a:t>value, thus </a:t>
            </a:r>
            <a:r>
              <a:rPr lang="en-IN" dirty="0" err="1"/>
              <a:t>modeling</a:t>
            </a:r>
            <a:r>
              <a:rPr lang="en-IN" dirty="0"/>
              <a:t> the </a:t>
            </a:r>
            <a:r>
              <a:rPr lang="en-US" dirty="0"/>
              <a:t>store behavior of the D-Flip-Flop.</a:t>
            </a:r>
            <a:endParaRPr lang="en-IN" dirty="0"/>
          </a:p>
        </p:txBody>
      </p:sp>
    </p:spTree>
    <p:extLst>
      <p:ext uri="{BB962C8B-B14F-4D97-AF65-F5344CB8AC3E}">
        <p14:creationId xmlns:p14="http://schemas.microsoft.com/office/powerpoint/2010/main" val="3943605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92D8FE-EF6D-1745-D285-CE2E1FE4AD09}"/>
              </a:ext>
            </a:extLst>
          </p:cNvPr>
          <p:cNvPicPr>
            <a:picLocks noChangeAspect="1"/>
          </p:cNvPicPr>
          <p:nvPr/>
        </p:nvPicPr>
        <p:blipFill>
          <a:blip r:embed="rId2"/>
          <a:stretch>
            <a:fillRect/>
          </a:stretch>
        </p:blipFill>
        <p:spPr>
          <a:xfrm>
            <a:off x="407702" y="186586"/>
            <a:ext cx="11250897" cy="6383179"/>
          </a:xfrm>
          <a:prstGeom prst="rect">
            <a:avLst/>
          </a:prstGeom>
        </p:spPr>
      </p:pic>
    </p:spTree>
    <p:extLst>
      <p:ext uri="{BB962C8B-B14F-4D97-AF65-F5344CB8AC3E}">
        <p14:creationId xmlns:p14="http://schemas.microsoft.com/office/powerpoint/2010/main" val="674056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D4A6-D06B-0F9D-98DB-37927D3D2702}"/>
              </a:ext>
            </a:extLst>
          </p:cNvPr>
          <p:cNvSpPr>
            <a:spLocks noGrp="1"/>
          </p:cNvSpPr>
          <p:nvPr>
            <p:ph type="title"/>
          </p:nvPr>
        </p:nvSpPr>
        <p:spPr/>
        <p:txBody>
          <a:bodyPr/>
          <a:lstStyle/>
          <a:p>
            <a:r>
              <a:rPr lang="en-US" dirty="0"/>
              <a:t>D-Flip-Flop with Asynchronous Reset and Preset</a:t>
            </a:r>
            <a:endParaRPr lang="en-IN" dirty="0"/>
          </a:p>
        </p:txBody>
      </p:sp>
      <p:sp>
        <p:nvSpPr>
          <p:cNvPr id="3" name="Content Placeholder 2">
            <a:extLst>
              <a:ext uri="{FF2B5EF4-FFF2-40B4-BE49-F238E27FC236}">
                <a16:creationId xmlns:a16="http://schemas.microsoft.com/office/drawing/2014/main" id="{4722B49B-022E-1908-D268-2466674DECFB}"/>
              </a:ext>
            </a:extLst>
          </p:cNvPr>
          <p:cNvSpPr>
            <a:spLocks noGrp="1"/>
          </p:cNvSpPr>
          <p:nvPr>
            <p:ph idx="1"/>
          </p:nvPr>
        </p:nvSpPr>
        <p:spPr/>
        <p:txBody>
          <a:bodyPr>
            <a:normAutofit/>
          </a:bodyPr>
          <a:lstStyle/>
          <a:p>
            <a:r>
              <a:rPr lang="en-US" sz="2400" dirty="0"/>
              <a:t>The preset input is included in the sensitivity list to trigger the block whenever a transition occurs on either the clock, reset, or preset inputs. </a:t>
            </a:r>
          </a:p>
          <a:p>
            <a:r>
              <a:rPr lang="en-US" sz="2400" dirty="0"/>
              <a:t>The edge sensitivity keywords are used to dictate whether the preset is active HIGH or LOW. </a:t>
            </a:r>
          </a:p>
          <a:p>
            <a:r>
              <a:rPr lang="en-US" sz="2400" dirty="0"/>
              <a:t>Nested if-else statements are used to first check whether a reset has occurred; then whether a preset has occurred; and finally, whether a rising edge of the clock has occurred. </a:t>
            </a:r>
            <a:endParaRPr lang="en-IN" sz="2400" dirty="0"/>
          </a:p>
        </p:txBody>
      </p:sp>
    </p:spTree>
    <p:extLst>
      <p:ext uri="{BB962C8B-B14F-4D97-AF65-F5344CB8AC3E}">
        <p14:creationId xmlns:p14="http://schemas.microsoft.com/office/powerpoint/2010/main" val="424091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DE1D03-6A79-88B9-A799-2EE0F097B080}"/>
              </a:ext>
            </a:extLst>
          </p:cNvPr>
          <p:cNvPicPr>
            <a:picLocks noChangeAspect="1"/>
          </p:cNvPicPr>
          <p:nvPr/>
        </p:nvPicPr>
        <p:blipFill>
          <a:blip r:embed="rId2"/>
          <a:stretch>
            <a:fillRect/>
          </a:stretch>
        </p:blipFill>
        <p:spPr>
          <a:xfrm>
            <a:off x="785192" y="0"/>
            <a:ext cx="10525538" cy="6858000"/>
          </a:xfrm>
          <a:prstGeom prst="rect">
            <a:avLst/>
          </a:prstGeom>
        </p:spPr>
      </p:pic>
    </p:spTree>
    <p:extLst>
      <p:ext uri="{BB962C8B-B14F-4D97-AF65-F5344CB8AC3E}">
        <p14:creationId xmlns:p14="http://schemas.microsoft.com/office/powerpoint/2010/main" val="227959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05A3-5F45-FD4C-6572-4B750B7D69A3}"/>
              </a:ext>
            </a:extLst>
          </p:cNvPr>
          <p:cNvSpPr>
            <a:spLocks noGrp="1"/>
          </p:cNvSpPr>
          <p:nvPr>
            <p:ph type="title"/>
          </p:nvPr>
        </p:nvSpPr>
        <p:spPr/>
        <p:txBody>
          <a:bodyPr/>
          <a:lstStyle/>
          <a:p>
            <a:r>
              <a:rPr lang="en-IN" dirty="0"/>
              <a:t>D-Flip-Flop with Synchronous Enable</a:t>
            </a:r>
          </a:p>
        </p:txBody>
      </p:sp>
      <p:sp>
        <p:nvSpPr>
          <p:cNvPr id="3" name="Content Placeholder 2">
            <a:extLst>
              <a:ext uri="{FF2B5EF4-FFF2-40B4-BE49-F238E27FC236}">
                <a16:creationId xmlns:a16="http://schemas.microsoft.com/office/drawing/2014/main" id="{39FA7B81-65F9-F893-1037-D0A154075DCF}"/>
              </a:ext>
            </a:extLst>
          </p:cNvPr>
          <p:cNvSpPr>
            <a:spLocks noGrp="1"/>
          </p:cNvSpPr>
          <p:nvPr>
            <p:ph idx="1"/>
          </p:nvPr>
        </p:nvSpPr>
        <p:spPr/>
        <p:txBody>
          <a:bodyPr>
            <a:normAutofit/>
          </a:bodyPr>
          <a:lstStyle/>
          <a:p>
            <a:r>
              <a:rPr lang="en-US" sz="2400" dirty="0"/>
              <a:t>An enable input is also a common feature of modern D-Flip-Flops. </a:t>
            </a:r>
          </a:p>
          <a:p>
            <a:r>
              <a:rPr lang="en-US" sz="2400" dirty="0"/>
              <a:t>Enable inputs are synchronous, meaning that when they are asserted, action is only taken on the rising edge of the clock. This means that the enable input is not included in the sensitivity list of the always block. </a:t>
            </a:r>
          </a:p>
          <a:p>
            <a:r>
              <a:rPr lang="en-US" sz="2400" dirty="0"/>
              <a:t>Since enable is only considered when there is a rising edge of the clock, the logic for the enable is handled in a nested if-else statement that is included in the section that models the behavior for when a rising edge of clock is </a:t>
            </a:r>
            <a:r>
              <a:rPr lang="en-IN" sz="2400" dirty="0"/>
              <a:t>detected.</a:t>
            </a:r>
          </a:p>
        </p:txBody>
      </p:sp>
    </p:spTree>
    <p:extLst>
      <p:ext uri="{BB962C8B-B14F-4D97-AF65-F5344CB8AC3E}">
        <p14:creationId xmlns:p14="http://schemas.microsoft.com/office/powerpoint/2010/main" val="3864577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2B29-0202-FC83-2058-85E4D21BD2CD}"/>
              </a:ext>
            </a:extLst>
          </p:cNvPr>
          <p:cNvSpPr>
            <a:spLocks noGrp="1"/>
          </p:cNvSpPr>
          <p:nvPr>
            <p:ph type="title"/>
          </p:nvPr>
        </p:nvSpPr>
        <p:spPr/>
        <p:txBody>
          <a:bodyPr/>
          <a:lstStyle/>
          <a:p>
            <a:r>
              <a:rPr lang="en-IN" dirty="0"/>
              <a:t>D-Flip-Flop with Synchronous Enable</a:t>
            </a:r>
          </a:p>
        </p:txBody>
      </p:sp>
      <p:sp>
        <p:nvSpPr>
          <p:cNvPr id="3" name="Content Placeholder 2">
            <a:extLst>
              <a:ext uri="{FF2B5EF4-FFF2-40B4-BE49-F238E27FC236}">
                <a16:creationId xmlns:a16="http://schemas.microsoft.com/office/drawing/2014/main" id="{4917498B-723E-01BC-A297-7206B4058606}"/>
              </a:ext>
            </a:extLst>
          </p:cNvPr>
          <p:cNvSpPr>
            <a:spLocks noGrp="1"/>
          </p:cNvSpPr>
          <p:nvPr>
            <p:ph idx="1"/>
          </p:nvPr>
        </p:nvSpPr>
        <p:spPr/>
        <p:txBody>
          <a:bodyPr>
            <a:normAutofit/>
          </a:bodyPr>
          <a:lstStyle/>
          <a:p>
            <a:r>
              <a:rPr lang="en-US" dirty="0"/>
              <a:t>Model for a D-Flip-Flop with a synchronous enable (EN) input. </a:t>
            </a:r>
          </a:p>
          <a:p>
            <a:r>
              <a:rPr lang="en-US" dirty="0"/>
              <a:t>When EN = 1, the D-Flip-Flop is enabled and assignments are made to the outputs only on the rising edge of the clock. </a:t>
            </a:r>
          </a:p>
          <a:p>
            <a:r>
              <a:rPr lang="en-US" dirty="0"/>
              <a:t>When EN = 0, the D-Flip-Flop is disabled and assignments to the outputs are not made. </a:t>
            </a:r>
          </a:p>
          <a:p>
            <a:r>
              <a:rPr lang="en-US" dirty="0"/>
              <a:t>When disabled, the D-Flip-Flop effectively ignores rising edges on the clock and the outputs remain at their last </a:t>
            </a:r>
            <a:r>
              <a:rPr lang="en-IN" dirty="0"/>
              <a:t>values.</a:t>
            </a:r>
          </a:p>
        </p:txBody>
      </p:sp>
    </p:spTree>
    <p:extLst>
      <p:ext uri="{BB962C8B-B14F-4D97-AF65-F5344CB8AC3E}">
        <p14:creationId xmlns:p14="http://schemas.microsoft.com/office/powerpoint/2010/main" val="1013904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3D6A42-0607-CF12-2697-FFAEA046EAEC}"/>
              </a:ext>
            </a:extLst>
          </p:cNvPr>
          <p:cNvPicPr>
            <a:picLocks noChangeAspect="1"/>
          </p:cNvPicPr>
          <p:nvPr/>
        </p:nvPicPr>
        <p:blipFill>
          <a:blip r:embed="rId2"/>
          <a:stretch>
            <a:fillRect/>
          </a:stretch>
        </p:blipFill>
        <p:spPr>
          <a:xfrm>
            <a:off x="1800912" y="0"/>
            <a:ext cx="8590175" cy="6858000"/>
          </a:xfrm>
          <a:prstGeom prst="rect">
            <a:avLst/>
          </a:prstGeom>
        </p:spPr>
      </p:pic>
    </p:spTree>
    <p:extLst>
      <p:ext uri="{BB962C8B-B14F-4D97-AF65-F5344CB8AC3E}">
        <p14:creationId xmlns:p14="http://schemas.microsoft.com/office/powerpoint/2010/main" val="2930465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748</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Modeling a D flipflop in Verilog</vt:lpstr>
      <vt:lpstr>PowerPoint Presentation</vt:lpstr>
      <vt:lpstr>PowerPoint Presentation</vt:lpstr>
      <vt:lpstr>D-Flip-Flop with Asynchronous Reset</vt:lpstr>
      <vt:lpstr>D-Flip-Flop with Asynchronous Reset</vt:lpstr>
      <vt:lpstr>PowerPoint Presentation</vt:lpstr>
      <vt:lpstr>D-Flip-Flop with Asynchronous Reset and Preset</vt:lpstr>
      <vt:lpstr>PowerPoint Presentation</vt:lpstr>
      <vt:lpstr>D-Flip-Flop with Synchronous Enable</vt:lpstr>
      <vt:lpstr>D-Flip-Flop with Synchronous Enable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2026-05-09T03:24:21Z</dcterms:created>
  <dcterms:modified xsi:type="dcterms:W3CDTF">2026-05-09T03:24:52Z</dcterms:modified>
</cp:coreProperties>
</file>