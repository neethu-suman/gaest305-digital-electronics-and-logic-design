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7" r:id="rId2"/>
    <p:sldId id="430" r:id="rId3"/>
    <p:sldId id="432" r:id="rId4"/>
    <p:sldId id="433" r:id="rId5"/>
    <p:sldId id="423" r:id="rId6"/>
    <p:sldId id="294" r:id="rId7"/>
    <p:sldId id="295" r:id="rId8"/>
    <p:sldId id="296" r:id="rId9"/>
    <p:sldId id="297" r:id="rId10"/>
    <p:sldId id="298" r:id="rId11"/>
    <p:sldId id="312" r:id="rId12"/>
    <p:sldId id="300" r:id="rId13"/>
    <p:sldId id="299" r:id="rId14"/>
    <p:sldId id="306" r:id="rId15"/>
    <p:sldId id="301" r:id="rId16"/>
    <p:sldId id="302" r:id="rId17"/>
    <p:sldId id="435" r:id="rId18"/>
    <p:sldId id="303" r:id="rId19"/>
    <p:sldId id="304" r:id="rId20"/>
    <p:sldId id="269" r:id="rId21"/>
    <p:sldId id="30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DD513-E068-320D-9718-8682A9E8F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48ACEAF-68EC-8FDE-EA24-8FEE875433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0B00DC-2A70-EA26-3356-8F7DDF352D9D}"/>
              </a:ext>
            </a:extLst>
          </p:cNvPr>
          <p:cNvSpPr>
            <a:spLocks noGrp="1"/>
          </p:cNvSpPr>
          <p:nvPr>
            <p:ph type="dt" sz="half" idx="10"/>
          </p:nvPr>
        </p:nvSpPr>
        <p:spPr/>
        <p:txBody>
          <a:bodyPr/>
          <a:lstStyle/>
          <a:p>
            <a:fld id="{145B6771-4334-4F18-B932-65B9EBA039D3}" type="datetimeFigureOut">
              <a:rPr lang="en-IN" smtClean="0"/>
              <a:t>07-05-2026</a:t>
            </a:fld>
            <a:endParaRPr lang="en-IN"/>
          </a:p>
        </p:txBody>
      </p:sp>
      <p:sp>
        <p:nvSpPr>
          <p:cNvPr id="5" name="Footer Placeholder 4">
            <a:extLst>
              <a:ext uri="{FF2B5EF4-FFF2-40B4-BE49-F238E27FC236}">
                <a16:creationId xmlns:a16="http://schemas.microsoft.com/office/drawing/2014/main" id="{B1E48679-42C8-FC55-9E14-DD480F0C6C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D8110E-B171-03EA-3083-D57F1919A756}"/>
              </a:ext>
            </a:extLst>
          </p:cNvPr>
          <p:cNvSpPr>
            <a:spLocks noGrp="1"/>
          </p:cNvSpPr>
          <p:nvPr>
            <p:ph type="sldNum" sz="quarter" idx="12"/>
          </p:nvPr>
        </p:nvSpPr>
        <p:spPr/>
        <p:txBody>
          <a:bodyPr/>
          <a:lstStyle/>
          <a:p>
            <a:fld id="{DFD25B8D-C69A-4381-B5DA-271AF404D46D}" type="slidenum">
              <a:rPr lang="en-IN" smtClean="0"/>
              <a:t>‹#›</a:t>
            </a:fld>
            <a:endParaRPr lang="en-IN"/>
          </a:p>
        </p:txBody>
      </p:sp>
    </p:spTree>
    <p:extLst>
      <p:ext uri="{BB962C8B-B14F-4D97-AF65-F5344CB8AC3E}">
        <p14:creationId xmlns:p14="http://schemas.microsoft.com/office/powerpoint/2010/main" val="897870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8A725-3E43-BC05-2D3D-5BDD57F88C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56C7A8-80C0-4E8E-8533-0E5A4A17AE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786BED-C189-91FE-B4B8-DAB1116349F5}"/>
              </a:ext>
            </a:extLst>
          </p:cNvPr>
          <p:cNvSpPr>
            <a:spLocks noGrp="1"/>
          </p:cNvSpPr>
          <p:nvPr>
            <p:ph type="dt" sz="half" idx="10"/>
          </p:nvPr>
        </p:nvSpPr>
        <p:spPr/>
        <p:txBody>
          <a:bodyPr/>
          <a:lstStyle/>
          <a:p>
            <a:fld id="{145B6771-4334-4F18-B932-65B9EBA039D3}" type="datetimeFigureOut">
              <a:rPr lang="en-IN" smtClean="0"/>
              <a:t>07-05-2026</a:t>
            </a:fld>
            <a:endParaRPr lang="en-IN"/>
          </a:p>
        </p:txBody>
      </p:sp>
      <p:sp>
        <p:nvSpPr>
          <p:cNvPr id="5" name="Footer Placeholder 4">
            <a:extLst>
              <a:ext uri="{FF2B5EF4-FFF2-40B4-BE49-F238E27FC236}">
                <a16:creationId xmlns:a16="http://schemas.microsoft.com/office/drawing/2014/main" id="{C3DA6ABB-1025-97DD-1C88-B996C6C065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CFD598-099E-1EE2-C51A-BB782AAFD93E}"/>
              </a:ext>
            </a:extLst>
          </p:cNvPr>
          <p:cNvSpPr>
            <a:spLocks noGrp="1"/>
          </p:cNvSpPr>
          <p:nvPr>
            <p:ph type="sldNum" sz="quarter" idx="12"/>
          </p:nvPr>
        </p:nvSpPr>
        <p:spPr/>
        <p:txBody>
          <a:bodyPr/>
          <a:lstStyle/>
          <a:p>
            <a:fld id="{DFD25B8D-C69A-4381-B5DA-271AF404D46D}" type="slidenum">
              <a:rPr lang="en-IN" smtClean="0"/>
              <a:t>‹#›</a:t>
            </a:fld>
            <a:endParaRPr lang="en-IN"/>
          </a:p>
        </p:txBody>
      </p:sp>
    </p:spTree>
    <p:extLst>
      <p:ext uri="{BB962C8B-B14F-4D97-AF65-F5344CB8AC3E}">
        <p14:creationId xmlns:p14="http://schemas.microsoft.com/office/powerpoint/2010/main" val="1171077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F5C55-5085-914E-F1D1-FE35A34863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28C408A-36F0-DD41-4865-459A8FEEE3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94EFB2-B170-2119-5B31-D1391DBE5BB6}"/>
              </a:ext>
            </a:extLst>
          </p:cNvPr>
          <p:cNvSpPr>
            <a:spLocks noGrp="1"/>
          </p:cNvSpPr>
          <p:nvPr>
            <p:ph type="dt" sz="half" idx="10"/>
          </p:nvPr>
        </p:nvSpPr>
        <p:spPr/>
        <p:txBody>
          <a:bodyPr/>
          <a:lstStyle/>
          <a:p>
            <a:fld id="{145B6771-4334-4F18-B932-65B9EBA039D3}" type="datetimeFigureOut">
              <a:rPr lang="en-IN" smtClean="0"/>
              <a:t>07-05-2026</a:t>
            </a:fld>
            <a:endParaRPr lang="en-IN"/>
          </a:p>
        </p:txBody>
      </p:sp>
      <p:sp>
        <p:nvSpPr>
          <p:cNvPr id="5" name="Footer Placeholder 4">
            <a:extLst>
              <a:ext uri="{FF2B5EF4-FFF2-40B4-BE49-F238E27FC236}">
                <a16:creationId xmlns:a16="http://schemas.microsoft.com/office/drawing/2014/main" id="{8F294366-904E-4803-2771-1A8AB83CCB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66A18A-33BE-38BA-2B82-BF236E8208E1}"/>
              </a:ext>
            </a:extLst>
          </p:cNvPr>
          <p:cNvSpPr>
            <a:spLocks noGrp="1"/>
          </p:cNvSpPr>
          <p:nvPr>
            <p:ph type="sldNum" sz="quarter" idx="12"/>
          </p:nvPr>
        </p:nvSpPr>
        <p:spPr/>
        <p:txBody>
          <a:bodyPr/>
          <a:lstStyle/>
          <a:p>
            <a:fld id="{DFD25B8D-C69A-4381-B5DA-271AF404D46D}" type="slidenum">
              <a:rPr lang="en-IN" smtClean="0"/>
              <a:t>‹#›</a:t>
            </a:fld>
            <a:endParaRPr lang="en-IN"/>
          </a:p>
        </p:txBody>
      </p:sp>
    </p:spTree>
    <p:extLst>
      <p:ext uri="{BB962C8B-B14F-4D97-AF65-F5344CB8AC3E}">
        <p14:creationId xmlns:p14="http://schemas.microsoft.com/office/powerpoint/2010/main" val="1807881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A627F-E535-E1F1-4CEF-F1F15B4626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634E48-D346-E1D6-209D-DABDA5BE80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6F7C64F-1104-D683-E51F-C88B3DF054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B9CB22E-7B55-1608-4C7B-91BC431ADDC1}"/>
              </a:ext>
            </a:extLst>
          </p:cNvPr>
          <p:cNvSpPr>
            <a:spLocks noGrp="1"/>
          </p:cNvSpPr>
          <p:nvPr>
            <p:ph type="dt" sz="half" idx="10"/>
          </p:nvPr>
        </p:nvSpPr>
        <p:spPr/>
        <p:txBody>
          <a:bodyPr/>
          <a:lstStyle/>
          <a:p>
            <a:fld id="{145B6771-4334-4F18-B932-65B9EBA039D3}" type="datetimeFigureOut">
              <a:rPr lang="en-IN" smtClean="0"/>
              <a:t>07-05-2026</a:t>
            </a:fld>
            <a:endParaRPr lang="en-IN"/>
          </a:p>
        </p:txBody>
      </p:sp>
      <p:sp>
        <p:nvSpPr>
          <p:cNvPr id="6" name="Footer Placeholder 5">
            <a:extLst>
              <a:ext uri="{FF2B5EF4-FFF2-40B4-BE49-F238E27FC236}">
                <a16:creationId xmlns:a16="http://schemas.microsoft.com/office/drawing/2014/main" id="{6922E999-EEF8-C817-9AD8-AAB0D8A663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83D60B-244A-DEB8-FBF7-A86278BACBC0}"/>
              </a:ext>
            </a:extLst>
          </p:cNvPr>
          <p:cNvSpPr>
            <a:spLocks noGrp="1"/>
          </p:cNvSpPr>
          <p:nvPr>
            <p:ph type="sldNum" sz="quarter" idx="12"/>
          </p:nvPr>
        </p:nvSpPr>
        <p:spPr/>
        <p:txBody>
          <a:bodyPr/>
          <a:lstStyle/>
          <a:p>
            <a:fld id="{DFD25B8D-C69A-4381-B5DA-271AF404D46D}" type="slidenum">
              <a:rPr lang="en-IN" smtClean="0"/>
              <a:t>‹#›</a:t>
            </a:fld>
            <a:endParaRPr lang="en-IN"/>
          </a:p>
        </p:txBody>
      </p:sp>
    </p:spTree>
    <p:extLst>
      <p:ext uri="{BB962C8B-B14F-4D97-AF65-F5344CB8AC3E}">
        <p14:creationId xmlns:p14="http://schemas.microsoft.com/office/powerpoint/2010/main" val="742120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B7E01-24D0-787A-0D3A-6E97C686F70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7EC1CF-BA34-99F7-E26C-A20621BC4C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8B3441-6EB3-8B1D-E6B0-533D0134E9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1C0CB52-EFE8-3726-2002-E562E8F512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BBDA83-95E9-6838-062D-21427932B2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60900B2-02B8-A8E4-4B18-6FE3A85DD50E}"/>
              </a:ext>
            </a:extLst>
          </p:cNvPr>
          <p:cNvSpPr>
            <a:spLocks noGrp="1"/>
          </p:cNvSpPr>
          <p:nvPr>
            <p:ph type="dt" sz="half" idx="10"/>
          </p:nvPr>
        </p:nvSpPr>
        <p:spPr/>
        <p:txBody>
          <a:bodyPr/>
          <a:lstStyle/>
          <a:p>
            <a:fld id="{145B6771-4334-4F18-B932-65B9EBA039D3}" type="datetimeFigureOut">
              <a:rPr lang="en-IN" smtClean="0"/>
              <a:t>07-05-2026</a:t>
            </a:fld>
            <a:endParaRPr lang="en-IN"/>
          </a:p>
        </p:txBody>
      </p:sp>
      <p:sp>
        <p:nvSpPr>
          <p:cNvPr id="8" name="Footer Placeholder 7">
            <a:extLst>
              <a:ext uri="{FF2B5EF4-FFF2-40B4-BE49-F238E27FC236}">
                <a16:creationId xmlns:a16="http://schemas.microsoft.com/office/drawing/2014/main" id="{5518DD4E-71F2-AAB8-6066-DC62B22C125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130DB33-71BC-9A1B-2B68-D4A0E215D121}"/>
              </a:ext>
            </a:extLst>
          </p:cNvPr>
          <p:cNvSpPr>
            <a:spLocks noGrp="1"/>
          </p:cNvSpPr>
          <p:nvPr>
            <p:ph type="sldNum" sz="quarter" idx="12"/>
          </p:nvPr>
        </p:nvSpPr>
        <p:spPr/>
        <p:txBody>
          <a:bodyPr/>
          <a:lstStyle/>
          <a:p>
            <a:fld id="{DFD25B8D-C69A-4381-B5DA-271AF404D46D}" type="slidenum">
              <a:rPr lang="en-IN" smtClean="0"/>
              <a:t>‹#›</a:t>
            </a:fld>
            <a:endParaRPr lang="en-IN"/>
          </a:p>
        </p:txBody>
      </p:sp>
    </p:spTree>
    <p:extLst>
      <p:ext uri="{BB962C8B-B14F-4D97-AF65-F5344CB8AC3E}">
        <p14:creationId xmlns:p14="http://schemas.microsoft.com/office/powerpoint/2010/main" val="4074519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7DDC6-66EB-2900-D40A-D78F4CE99A6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AC23692-F0AE-9D42-0512-57849B6FF3B2}"/>
              </a:ext>
            </a:extLst>
          </p:cNvPr>
          <p:cNvSpPr>
            <a:spLocks noGrp="1"/>
          </p:cNvSpPr>
          <p:nvPr>
            <p:ph type="dt" sz="half" idx="10"/>
          </p:nvPr>
        </p:nvSpPr>
        <p:spPr/>
        <p:txBody>
          <a:bodyPr/>
          <a:lstStyle/>
          <a:p>
            <a:fld id="{145B6771-4334-4F18-B932-65B9EBA039D3}" type="datetimeFigureOut">
              <a:rPr lang="en-IN" smtClean="0"/>
              <a:t>07-05-2026</a:t>
            </a:fld>
            <a:endParaRPr lang="en-IN"/>
          </a:p>
        </p:txBody>
      </p:sp>
      <p:sp>
        <p:nvSpPr>
          <p:cNvPr id="4" name="Footer Placeholder 3">
            <a:extLst>
              <a:ext uri="{FF2B5EF4-FFF2-40B4-BE49-F238E27FC236}">
                <a16:creationId xmlns:a16="http://schemas.microsoft.com/office/drawing/2014/main" id="{3814D6F1-A47C-8815-2B8B-3BE300506E8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D80F80D-755F-64AD-6F47-84659FA1091B}"/>
              </a:ext>
            </a:extLst>
          </p:cNvPr>
          <p:cNvSpPr>
            <a:spLocks noGrp="1"/>
          </p:cNvSpPr>
          <p:nvPr>
            <p:ph type="sldNum" sz="quarter" idx="12"/>
          </p:nvPr>
        </p:nvSpPr>
        <p:spPr/>
        <p:txBody>
          <a:bodyPr/>
          <a:lstStyle/>
          <a:p>
            <a:fld id="{DFD25B8D-C69A-4381-B5DA-271AF404D46D}" type="slidenum">
              <a:rPr lang="en-IN" smtClean="0"/>
              <a:t>‹#›</a:t>
            </a:fld>
            <a:endParaRPr lang="en-IN"/>
          </a:p>
        </p:txBody>
      </p:sp>
    </p:spTree>
    <p:extLst>
      <p:ext uri="{BB962C8B-B14F-4D97-AF65-F5344CB8AC3E}">
        <p14:creationId xmlns:p14="http://schemas.microsoft.com/office/powerpoint/2010/main" val="2875994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EDE44C-D187-6574-87A7-D09FC427AEE8}"/>
              </a:ext>
            </a:extLst>
          </p:cNvPr>
          <p:cNvSpPr>
            <a:spLocks noGrp="1"/>
          </p:cNvSpPr>
          <p:nvPr>
            <p:ph type="dt" sz="half" idx="10"/>
          </p:nvPr>
        </p:nvSpPr>
        <p:spPr/>
        <p:txBody>
          <a:bodyPr/>
          <a:lstStyle/>
          <a:p>
            <a:fld id="{145B6771-4334-4F18-B932-65B9EBA039D3}" type="datetimeFigureOut">
              <a:rPr lang="en-IN" smtClean="0"/>
              <a:t>07-05-2026</a:t>
            </a:fld>
            <a:endParaRPr lang="en-IN"/>
          </a:p>
        </p:txBody>
      </p:sp>
      <p:sp>
        <p:nvSpPr>
          <p:cNvPr id="3" name="Footer Placeholder 2">
            <a:extLst>
              <a:ext uri="{FF2B5EF4-FFF2-40B4-BE49-F238E27FC236}">
                <a16:creationId xmlns:a16="http://schemas.microsoft.com/office/drawing/2014/main" id="{3D8766F9-3745-2E0A-6247-2A0E0BD0BA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DF9AB69-FE63-CA56-6EAF-9A231DA0D9BE}"/>
              </a:ext>
            </a:extLst>
          </p:cNvPr>
          <p:cNvSpPr>
            <a:spLocks noGrp="1"/>
          </p:cNvSpPr>
          <p:nvPr>
            <p:ph type="sldNum" sz="quarter" idx="12"/>
          </p:nvPr>
        </p:nvSpPr>
        <p:spPr/>
        <p:txBody>
          <a:bodyPr/>
          <a:lstStyle/>
          <a:p>
            <a:fld id="{DFD25B8D-C69A-4381-B5DA-271AF404D46D}" type="slidenum">
              <a:rPr lang="en-IN" smtClean="0"/>
              <a:t>‹#›</a:t>
            </a:fld>
            <a:endParaRPr lang="en-IN"/>
          </a:p>
        </p:txBody>
      </p:sp>
    </p:spTree>
    <p:extLst>
      <p:ext uri="{BB962C8B-B14F-4D97-AF65-F5344CB8AC3E}">
        <p14:creationId xmlns:p14="http://schemas.microsoft.com/office/powerpoint/2010/main" val="1519410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CFF0C-D316-A357-73DC-B6D1F25AFC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DE89AE-06ED-FE72-BBFB-612FBD9DBF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F8EE41B-2417-C79D-1E80-2FB56136B3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94AF11-9A9F-B6F7-E581-98F5862BFFED}"/>
              </a:ext>
            </a:extLst>
          </p:cNvPr>
          <p:cNvSpPr>
            <a:spLocks noGrp="1"/>
          </p:cNvSpPr>
          <p:nvPr>
            <p:ph type="dt" sz="half" idx="10"/>
          </p:nvPr>
        </p:nvSpPr>
        <p:spPr/>
        <p:txBody>
          <a:bodyPr/>
          <a:lstStyle/>
          <a:p>
            <a:fld id="{145B6771-4334-4F18-B932-65B9EBA039D3}" type="datetimeFigureOut">
              <a:rPr lang="en-IN" smtClean="0"/>
              <a:t>07-05-2026</a:t>
            </a:fld>
            <a:endParaRPr lang="en-IN"/>
          </a:p>
        </p:txBody>
      </p:sp>
      <p:sp>
        <p:nvSpPr>
          <p:cNvPr id="6" name="Footer Placeholder 5">
            <a:extLst>
              <a:ext uri="{FF2B5EF4-FFF2-40B4-BE49-F238E27FC236}">
                <a16:creationId xmlns:a16="http://schemas.microsoft.com/office/drawing/2014/main" id="{598EDE2F-B21C-7F32-34FA-67D6CC596C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0EBA0E-34FC-7CFD-90E3-467929C72607}"/>
              </a:ext>
            </a:extLst>
          </p:cNvPr>
          <p:cNvSpPr>
            <a:spLocks noGrp="1"/>
          </p:cNvSpPr>
          <p:nvPr>
            <p:ph type="sldNum" sz="quarter" idx="12"/>
          </p:nvPr>
        </p:nvSpPr>
        <p:spPr/>
        <p:txBody>
          <a:bodyPr/>
          <a:lstStyle/>
          <a:p>
            <a:fld id="{DFD25B8D-C69A-4381-B5DA-271AF404D46D}" type="slidenum">
              <a:rPr lang="en-IN" smtClean="0"/>
              <a:t>‹#›</a:t>
            </a:fld>
            <a:endParaRPr lang="en-IN"/>
          </a:p>
        </p:txBody>
      </p:sp>
    </p:spTree>
    <p:extLst>
      <p:ext uri="{BB962C8B-B14F-4D97-AF65-F5344CB8AC3E}">
        <p14:creationId xmlns:p14="http://schemas.microsoft.com/office/powerpoint/2010/main" val="3243903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B0161-2825-9A6D-27C2-859EBD6425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841266E-A127-A6AD-CB7F-10E83ED920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2F13B4-4A6E-35B9-3D62-78900A8BF4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FDC43-FBD8-D2FF-E6FA-C8AB2B304507}"/>
              </a:ext>
            </a:extLst>
          </p:cNvPr>
          <p:cNvSpPr>
            <a:spLocks noGrp="1"/>
          </p:cNvSpPr>
          <p:nvPr>
            <p:ph type="dt" sz="half" idx="10"/>
          </p:nvPr>
        </p:nvSpPr>
        <p:spPr/>
        <p:txBody>
          <a:bodyPr/>
          <a:lstStyle/>
          <a:p>
            <a:fld id="{145B6771-4334-4F18-B932-65B9EBA039D3}" type="datetimeFigureOut">
              <a:rPr lang="en-IN" smtClean="0"/>
              <a:t>07-05-2026</a:t>
            </a:fld>
            <a:endParaRPr lang="en-IN"/>
          </a:p>
        </p:txBody>
      </p:sp>
      <p:sp>
        <p:nvSpPr>
          <p:cNvPr id="6" name="Footer Placeholder 5">
            <a:extLst>
              <a:ext uri="{FF2B5EF4-FFF2-40B4-BE49-F238E27FC236}">
                <a16:creationId xmlns:a16="http://schemas.microsoft.com/office/drawing/2014/main" id="{04B290E4-7D12-B397-C7CC-CBC96AC6E4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9D87A0-C0A1-F9EF-8A65-12E0A30A4061}"/>
              </a:ext>
            </a:extLst>
          </p:cNvPr>
          <p:cNvSpPr>
            <a:spLocks noGrp="1"/>
          </p:cNvSpPr>
          <p:nvPr>
            <p:ph type="sldNum" sz="quarter" idx="12"/>
          </p:nvPr>
        </p:nvSpPr>
        <p:spPr/>
        <p:txBody>
          <a:bodyPr/>
          <a:lstStyle/>
          <a:p>
            <a:fld id="{DFD25B8D-C69A-4381-B5DA-271AF404D46D}" type="slidenum">
              <a:rPr lang="en-IN" smtClean="0"/>
              <a:t>‹#›</a:t>
            </a:fld>
            <a:endParaRPr lang="en-IN"/>
          </a:p>
        </p:txBody>
      </p:sp>
    </p:spTree>
    <p:extLst>
      <p:ext uri="{BB962C8B-B14F-4D97-AF65-F5344CB8AC3E}">
        <p14:creationId xmlns:p14="http://schemas.microsoft.com/office/powerpoint/2010/main" val="2252272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490A1-BAD2-7E00-92EB-C114B61C53E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CD70B1-0118-BDD0-5163-C3701BB022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410DC1-15BB-EF0A-1EE0-9F4E6556785A}"/>
              </a:ext>
            </a:extLst>
          </p:cNvPr>
          <p:cNvSpPr>
            <a:spLocks noGrp="1"/>
          </p:cNvSpPr>
          <p:nvPr>
            <p:ph type="dt" sz="half" idx="10"/>
          </p:nvPr>
        </p:nvSpPr>
        <p:spPr/>
        <p:txBody>
          <a:bodyPr/>
          <a:lstStyle/>
          <a:p>
            <a:fld id="{145B6771-4334-4F18-B932-65B9EBA039D3}" type="datetimeFigureOut">
              <a:rPr lang="en-IN" smtClean="0"/>
              <a:t>07-05-2026</a:t>
            </a:fld>
            <a:endParaRPr lang="en-IN"/>
          </a:p>
        </p:txBody>
      </p:sp>
      <p:sp>
        <p:nvSpPr>
          <p:cNvPr id="5" name="Footer Placeholder 4">
            <a:extLst>
              <a:ext uri="{FF2B5EF4-FFF2-40B4-BE49-F238E27FC236}">
                <a16:creationId xmlns:a16="http://schemas.microsoft.com/office/drawing/2014/main" id="{0A7AE009-D154-291D-9027-6A82DA2B5B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7C4A09-F4AD-FC11-048F-F957F2920EF6}"/>
              </a:ext>
            </a:extLst>
          </p:cNvPr>
          <p:cNvSpPr>
            <a:spLocks noGrp="1"/>
          </p:cNvSpPr>
          <p:nvPr>
            <p:ph type="sldNum" sz="quarter" idx="12"/>
          </p:nvPr>
        </p:nvSpPr>
        <p:spPr/>
        <p:txBody>
          <a:bodyPr/>
          <a:lstStyle/>
          <a:p>
            <a:fld id="{DFD25B8D-C69A-4381-B5DA-271AF404D46D}" type="slidenum">
              <a:rPr lang="en-IN" smtClean="0"/>
              <a:t>‹#›</a:t>
            </a:fld>
            <a:endParaRPr lang="en-IN"/>
          </a:p>
        </p:txBody>
      </p:sp>
    </p:spTree>
    <p:extLst>
      <p:ext uri="{BB962C8B-B14F-4D97-AF65-F5344CB8AC3E}">
        <p14:creationId xmlns:p14="http://schemas.microsoft.com/office/powerpoint/2010/main" val="125128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F71E40-D05F-362E-D9FE-18BFE8D0B6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1910BA-9202-68EE-B7A4-AF77408111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E70C99-3510-9B60-2D6D-80DDBCC3E06B}"/>
              </a:ext>
            </a:extLst>
          </p:cNvPr>
          <p:cNvSpPr>
            <a:spLocks noGrp="1"/>
          </p:cNvSpPr>
          <p:nvPr>
            <p:ph type="dt" sz="half" idx="10"/>
          </p:nvPr>
        </p:nvSpPr>
        <p:spPr/>
        <p:txBody>
          <a:bodyPr/>
          <a:lstStyle/>
          <a:p>
            <a:fld id="{145B6771-4334-4F18-B932-65B9EBA039D3}" type="datetimeFigureOut">
              <a:rPr lang="en-IN" smtClean="0"/>
              <a:t>07-05-2026</a:t>
            </a:fld>
            <a:endParaRPr lang="en-IN"/>
          </a:p>
        </p:txBody>
      </p:sp>
      <p:sp>
        <p:nvSpPr>
          <p:cNvPr id="5" name="Footer Placeholder 4">
            <a:extLst>
              <a:ext uri="{FF2B5EF4-FFF2-40B4-BE49-F238E27FC236}">
                <a16:creationId xmlns:a16="http://schemas.microsoft.com/office/drawing/2014/main" id="{EE530A52-8880-D07D-153E-15446DC352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EB1BEE-9A73-204E-D317-464A61EB14EF}"/>
              </a:ext>
            </a:extLst>
          </p:cNvPr>
          <p:cNvSpPr>
            <a:spLocks noGrp="1"/>
          </p:cNvSpPr>
          <p:nvPr>
            <p:ph type="sldNum" sz="quarter" idx="12"/>
          </p:nvPr>
        </p:nvSpPr>
        <p:spPr/>
        <p:txBody>
          <a:bodyPr/>
          <a:lstStyle/>
          <a:p>
            <a:fld id="{DFD25B8D-C69A-4381-B5DA-271AF404D46D}" type="slidenum">
              <a:rPr lang="en-IN" smtClean="0"/>
              <a:t>‹#›</a:t>
            </a:fld>
            <a:endParaRPr lang="en-IN"/>
          </a:p>
        </p:txBody>
      </p:sp>
    </p:spTree>
    <p:extLst>
      <p:ext uri="{BB962C8B-B14F-4D97-AF65-F5344CB8AC3E}">
        <p14:creationId xmlns:p14="http://schemas.microsoft.com/office/powerpoint/2010/main" val="2479200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F603F5-1DBB-4788-BAF0-18CD957885D7}"/>
              </a:ext>
            </a:extLst>
          </p:cNvPr>
          <p:cNvSpPr>
            <a:spLocks noGrp="1"/>
          </p:cNvSpPr>
          <p:nvPr>
            <p:ph type="sldNum" idx="10"/>
          </p:nvPr>
        </p:nvSpPr>
        <p:spPr/>
        <p:txBody>
          <a:bodyPr/>
          <a:lstStyle/>
          <a:p>
            <a:pPr algn="ctr"/>
            <a:fld id="{00000000-1234-1234-1234-123412341234}" type="slidenum">
              <a:rPr lang="en" smtClean="0"/>
              <a:pPr algn="ctr"/>
              <a:t>‹#›</a:t>
            </a:fld>
            <a:endParaRPr lang="en"/>
          </a:p>
        </p:txBody>
      </p:sp>
      <p:sp>
        <p:nvSpPr>
          <p:cNvPr id="4" name="TextBox 3">
            <a:extLst>
              <a:ext uri="{FF2B5EF4-FFF2-40B4-BE49-F238E27FC236}">
                <a16:creationId xmlns:a16="http://schemas.microsoft.com/office/drawing/2014/main" id="{021800B2-9749-4A21-8028-76A18A391A1B}"/>
              </a:ext>
            </a:extLst>
          </p:cNvPr>
          <p:cNvSpPr txBox="1"/>
          <p:nvPr userDrawn="1"/>
        </p:nvSpPr>
        <p:spPr>
          <a:xfrm>
            <a:off x="9364277" y="6074635"/>
            <a:ext cx="2725271" cy="338554"/>
          </a:xfrm>
          <a:prstGeom prst="rect">
            <a:avLst/>
          </a:prstGeom>
          <a:noFill/>
        </p:spPr>
        <p:txBody>
          <a:bodyPr wrap="square" rtlCol="0">
            <a:spAutoFit/>
          </a:bodyPr>
          <a:lstStyle/>
          <a:p>
            <a:r>
              <a:rPr lang="en-US" sz="1600" dirty="0" err="1">
                <a:solidFill>
                  <a:schemeClr val="bg1"/>
                </a:solidFill>
                <a:latin typeface="Walter Turncoat" panose="020B0604020202020204" charset="0"/>
              </a:rPr>
              <a:t>Namitha</a:t>
            </a:r>
            <a:r>
              <a:rPr lang="en-US" sz="1600" dirty="0">
                <a:solidFill>
                  <a:schemeClr val="bg1"/>
                </a:solidFill>
                <a:latin typeface="Walter Turncoat" panose="020B0604020202020204" charset="0"/>
              </a:rPr>
              <a:t> Ramachandran</a:t>
            </a:r>
          </a:p>
        </p:txBody>
      </p:sp>
    </p:spTree>
    <p:extLst>
      <p:ext uri="{BB962C8B-B14F-4D97-AF65-F5344CB8AC3E}">
        <p14:creationId xmlns:p14="http://schemas.microsoft.com/office/powerpoint/2010/main" val="3110817977"/>
      </p:ext>
    </p:extLst>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E02025-27F0-23CB-61DF-5749D4AB1E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C856E9E-3909-EB34-F6EB-D2FDF742A9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38AF8F-E707-AF16-959F-8A2A6950D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5B6771-4334-4F18-B932-65B9EBA039D3}" type="datetimeFigureOut">
              <a:rPr lang="en-IN" smtClean="0"/>
              <a:t>07-05-2026</a:t>
            </a:fld>
            <a:endParaRPr lang="en-IN"/>
          </a:p>
        </p:txBody>
      </p:sp>
      <p:sp>
        <p:nvSpPr>
          <p:cNvPr id="5" name="Footer Placeholder 4">
            <a:extLst>
              <a:ext uri="{FF2B5EF4-FFF2-40B4-BE49-F238E27FC236}">
                <a16:creationId xmlns:a16="http://schemas.microsoft.com/office/drawing/2014/main" id="{0E64C84D-4A55-464B-8E95-E769DCED6C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29F159A-7926-C4A3-C5B3-FC49A32972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D25B8D-C69A-4381-B5DA-271AF404D46D}" type="slidenum">
              <a:rPr lang="en-IN" smtClean="0"/>
              <a:t>‹#›</a:t>
            </a:fld>
            <a:endParaRPr lang="en-IN"/>
          </a:p>
        </p:txBody>
      </p:sp>
    </p:spTree>
    <p:extLst>
      <p:ext uri="{BB962C8B-B14F-4D97-AF65-F5344CB8AC3E}">
        <p14:creationId xmlns:p14="http://schemas.microsoft.com/office/powerpoint/2010/main" val="81762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E72C1-E288-9816-5622-1464D7834934}"/>
              </a:ext>
            </a:extLst>
          </p:cNvPr>
          <p:cNvSpPr>
            <a:spLocks noGrp="1"/>
          </p:cNvSpPr>
          <p:nvPr>
            <p:ph type="title"/>
          </p:nvPr>
        </p:nvSpPr>
        <p:spPr/>
        <p:txBody>
          <a:bodyPr/>
          <a:lstStyle/>
          <a:p>
            <a:r>
              <a:rPr lang="en-IN" dirty="0"/>
              <a:t>Flip flops</a:t>
            </a:r>
          </a:p>
        </p:txBody>
      </p:sp>
      <p:sp>
        <p:nvSpPr>
          <p:cNvPr id="3" name="Content Placeholder 2">
            <a:extLst>
              <a:ext uri="{FF2B5EF4-FFF2-40B4-BE49-F238E27FC236}">
                <a16:creationId xmlns:a16="http://schemas.microsoft.com/office/drawing/2014/main" id="{9C2FEF31-CF3C-ACD1-2210-4180D5E1A2F7}"/>
              </a:ext>
            </a:extLst>
          </p:cNvPr>
          <p:cNvSpPr>
            <a:spLocks noGrp="1"/>
          </p:cNvSpPr>
          <p:nvPr>
            <p:ph idx="1"/>
          </p:nvPr>
        </p:nvSpPr>
        <p:spPr/>
        <p:txBody>
          <a:bodyPr>
            <a:normAutofit/>
          </a:bodyPr>
          <a:lstStyle/>
          <a:p>
            <a:r>
              <a:rPr lang="en-US" sz="2400" dirty="0"/>
              <a:t>Flip-flops are synchronous bistable devices, also known as bistable multivibrators. </a:t>
            </a:r>
          </a:p>
          <a:p>
            <a:r>
              <a:rPr lang="en-US" sz="2400" dirty="0"/>
              <a:t>The term synchronous means that the output changes state only at a specified point (leading or trailing edge) on the triggering input called the </a:t>
            </a:r>
            <a:r>
              <a:rPr lang="en-US" sz="2400" b="1" dirty="0"/>
              <a:t>clock </a:t>
            </a:r>
            <a:r>
              <a:rPr lang="en-US" sz="2400" dirty="0"/>
              <a:t>(CLK), which is designated as a control input, C; that is, changes in the output occur in synchronization with the clock. </a:t>
            </a:r>
          </a:p>
          <a:p>
            <a:r>
              <a:rPr lang="en-US" sz="2400" dirty="0"/>
              <a:t>Flip-flops are edge-triggered or edge-sensitive whereas gated latches are level-sensitive.</a:t>
            </a:r>
          </a:p>
          <a:p>
            <a:r>
              <a:rPr lang="en-US" sz="2400" dirty="0"/>
              <a:t>An </a:t>
            </a:r>
            <a:r>
              <a:rPr lang="en-US" sz="2400" b="1" dirty="0"/>
              <a:t>edge-triggered flip-flop </a:t>
            </a:r>
            <a:r>
              <a:rPr lang="en-US" sz="2400" dirty="0"/>
              <a:t>changes state either at the positive edge (rising edge) or at the negative edge (falling edge) of the clock pulse and is sensitive to its inputs only at this transition of the clock. T</a:t>
            </a:r>
            <a:endParaRPr lang="en-IN" sz="2000" dirty="0"/>
          </a:p>
        </p:txBody>
      </p:sp>
    </p:spTree>
    <p:extLst>
      <p:ext uri="{BB962C8B-B14F-4D97-AF65-F5344CB8AC3E}">
        <p14:creationId xmlns:p14="http://schemas.microsoft.com/office/powerpoint/2010/main" val="3964864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1DC83-9B2F-4317-8132-F6F89662EDEF}"/>
              </a:ext>
            </a:extLst>
          </p:cNvPr>
          <p:cNvSpPr txBox="1"/>
          <p:nvPr/>
        </p:nvSpPr>
        <p:spPr>
          <a:xfrm>
            <a:off x="3293139" y="-79947"/>
            <a:ext cx="8424472"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Triggering in FLIP FLOPS</a:t>
            </a:r>
          </a:p>
        </p:txBody>
      </p:sp>
      <p:sp>
        <p:nvSpPr>
          <p:cNvPr id="4" name="TextBox 3">
            <a:extLst>
              <a:ext uri="{FF2B5EF4-FFF2-40B4-BE49-F238E27FC236}">
                <a16:creationId xmlns:a16="http://schemas.microsoft.com/office/drawing/2014/main" id="{3A991C3B-251B-48DD-B641-4E2F1D178053}"/>
              </a:ext>
            </a:extLst>
          </p:cNvPr>
          <p:cNvSpPr txBox="1"/>
          <p:nvPr/>
        </p:nvSpPr>
        <p:spPr>
          <a:xfrm>
            <a:off x="-1" y="369307"/>
            <a:ext cx="6096000" cy="584775"/>
          </a:xfrm>
          <a:prstGeom prst="rect">
            <a:avLst/>
          </a:prstGeom>
          <a:noFill/>
        </p:spPr>
        <p:txBody>
          <a:bodyPr wrap="square">
            <a:spAutoFit/>
          </a:bodyPr>
          <a:lstStyle/>
          <a:p>
            <a:pPr algn="l"/>
            <a:r>
              <a:rPr lang="en-IN" sz="3200" b="1" dirty="0">
                <a:latin typeface="Times New Roman" panose="02020603050405020304" pitchFamily="18" charset="0"/>
                <a:cs typeface="Times New Roman" panose="02020603050405020304" pitchFamily="18" charset="0"/>
              </a:rPr>
              <a:t>Level triggering:</a:t>
            </a:r>
          </a:p>
        </p:txBody>
      </p:sp>
      <p:sp>
        <p:nvSpPr>
          <p:cNvPr id="8" name="TextBox 7">
            <a:extLst>
              <a:ext uri="{FF2B5EF4-FFF2-40B4-BE49-F238E27FC236}">
                <a16:creationId xmlns:a16="http://schemas.microsoft.com/office/drawing/2014/main" id="{F4C9D672-75C9-4428-AB9A-7A21D16E3514}"/>
              </a:ext>
            </a:extLst>
          </p:cNvPr>
          <p:cNvSpPr txBox="1"/>
          <p:nvPr/>
        </p:nvSpPr>
        <p:spPr>
          <a:xfrm>
            <a:off x="317592" y="984860"/>
            <a:ext cx="11400019" cy="2308324"/>
          </a:xfrm>
          <a:prstGeom prst="rect">
            <a:avLst/>
          </a:prstGeom>
          <a:noFill/>
        </p:spPr>
        <p:txBody>
          <a:bodyPr wrap="square">
            <a:spAutoFit/>
          </a:bodyPr>
          <a:lstStyle/>
          <a:p>
            <a:pPr algn="l"/>
            <a:r>
              <a:rPr lang="en-US" sz="3200" b="1" dirty="0">
                <a:latin typeface="Times New Roman" panose="02020603050405020304" pitchFamily="18" charset="0"/>
                <a:cs typeface="Times New Roman" panose="02020603050405020304" pitchFamily="18" charset="0"/>
              </a:rPr>
              <a:t>Positive level triggering </a:t>
            </a:r>
            <a:r>
              <a:rPr lang="en-US" sz="2400" b="1" dirty="0">
                <a:latin typeface="Georgia" panose="02040502050405020303" pitchFamily="18" charset="0"/>
              </a:rPr>
              <a:t>– </a:t>
            </a:r>
            <a:r>
              <a:rPr lang="en-US" sz="2400" dirty="0">
                <a:latin typeface="Times New Roman" panose="02020603050405020304" pitchFamily="18" charset="0"/>
                <a:cs typeface="Times New Roman" panose="02020603050405020304" pitchFamily="18" charset="0"/>
              </a:rPr>
              <a:t>If the flip flop is triggered at the positive level of the clock pulse, then it is said to be a positive level triggering</a:t>
            </a:r>
            <a:r>
              <a:rPr lang="en-US" sz="2400" b="1" dirty="0">
                <a:latin typeface="Georgia" panose="02040502050405020303" pitchFamily="18" charset="0"/>
              </a:rPr>
              <a:t>.</a:t>
            </a:r>
          </a:p>
          <a:p>
            <a:pPr algn="l"/>
            <a:endParaRPr lang="en-US" sz="3200" b="1" dirty="0">
              <a:latin typeface="Times New Roman" panose="02020603050405020304" pitchFamily="18" charset="0"/>
              <a:cs typeface="Times New Roman" panose="02020603050405020304" pitchFamily="18" charset="0"/>
            </a:endParaRPr>
          </a:p>
          <a:p>
            <a:pPr algn="l"/>
            <a:r>
              <a:rPr lang="en-US" sz="3200" b="1" dirty="0">
                <a:latin typeface="Times New Roman" panose="02020603050405020304" pitchFamily="18" charset="0"/>
                <a:cs typeface="Times New Roman" panose="02020603050405020304" pitchFamily="18" charset="0"/>
              </a:rPr>
              <a:t>Negative level triggering </a:t>
            </a:r>
            <a:r>
              <a:rPr lang="en-US" sz="2400" b="1" dirty="0">
                <a:latin typeface="Georgia" panose="02040502050405020303" pitchFamily="18" charset="0"/>
              </a:rPr>
              <a:t>– </a:t>
            </a:r>
            <a:r>
              <a:rPr lang="en-US" sz="2400" dirty="0">
                <a:latin typeface="Times New Roman" panose="02020603050405020304" pitchFamily="18" charset="0"/>
                <a:cs typeface="Times New Roman" panose="02020603050405020304" pitchFamily="18" charset="0"/>
              </a:rPr>
              <a:t>If the flip flop is triggered at the negative level of the clock pulse, then it is said to be negative level triggering.</a:t>
            </a:r>
          </a:p>
        </p:txBody>
      </p:sp>
      <p:pic>
        <p:nvPicPr>
          <p:cNvPr id="10" name="Picture 9">
            <a:extLst>
              <a:ext uri="{FF2B5EF4-FFF2-40B4-BE49-F238E27FC236}">
                <a16:creationId xmlns:a16="http://schemas.microsoft.com/office/drawing/2014/main" id="{AEB18E2B-256C-4B03-90BA-850B36C4B3FC}"/>
              </a:ext>
            </a:extLst>
          </p:cNvPr>
          <p:cNvPicPr>
            <a:picLocks noChangeAspect="1"/>
          </p:cNvPicPr>
          <p:nvPr/>
        </p:nvPicPr>
        <p:blipFill>
          <a:blip r:embed="rId2"/>
          <a:stretch>
            <a:fillRect/>
          </a:stretch>
        </p:blipFill>
        <p:spPr>
          <a:xfrm>
            <a:off x="317593" y="3534040"/>
            <a:ext cx="9356060" cy="3323960"/>
          </a:xfrm>
          <a:prstGeom prst="rect">
            <a:avLst/>
          </a:prstGeom>
        </p:spPr>
      </p:pic>
    </p:spTree>
    <p:extLst>
      <p:ext uri="{BB962C8B-B14F-4D97-AF65-F5344CB8AC3E}">
        <p14:creationId xmlns:p14="http://schemas.microsoft.com/office/powerpoint/2010/main" val="14223320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E3C0DD-C999-4041-988B-955DFA7623A4}"/>
              </a:ext>
            </a:extLst>
          </p:cNvPr>
          <p:cNvSpPr txBox="1"/>
          <p:nvPr/>
        </p:nvSpPr>
        <p:spPr>
          <a:xfrm>
            <a:off x="179882" y="1"/>
            <a:ext cx="11512447" cy="1405641"/>
          </a:xfrm>
          <a:prstGeom prst="rect">
            <a:avLst/>
          </a:prstGeom>
          <a:noFill/>
        </p:spPr>
        <p:txBody>
          <a:bodyPr wrap="square">
            <a:spAutoFit/>
          </a:bodyPr>
          <a:lstStyle/>
          <a:p>
            <a:pPr algn="l"/>
            <a:r>
              <a:rPr lang="en-US" sz="3200" b="1" dirty="0">
                <a:latin typeface="Times New Roman" panose="02020603050405020304" pitchFamily="18" charset="0"/>
                <a:cs typeface="Times New Roman" panose="02020603050405020304" pitchFamily="18" charset="0"/>
              </a:rPr>
              <a:t>Edge triggering:</a:t>
            </a:r>
          </a:p>
          <a:p>
            <a:pPr algn="just"/>
            <a:r>
              <a:rPr lang="en-US" sz="2667" dirty="0">
                <a:latin typeface="Times New Roman" panose="02020603050405020304" pitchFamily="18" charset="0"/>
                <a:cs typeface="Times New Roman" panose="02020603050405020304" pitchFamily="18" charset="0"/>
              </a:rPr>
              <a:t>In edge triggering, the flip flop changes its state during the positive edge or negative edge of the clock pulse.</a:t>
            </a:r>
          </a:p>
        </p:txBody>
      </p:sp>
      <p:sp>
        <p:nvSpPr>
          <p:cNvPr id="6" name="TextBox 5">
            <a:extLst>
              <a:ext uri="{FF2B5EF4-FFF2-40B4-BE49-F238E27FC236}">
                <a16:creationId xmlns:a16="http://schemas.microsoft.com/office/drawing/2014/main" id="{A570088C-6F64-4C76-A69B-801B1E301781}"/>
              </a:ext>
            </a:extLst>
          </p:cNvPr>
          <p:cNvSpPr txBox="1"/>
          <p:nvPr/>
        </p:nvSpPr>
        <p:spPr>
          <a:xfrm>
            <a:off x="179880" y="1522617"/>
            <a:ext cx="12012120" cy="1815882"/>
          </a:xfrm>
          <a:prstGeom prst="rect">
            <a:avLst/>
          </a:prstGeom>
          <a:noFill/>
        </p:spPr>
        <p:txBody>
          <a:bodyPr wrap="square">
            <a:spAutoFit/>
          </a:bodyPr>
          <a:lstStyle/>
          <a:p>
            <a:pPr algn="l"/>
            <a:r>
              <a:rPr lang="en-US" sz="3200" b="1" dirty="0">
                <a:latin typeface="Times New Roman" panose="02020603050405020304" pitchFamily="18" charset="0"/>
                <a:cs typeface="Times New Roman" panose="02020603050405020304" pitchFamily="18" charset="0"/>
              </a:rPr>
              <a:t>Positive edge triggering</a:t>
            </a:r>
            <a:r>
              <a:rPr lang="en-US" sz="3200" dirty="0">
                <a:latin typeface="Times New Roman" panose="02020603050405020304" pitchFamily="18" charset="0"/>
                <a:cs typeface="Times New Roman" panose="02020603050405020304" pitchFamily="18" charset="0"/>
              </a:rPr>
              <a:t> – </a:t>
            </a:r>
            <a:r>
              <a:rPr lang="en-US" sz="2400" dirty="0">
                <a:latin typeface="Times New Roman" panose="02020603050405020304" pitchFamily="18" charset="0"/>
                <a:cs typeface="Times New Roman" panose="02020603050405020304" pitchFamily="18" charset="0"/>
              </a:rPr>
              <a:t>When the output responds to the change in the input only at the positive edge of the clock pulse .</a:t>
            </a:r>
          </a:p>
          <a:p>
            <a:pPr algn="l"/>
            <a:r>
              <a:rPr lang="en-US" sz="3200" b="1" dirty="0">
                <a:latin typeface="Times New Roman" panose="02020603050405020304" pitchFamily="18" charset="0"/>
                <a:cs typeface="Times New Roman" panose="02020603050405020304" pitchFamily="18" charset="0"/>
              </a:rPr>
              <a:t>Negative edge triggering</a:t>
            </a:r>
            <a:r>
              <a:rPr lang="en-US" sz="3200" dirty="0">
                <a:latin typeface="Times New Roman" panose="02020603050405020304" pitchFamily="18" charset="0"/>
                <a:cs typeface="Times New Roman" panose="02020603050405020304" pitchFamily="18" charset="0"/>
              </a:rPr>
              <a:t> </a:t>
            </a:r>
            <a:r>
              <a:rPr lang="en-US" sz="2400" dirty="0">
                <a:latin typeface="Georgia" panose="02040502050405020303" pitchFamily="18" charset="0"/>
              </a:rPr>
              <a:t>– </a:t>
            </a:r>
            <a:r>
              <a:rPr lang="en-US" sz="2400" dirty="0">
                <a:latin typeface="Times New Roman" panose="02020603050405020304" pitchFamily="18" charset="0"/>
                <a:cs typeface="Times New Roman" panose="02020603050405020304" pitchFamily="18" charset="0"/>
              </a:rPr>
              <a:t>When the output responds to the change in the input only at the negative edge of the clock pulse .</a:t>
            </a:r>
          </a:p>
        </p:txBody>
      </p:sp>
      <p:pic>
        <p:nvPicPr>
          <p:cNvPr id="8" name="Picture 7">
            <a:extLst>
              <a:ext uri="{FF2B5EF4-FFF2-40B4-BE49-F238E27FC236}">
                <a16:creationId xmlns:a16="http://schemas.microsoft.com/office/drawing/2014/main" id="{698F6F23-660B-4522-BB4D-2AFC537728A9}"/>
              </a:ext>
            </a:extLst>
          </p:cNvPr>
          <p:cNvPicPr>
            <a:picLocks noChangeAspect="1"/>
          </p:cNvPicPr>
          <p:nvPr/>
        </p:nvPicPr>
        <p:blipFill>
          <a:blip r:embed="rId2"/>
          <a:stretch>
            <a:fillRect/>
          </a:stretch>
        </p:blipFill>
        <p:spPr>
          <a:xfrm>
            <a:off x="2682978" y="3429001"/>
            <a:ext cx="9509023" cy="3346316"/>
          </a:xfrm>
          <a:prstGeom prst="rect">
            <a:avLst/>
          </a:prstGeom>
        </p:spPr>
      </p:pic>
    </p:spTree>
    <p:extLst>
      <p:ext uri="{BB962C8B-B14F-4D97-AF65-F5344CB8AC3E}">
        <p14:creationId xmlns:p14="http://schemas.microsoft.com/office/powerpoint/2010/main" val="31947106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1C4E5FF-307D-4EDB-8C4F-8484C260B1F3}"/>
              </a:ext>
            </a:extLst>
          </p:cNvPr>
          <p:cNvSpPr txBox="1"/>
          <p:nvPr/>
        </p:nvSpPr>
        <p:spPr>
          <a:xfrm>
            <a:off x="1" y="209625"/>
            <a:ext cx="11682335" cy="1569660"/>
          </a:xfrm>
          <a:prstGeom prst="rect">
            <a:avLst/>
          </a:prstGeom>
          <a:noFill/>
        </p:spPr>
        <p:txBody>
          <a:bodyPr wrap="square">
            <a:spAutoFit/>
          </a:bodyPr>
          <a:lstStyle/>
          <a:p>
            <a:pPr algn="just"/>
            <a:r>
              <a:rPr lang="en-US" sz="3200" b="1" dirty="0">
                <a:latin typeface="Times New Roman" panose="02020603050405020304" pitchFamily="18" charset="0"/>
                <a:cs typeface="Times New Roman" panose="02020603050405020304" pitchFamily="18" charset="0"/>
              </a:rPr>
              <a:t>Clocked flip flops serve as memory elements in synchronous sequential Circuits and </a:t>
            </a:r>
            <a:r>
              <a:rPr lang="en-US" sz="3200" b="1" dirty="0" err="1">
                <a:latin typeface="Times New Roman" panose="02020603050405020304" pitchFamily="18" charset="0"/>
                <a:cs typeface="Times New Roman" panose="02020603050405020304" pitchFamily="18" charset="0"/>
              </a:rPr>
              <a:t>unclocked</a:t>
            </a:r>
            <a:r>
              <a:rPr lang="en-US" sz="3200" b="1" dirty="0">
                <a:latin typeface="Times New Roman" panose="02020603050405020304" pitchFamily="18" charset="0"/>
                <a:cs typeface="Times New Roman" panose="02020603050405020304" pitchFamily="18" charset="0"/>
              </a:rPr>
              <a:t> flip-flops (i.e., latches) serve as memory elements in asynchronous sequential circuits</a:t>
            </a:r>
            <a:r>
              <a:rPr lang="en-US" sz="2400" b="1" dirty="0">
                <a:latin typeface="Times New Roman" panose="02020603050405020304" pitchFamily="18" charset="0"/>
                <a:cs typeface="Times New Roman" panose="02020603050405020304" pitchFamily="18" charset="0"/>
              </a:rPr>
              <a:t>.</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A9E5C79-2FCC-4A9E-96F0-A4AC896CD4F7}"/>
              </a:ext>
            </a:extLst>
          </p:cNvPr>
          <p:cNvSpPr txBox="1"/>
          <p:nvPr/>
        </p:nvSpPr>
        <p:spPr>
          <a:xfrm>
            <a:off x="2211049" y="2438188"/>
            <a:ext cx="7612505" cy="2554545"/>
          </a:xfrm>
          <a:prstGeom prst="rect">
            <a:avLst/>
          </a:prstGeom>
          <a:noFill/>
        </p:spPr>
        <p:txBody>
          <a:bodyPr wrap="square">
            <a:spAutoFit/>
          </a:bodyPr>
          <a:lstStyle/>
          <a:p>
            <a:pPr algn="l"/>
            <a:r>
              <a:rPr lang="en-US" sz="3200" dirty="0">
                <a:latin typeface="Times New Roman" panose="02020603050405020304" pitchFamily="18" charset="0"/>
                <a:cs typeface="Times New Roman" panose="02020603050405020304" pitchFamily="18" charset="0"/>
              </a:rPr>
              <a:t>There are mainly four types of flip-flops:</a:t>
            </a:r>
          </a:p>
          <a:p>
            <a:pPr algn="l">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JK Flip-Flop</a:t>
            </a:r>
          </a:p>
          <a:p>
            <a:pPr algn="l">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SR (Set-Reset) Flip-Flop</a:t>
            </a:r>
          </a:p>
          <a:p>
            <a:pPr algn="l">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Data or Delay (D) Flip-Flop</a:t>
            </a:r>
          </a:p>
          <a:p>
            <a:pPr algn="l">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Toggle (T) Flip-Flop</a:t>
            </a:r>
          </a:p>
        </p:txBody>
      </p:sp>
    </p:spTree>
    <p:extLst>
      <p:ext uri="{BB962C8B-B14F-4D97-AF65-F5344CB8AC3E}">
        <p14:creationId xmlns:p14="http://schemas.microsoft.com/office/powerpoint/2010/main" val="1877234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984655-7F57-4885-AF06-7FB81AFF08EF}"/>
              </a:ext>
            </a:extLst>
          </p:cNvPr>
          <p:cNvSpPr txBox="1"/>
          <p:nvPr/>
        </p:nvSpPr>
        <p:spPr>
          <a:xfrm>
            <a:off x="329784" y="49968"/>
            <a:ext cx="11032760" cy="584775"/>
          </a:xfrm>
          <a:prstGeom prst="rect">
            <a:avLst/>
          </a:prstGeom>
          <a:noFill/>
        </p:spPr>
        <p:txBody>
          <a:bodyPr wrap="square" rtlCol="0">
            <a:spAutoFit/>
          </a:bodyPr>
          <a:lstStyle/>
          <a:p>
            <a:r>
              <a:rPr lang="en-IN" sz="3200" b="1" dirty="0">
                <a:solidFill>
                  <a:srgbClr val="FFC000"/>
                </a:solidFill>
                <a:latin typeface="Times New Roman" panose="02020603050405020304" pitchFamily="18" charset="0"/>
                <a:cs typeface="Times New Roman" panose="02020603050405020304" pitchFamily="18" charset="0"/>
              </a:rPr>
              <a:t>SR -LATCH WITH CLOCK SIGNAL (SR FLIPFLOP) </a:t>
            </a:r>
          </a:p>
        </p:txBody>
      </p:sp>
      <p:graphicFrame>
        <p:nvGraphicFramePr>
          <p:cNvPr id="7" name="Table 6">
            <a:extLst>
              <a:ext uri="{FF2B5EF4-FFF2-40B4-BE49-F238E27FC236}">
                <a16:creationId xmlns:a16="http://schemas.microsoft.com/office/drawing/2014/main" id="{709ADBE6-7226-4359-8777-0B868D77BDBC}"/>
              </a:ext>
            </a:extLst>
          </p:cNvPr>
          <p:cNvGraphicFramePr>
            <a:graphicFrameLocks noGrp="1"/>
          </p:cNvGraphicFramePr>
          <p:nvPr/>
        </p:nvGraphicFramePr>
        <p:xfrm>
          <a:off x="4683690" y="603247"/>
          <a:ext cx="3510932" cy="3535680"/>
        </p:xfrm>
        <a:graphic>
          <a:graphicData uri="http://schemas.openxmlformats.org/drawingml/2006/table">
            <a:tbl>
              <a:tblPr firstRow="1" bandRow="1"/>
              <a:tblGrid>
                <a:gridCol w="569117">
                  <a:extLst>
                    <a:ext uri="{9D8B030D-6E8A-4147-A177-3AD203B41FA5}">
                      <a16:colId xmlns:a16="http://schemas.microsoft.com/office/drawing/2014/main" val="3012712500"/>
                    </a:ext>
                  </a:extLst>
                </a:gridCol>
                <a:gridCol w="478388">
                  <a:extLst>
                    <a:ext uri="{9D8B030D-6E8A-4147-A177-3AD203B41FA5}">
                      <a16:colId xmlns:a16="http://schemas.microsoft.com/office/drawing/2014/main" val="3878309345"/>
                    </a:ext>
                  </a:extLst>
                </a:gridCol>
                <a:gridCol w="1302147">
                  <a:extLst>
                    <a:ext uri="{9D8B030D-6E8A-4147-A177-3AD203B41FA5}">
                      <a16:colId xmlns:a16="http://schemas.microsoft.com/office/drawing/2014/main" val="1787904053"/>
                    </a:ext>
                  </a:extLst>
                </a:gridCol>
                <a:gridCol w="1161280">
                  <a:extLst>
                    <a:ext uri="{9D8B030D-6E8A-4147-A177-3AD203B41FA5}">
                      <a16:colId xmlns:a16="http://schemas.microsoft.com/office/drawing/2014/main" val="890354070"/>
                    </a:ext>
                  </a:extLst>
                </a:gridCol>
              </a:tblGrid>
              <a:tr h="487680">
                <a:tc>
                  <a:txBody>
                    <a:bodyPr/>
                    <a:lstStyle/>
                    <a:p>
                      <a:r>
                        <a:rPr lang="en-IN" sz="2400" dirty="0"/>
                        <a:t>S</a:t>
                      </a:r>
                    </a:p>
                  </a:txBody>
                  <a:tcPr marL="121920" marR="121920" marT="60960" marB="60960">
                    <a:solidFill>
                      <a:schemeClr val="bg1"/>
                    </a:solidFill>
                  </a:tcPr>
                </a:tc>
                <a:tc>
                  <a:txBody>
                    <a:bodyPr/>
                    <a:lstStyle/>
                    <a:p>
                      <a:r>
                        <a:rPr lang="en-IN" sz="2400" dirty="0"/>
                        <a:t>R</a:t>
                      </a:r>
                    </a:p>
                  </a:txBody>
                  <a:tcPr marL="121920" marR="121920" marT="60960" marB="60960">
                    <a:solidFill>
                      <a:schemeClr val="bg1"/>
                    </a:solidFill>
                  </a:tcPr>
                </a:tc>
                <a:tc>
                  <a:txBody>
                    <a:bodyPr/>
                    <a:lstStyle/>
                    <a:p>
                      <a:r>
                        <a:rPr lang="en-IN" sz="2400" dirty="0"/>
                        <a:t>Q</a:t>
                      </a:r>
                    </a:p>
                  </a:txBody>
                  <a:tcPr marL="121920" marR="121920" marT="60960" marB="60960">
                    <a:solidFill>
                      <a:schemeClr val="bg1"/>
                    </a:solidFill>
                  </a:tcPr>
                </a:tc>
                <a:tc>
                  <a:txBody>
                    <a:bodyPr/>
                    <a:lstStyle/>
                    <a:p>
                      <a:r>
                        <a:rPr lang="en-IN" sz="2400" dirty="0"/>
                        <a:t>Q’</a:t>
                      </a:r>
                    </a:p>
                  </a:txBody>
                  <a:tcPr marL="121920" marR="121920" marT="60960" marB="60960">
                    <a:solidFill>
                      <a:schemeClr val="bg1"/>
                    </a:solidFill>
                  </a:tcPr>
                </a:tc>
                <a:extLst>
                  <a:ext uri="{0D108BD9-81ED-4DB2-BD59-A6C34878D82A}">
                    <a16:rowId xmlns:a16="http://schemas.microsoft.com/office/drawing/2014/main" val="291712023"/>
                  </a:ext>
                </a:extLst>
              </a:tr>
              <a:tr h="1584960">
                <a:tc>
                  <a:txBody>
                    <a:bodyPr/>
                    <a:lstStyle/>
                    <a:p>
                      <a:r>
                        <a:rPr lang="en-IN" sz="2400" dirty="0"/>
                        <a:t>0</a:t>
                      </a:r>
                    </a:p>
                  </a:txBody>
                  <a:tcPr marL="121920" marR="121920" marT="60960" marB="60960">
                    <a:solidFill>
                      <a:schemeClr val="bg1"/>
                    </a:solidFill>
                  </a:tcPr>
                </a:tc>
                <a:tc>
                  <a:txBody>
                    <a:bodyPr/>
                    <a:lstStyle/>
                    <a:p>
                      <a:r>
                        <a:rPr lang="en-IN" sz="2400" dirty="0"/>
                        <a:t>0</a:t>
                      </a:r>
                    </a:p>
                  </a:txBody>
                  <a:tcPr marL="121920" marR="121920" marT="60960" marB="60960">
                    <a:solidFill>
                      <a:schemeClr val="bg1"/>
                    </a:solidFill>
                  </a:tcPr>
                </a:tc>
                <a:tc>
                  <a:txBody>
                    <a:bodyPr/>
                    <a:lstStyle/>
                    <a:p>
                      <a:r>
                        <a:rPr lang="en-IN" sz="2400" dirty="0"/>
                        <a:t>Hold previous</a:t>
                      </a:r>
                    </a:p>
                  </a:txBody>
                  <a:tcPr marL="121920" marR="121920" marT="60960" marB="60960">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400" dirty="0"/>
                        <a:t>Hold previous</a:t>
                      </a:r>
                    </a:p>
                    <a:p>
                      <a:endParaRPr lang="en-IN" sz="2400" dirty="0"/>
                    </a:p>
                  </a:txBody>
                  <a:tcPr marL="121920" marR="121920" marT="60960" marB="60960">
                    <a:solidFill>
                      <a:schemeClr val="bg1"/>
                    </a:solidFill>
                  </a:tcPr>
                </a:tc>
                <a:extLst>
                  <a:ext uri="{0D108BD9-81ED-4DB2-BD59-A6C34878D82A}">
                    <a16:rowId xmlns:a16="http://schemas.microsoft.com/office/drawing/2014/main" val="621973357"/>
                  </a:ext>
                </a:extLst>
              </a:tr>
              <a:tr h="487680">
                <a:tc>
                  <a:txBody>
                    <a:bodyPr/>
                    <a:lstStyle/>
                    <a:p>
                      <a:r>
                        <a:rPr lang="en-IN" sz="2400" dirty="0"/>
                        <a:t>0</a:t>
                      </a:r>
                    </a:p>
                  </a:txBody>
                  <a:tcPr marL="121920" marR="121920" marT="60960" marB="60960">
                    <a:solidFill>
                      <a:schemeClr val="bg1"/>
                    </a:solidFill>
                  </a:tcPr>
                </a:tc>
                <a:tc>
                  <a:txBody>
                    <a:bodyPr/>
                    <a:lstStyle/>
                    <a:p>
                      <a:r>
                        <a:rPr lang="en-IN" sz="2400" dirty="0"/>
                        <a:t>1</a:t>
                      </a:r>
                    </a:p>
                  </a:txBody>
                  <a:tcPr marL="121920" marR="121920" marT="60960" marB="60960">
                    <a:solidFill>
                      <a:schemeClr val="bg1"/>
                    </a:solidFill>
                  </a:tcPr>
                </a:tc>
                <a:tc>
                  <a:txBody>
                    <a:bodyPr/>
                    <a:lstStyle/>
                    <a:p>
                      <a:r>
                        <a:rPr lang="en-IN" sz="2400" dirty="0"/>
                        <a:t>0</a:t>
                      </a:r>
                    </a:p>
                  </a:txBody>
                  <a:tcPr marL="121920" marR="121920" marT="60960" marB="60960">
                    <a:solidFill>
                      <a:schemeClr val="bg1"/>
                    </a:solidFill>
                  </a:tcPr>
                </a:tc>
                <a:tc>
                  <a:txBody>
                    <a:bodyPr/>
                    <a:lstStyle/>
                    <a:p>
                      <a:r>
                        <a:rPr lang="en-IN" sz="2400" dirty="0"/>
                        <a:t>1</a:t>
                      </a:r>
                    </a:p>
                  </a:txBody>
                  <a:tcPr marL="121920" marR="121920" marT="60960" marB="60960">
                    <a:solidFill>
                      <a:schemeClr val="bg1"/>
                    </a:solidFill>
                  </a:tcPr>
                </a:tc>
                <a:extLst>
                  <a:ext uri="{0D108BD9-81ED-4DB2-BD59-A6C34878D82A}">
                    <a16:rowId xmlns:a16="http://schemas.microsoft.com/office/drawing/2014/main" val="118123986"/>
                  </a:ext>
                </a:extLst>
              </a:tr>
              <a:tr h="487680">
                <a:tc>
                  <a:txBody>
                    <a:bodyPr/>
                    <a:lstStyle/>
                    <a:p>
                      <a:r>
                        <a:rPr lang="en-IN" sz="2400" dirty="0"/>
                        <a:t>1</a:t>
                      </a:r>
                    </a:p>
                  </a:txBody>
                  <a:tcPr marL="121920" marR="121920" marT="60960" marB="60960">
                    <a:solidFill>
                      <a:schemeClr val="bg1"/>
                    </a:solidFill>
                  </a:tcPr>
                </a:tc>
                <a:tc>
                  <a:txBody>
                    <a:bodyPr/>
                    <a:lstStyle/>
                    <a:p>
                      <a:r>
                        <a:rPr lang="en-IN" sz="2400" dirty="0"/>
                        <a:t>0</a:t>
                      </a:r>
                    </a:p>
                  </a:txBody>
                  <a:tcPr marL="121920" marR="121920" marT="60960" marB="60960">
                    <a:solidFill>
                      <a:schemeClr val="bg1"/>
                    </a:solidFill>
                  </a:tcPr>
                </a:tc>
                <a:tc>
                  <a:txBody>
                    <a:bodyPr/>
                    <a:lstStyle/>
                    <a:p>
                      <a:r>
                        <a:rPr lang="en-IN" sz="2400" dirty="0"/>
                        <a:t>1</a:t>
                      </a:r>
                    </a:p>
                  </a:txBody>
                  <a:tcPr marL="121920" marR="121920" marT="60960" marB="60960">
                    <a:solidFill>
                      <a:schemeClr val="bg1"/>
                    </a:solidFill>
                  </a:tcPr>
                </a:tc>
                <a:tc>
                  <a:txBody>
                    <a:bodyPr/>
                    <a:lstStyle/>
                    <a:p>
                      <a:r>
                        <a:rPr lang="en-IN" sz="2400" dirty="0"/>
                        <a:t>0</a:t>
                      </a:r>
                    </a:p>
                  </a:txBody>
                  <a:tcPr marL="121920" marR="121920" marT="60960" marB="60960">
                    <a:solidFill>
                      <a:schemeClr val="bg1"/>
                    </a:solidFill>
                  </a:tcPr>
                </a:tc>
                <a:extLst>
                  <a:ext uri="{0D108BD9-81ED-4DB2-BD59-A6C34878D82A}">
                    <a16:rowId xmlns:a16="http://schemas.microsoft.com/office/drawing/2014/main" val="556311721"/>
                  </a:ext>
                </a:extLst>
              </a:tr>
              <a:tr h="487680">
                <a:tc>
                  <a:txBody>
                    <a:bodyPr/>
                    <a:lstStyle/>
                    <a:p>
                      <a:r>
                        <a:rPr lang="en-IN" sz="2400" dirty="0"/>
                        <a:t>1</a:t>
                      </a:r>
                    </a:p>
                  </a:txBody>
                  <a:tcPr marL="121920" marR="121920" marT="60960" marB="60960">
                    <a:solidFill>
                      <a:schemeClr val="bg1"/>
                    </a:solidFill>
                  </a:tcPr>
                </a:tc>
                <a:tc>
                  <a:txBody>
                    <a:bodyPr/>
                    <a:lstStyle/>
                    <a:p>
                      <a:r>
                        <a:rPr lang="en-IN" sz="2400" dirty="0"/>
                        <a:t>1</a:t>
                      </a:r>
                    </a:p>
                  </a:txBody>
                  <a:tcPr marL="121920" marR="121920" marT="60960" marB="60960">
                    <a:solidFill>
                      <a:schemeClr val="bg1"/>
                    </a:solidFill>
                  </a:tcPr>
                </a:tc>
                <a:tc>
                  <a:txBody>
                    <a:bodyPr/>
                    <a:lstStyle/>
                    <a:p>
                      <a:r>
                        <a:rPr lang="en-IN" sz="2400" dirty="0"/>
                        <a:t>invalid</a:t>
                      </a:r>
                    </a:p>
                  </a:txBody>
                  <a:tcPr marL="121920" marR="121920" marT="60960" marB="60960">
                    <a:solidFill>
                      <a:schemeClr val="bg1"/>
                    </a:solidFill>
                  </a:tcPr>
                </a:tc>
                <a:tc>
                  <a:txBody>
                    <a:bodyPr/>
                    <a:lstStyle/>
                    <a:p>
                      <a:r>
                        <a:rPr lang="en-IN" sz="2400" dirty="0"/>
                        <a:t>invalid</a:t>
                      </a:r>
                    </a:p>
                  </a:txBody>
                  <a:tcPr marL="121920" marR="121920" marT="60960" marB="60960">
                    <a:solidFill>
                      <a:schemeClr val="bg1"/>
                    </a:solidFill>
                  </a:tcPr>
                </a:tc>
                <a:extLst>
                  <a:ext uri="{0D108BD9-81ED-4DB2-BD59-A6C34878D82A}">
                    <a16:rowId xmlns:a16="http://schemas.microsoft.com/office/drawing/2014/main" val="1166634205"/>
                  </a:ext>
                </a:extLst>
              </a:tr>
            </a:tbl>
          </a:graphicData>
        </a:graphic>
      </p:graphicFrame>
      <p:sp>
        <p:nvSpPr>
          <p:cNvPr id="4" name="TextBox 3">
            <a:extLst>
              <a:ext uri="{FF2B5EF4-FFF2-40B4-BE49-F238E27FC236}">
                <a16:creationId xmlns:a16="http://schemas.microsoft.com/office/drawing/2014/main" id="{F53555CE-57D9-4EF9-8E9B-FDD7FC5812E0}"/>
              </a:ext>
            </a:extLst>
          </p:cNvPr>
          <p:cNvSpPr txBox="1"/>
          <p:nvPr/>
        </p:nvSpPr>
        <p:spPr>
          <a:xfrm>
            <a:off x="9084040" y="4482170"/>
            <a:ext cx="3107960" cy="461665"/>
          </a:xfrm>
          <a:prstGeom prst="rect">
            <a:avLst/>
          </a:prstGeom>
          <a:noFill/>
        </p:spPr>
        <p:txBody>
          <a:bodyPr wrap="square" rtlCol="0">
            <a:spAutoFit/>
          </a:bodyPr>
          <a:lstStyle/>
          <a:p>
            <a:r>
              <a:rPr lang="en-IN" sz="2400" b="1" dirty="0">
                <a:solidFill>
                  <a:schemeClr val="bg1"/>
                </a:solidFill>
              </a:rPr>
              <a:t>Characteristic table </a:t>
            </a:r>
          </a:p>
        </p:txBody>
      </p:sp>
      <p:cxnSp>
        <p:nvCxnSpPr>
          <p:cNvPr id="12" name="Straight Connector 11">
            <a:extLst>
              <a:ext uri="{FF2B5EF4-FFF2-40B4-BE49-F238E27FC236}">
                <a16:creationId xmlns:a16="http://schemas.microsoft.com/office/drawing/2014/main" id="{85E8E0B3-55D4-4284-A2D0-91C7CC42988B}"/>
              </a:ext>
            </a:extLst>
          </p:cNvPr>
          <p:cNvCxnSpPr/>
          <p:nvPr/>
        </p:nvCxnSpPr>
        <p:spPr>
          <a:xfrm>
            <a:off x="423830" y="4225663"/>
            <a:ext cx="899887" cy="619276"/>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125D6D9-8320-458D-B562-75BC5E13ACE5}"/>
              </a:ext>
            </a:extLst>
          </p:cNvPr>
          <p:cNvSpPr txBox="1"/>
          <p:nvPr/>
        </p:nvSpPr>
        <p:spPr>
          <a:xfrm>
            <a:off x="594585" y="4639754"/>
            <a:ext cx="890209" cy="461665"/>
          </a:xfrm>
          <a:prstGeom prst="rect">
            <a:avLst/>
          </a:prstGeom>
          <a:noFill/>
        </p:spPr>
        <p:txBody>
          <a:bodyPr wrap="square" rtlCol="0">
            <a:spAutoFit/>
          </a:bodyPr>
          <a:lstStyle/>
          <a:p>
            <a:r>
              <a:rPr lang="en-IN" sz="2400" dirty="0">
                <a:solidFill>
                  <a:schemeClr val="bg1"/>
                </a:solidFill>
              </a:rPr>
              <a:t>Q(t)</a:t>
            </a:r>
          </a:p>
        </p:txBody>
      </p:sp>
      <p:sp>
        <p:nvSpPr>
          <p:cNvPr id="14" name="TextBox 13">
            <a:extLst>
              <a:ext uri="{FF2B5EF4-FFF2-40B4-BE49-F238E27FC236}">
                <a16:creationId xmlns:a16="http://schemas.microsoft.com/office/drawing/2014/main" id="{E7C45E66-1859-4AF5-A118-1D775500C817}"/>
              </a:ext>
            </a:extLst>
          </p:cNvPr>
          <p:cNvSpPr txBox="1"/>
          <p:nvPr/>
        </p:nvSpPr>
        <p:spPr>
          <a:xfrm>
            <a:off x="760096" y="4157585"/>
            <a:ext cx="890209" cy="461665"/>
          </a:xfrm>
          <a:prstGeom prst="rect">
            <a:avLst/>
          </a:prstGeom>
          <a:noFill/>
        </p:spPr>
        <p:txBody>
          <a:bodyPr wrap="square" rtlCol="0">
            <a:spAutoFit/>
          </a:bodyPr>
          <a:lstStyle/>
          <a:p>
            <a:r>
              <a:rPr lang="en-IN" sz="2400" dirty="0">
                <a:solidFill>
                  <a:schemeClr val="bg1"/>
                </a:solidFill>
              </a:rPr>
              <a:t>SR</a:t>
            </a:r>
          </a:p>
        </p:txBody>
      </p:sp>
      <p:sp>
        <p:nvSpPr>
          <p:cNvPr id="15" name="TextBox 14">
            <a:extLst>
              <a:ext uri="{FF2B5EF4-FFF2-40B4-BE49-F238E27FC236}">
                <a16:creationId xmlns:a16="http://schemas.microsoft.com/office/drawing/2014/main" id="{43AC2517-A526-415F-A1D6-344025EEC89A}"/>
              </a:ext>
            </a:extLst>
          </p:cNvPr>
          <p:cNvSpPr txBox="1"/>
          <p:nvPr/>
        </p:nvSpPr>
        <p:spPr>
          <a:xfrm>
            <a:off x="680249" y="5083097"/>
            <a:ext cx="890209" cy="461665"/>
          </a:xfrm>
          <a:prstGeom prst="rect">
            <a:avLst/>
          </a:prstGeom>
          <a:noFill/>
        </p:spPr>
        <p:txBody>
          <a:bodyPr wrap="square" rtlCol="0">
            <a:spAutoFit/>
          </a:bodyPr>
          <a:lstStyle/>
          <a:p>
            <a:r>
              <a:rPr lang="en-IN" sz="2400" dirty="0">
                <a:solidFill>
                  <a:schemeClr val="bg1"/>
                </a:solidFill>
              </a:rPr>
              <a:t>0</a:t>
            </a:r>
          </a:p>
        </p:txBody>
      </p:sp>
      <p:sp>
        <p:nvSpPr>
          <p:cNvPr id="16" name="TextBox 15">
            <a:extLst>
              <a:ext uri="{FF2B5EF4-FFF2-40B4-BE49-F238E27FC236}">
                <a16:creationId xmlns:a16="http://schemas.microsoft.com/office/drawing/2014/main" id="{0FAD7B83-4824-4BF5-BB96-A52210B33ED2}"/>
              </a:ext>
            </a:extLst>
          </p:cNvPr>
          <p:cNvSpPr txBox="1"/>
          <p:nvPr/>
        </p:nvSpPr>
        <p:spPr>
          <a:xfrm>
            <a:off x="604257" y="5864520"/>
            <a:ext cx="890209" cy="461665"/>
          </a:xfrm>
          <a:prstGeom prst="rect">
            <a:avLst/>
          </a:prstGeom>
          <a:noFill/>
        </p:spPr>
        <p:txBody>
          <a:bodyPr wrap="square" rtlCol="0">
            <a:spAutoFit/>
          </a:bodyPr>
          <a:lstStyle/>
          <a:p>
            <a:r>
              <a:rPr lang="en-IN" sz="2400" dirty="0">
                <a:solidFill>
                  <a:schemeClr val="bg1"/>
                </a:solidFill>
              </a:rPr>
              <a:t>1</a:t>
            </a:r>
          </a:p>
        </p:txBody>
      </p:sp>
      <p:sp>
        <p:nvSpPr>
          <p:cNvPr id="17" name="TextBox 16">
            <a:extLst>
              <a:ext uri="{FF2B5EF4-FFF2-40B4-BE49-F238E27FC236}">
                <a16:creationId xmlns:a16="http://schemas.microsoft.com/office/drawing/2014/main" id="{6D969F04-E02A-4881-98C9-AF84396FB1C9}"/>
              </a:ext>
            </a:extLst>
          </p:cNvPr>
          <p:cNvSpPr txBox="1"/>
          <p:nvPr/>
        </p:nvSpPr>
        <p:spPr>
          <a:xfrm>
            <a:off x="1633368" y="4357281"/>
            <a:ext cx="890209" cy="461665"/>
          </a:xfrm>
          <a:prstGeom prst="rect">
            <a:avLst/>
          </a:prstGeom>
          <a:noFill/>
        </p:spPr>
        <p:txBody>
          <a:bodyPr wrap="square" rtlCol="0">
            <a:spAutoFit/>
          </a:bodyPr>
          <a:lstStyle/>
          <a:p>
            <a:r>
              <a:rPr lang="en-IN" sz="2400" dirty="0">
                <a:solidFill>
                  <a:schemeClr val="bg1"/>
                </a:solidFill>
              </a:rPr>
              <a:t>00</a:t>
            </a:r>
          </a:p>
        </p:txBody>
      </p:sp>
      <p:sp>
        <p:nvSpPr>
          <p:cNvPr id="18" name="TextBox 17">
            <a:extLst>
              <a:ext uri="{FF2B5EF4-FFF2-40B4-BE49-F238E27FC236}">
                <a16:creationId xmlns:a16="http://schemas.microsoft.com/office/drawing/2014/main" id="{1339D6BB-F0A4-4B51-AE2E-D729981624E0}"/>
              </a:ext>
            </a:extLst>
          </p:cNvPr>
          <p:cNvSpPr txBox="1"/>
          <p:nvPr/>
        </p:nvSpPr>
        <p:spPr>
          <a:xfrm>
            <a:off x="2881582" y="4318116"/>
            <a:ext cx="890209" cy="461665"/>
          </a:xfrm>
          <a:prstGeom prst="rect">
            <a:avLst/>
          </a:prstGeom>
          <a:noFill/>
        </p:spPr>
        <p:txBody>
          <a:bodyPr wrap="square" rtlCol="0">
            <a:spAutoFit/>
          </a:bodyPr>
          <a:lstStyle/>
          <a:p>
            <a:r>
              <a:rPr lang="en-IN" sz="2400" dirty="0">
                <a:solidFill>
                  <a:schemeClr val="bg1"/>
                </a:solidFill>
              </a:rPr>
              <a:t>01</a:t>
            </a:r>
          </a:p>
        </p:txBody>
      </p:sp>
      <p:sp>
        <p:nvSpPr>
          <p:cNvPr id="19" name="TextBox 18">
            <a:extLst>
              <a:ext uri="{FF2B5EF4-FFF2-40B4-BE49-F238E27FC236}">
                <a16:creationId xmlns:a16="http://schemas.microsoft.com/office/drawing/2014/main" id="{DF30DA64-E7C3-40B3-A298-96BE5823265A}"/>
              </a:ext>
            </a:extLst>
          </p:cNvPr>
          <p:cNvSpPr txBox="1"/>
          <p:nvPr/>
        </p:nvSpPr>
        <p:spPr>
          <a:xfrm>
            <a:off x="4336436" y="4371901"/>
            <a:ext cx="890209" cy="461665"/>
          </a:xfrm>
          <a:prstGeom prst="rect">
            <a:avLst/>
          </a:prstGeom>
          <a:noFill/>
        </p:spPr>
        <p:txBody>
          <a:bodyPr wrap="square" rtlCol="0">
            <a:spAutoFit/>
          </a:bodyPr>
          <a:lstStyle/>
          <a:p>
            <a:r>
              <a:rPr lang="en-IN" sz="2400" dirty="0">
                <a:solidFill>
                  <a:schemeClr val="bg1"/>
                </a:solidFill>
              </a:rPr>
              <a:t>11</a:t>
            </a:r>
          </a:p>
        </p:txBody>
      </p:sp>
      <p:sp>
        <p:nvSpPr>
          <p:cNvPr id="20" name="TextBox 19">
            <a:extLst>
              <a:ext uri="{FF2B5EF4-FFF2-40B4-BE49-F238E27FC236}">
                <a16:creationId xmlns:a16="http://schemas.microsoft.com/office/drawing/2014/main" id="{E5BE5764-35EA-4671-8E97-BD9639E3B80E}"/>
              </a:ext>
            </a:extLst>
          </p:cNvPr>
          <p:cNvSpPr txBox="1"/>
          <p:nvPr/>
        </p:nvSpPr>
        <p:spPr>
          <a:xfrm>
            <a:off x="5191672" y="4329469"/>
            <a:ext cx="890209" cy="461665"/>
          </a:xfrm>
          <a:prstGeom prst="rect">
            <a:avLst/>
          </a:prstGeom>
          <a:noFill/>
        </p:spPr>
        <p:txBody>
          <a:bodyPr wrap="square" rtlCol="0">
            <a:spAutoFit/>
          </a:bodyPr>
          <a:lstStyle/>
          <a:p>
            <a:r>
              <a:rPr lang="en-IN" sz="2400" dirty="0">
                <a:solidFill>
                  <a:schemeClr val="bg1"/>
                </a:solidFill>
              </a:rPr>
              <a:t>10</a:t>
            </a:r>
          </a:p>
        </p:txBody>
      </p:sp>
      <p:graphicFrame>
        <p:nvGraphicFramePr>
          <p:cNvPr id="3" name="Table 4">
            <a:extLst>
              <a:ext uri="{FF2B5EF4-FFF2-40B4-BE49-F238E27FC236}">
                <a16:creationId xmlns:a16="http://schemas.microsoft.com/office/drawing/2014/main" id="{AFAE1C8E-B26C-4A7F-9D60-DF39D1105C2E}"/>
              </a:ext>
            </a:extLst>
          </p:cNvPr>
          <p:cNvGraphicFramePr>
            <a:graphicFrameLocks noGrp="1"/>
          </p:cNvGraphicFramePr>
          <p:nvPr/>
        </p:nvGraphicFramePr>
        <p:xfrm>
          <a:off x="9151384" y="158596"/>
          <a:ext cx="2873824" cy="4802291"/>
        </p:xfrm>
        <a:graphic>
          <a:graphicData uri="http://schemas.openxmlformats.org/drawingml/2006/table">
            <a:tbl>
              <a:tblPr firstRow="1" bandRow="1"/>
              <a:tblGrid>
                <a:gridCol w="718456">
                  <a:extLst>
                    <a:ext uri="{9D8B030D-6E8A-4147-A177-3AD203B41FA5}">
                      <a16:colId xmlns:a16="http://schemas.microsoft.com/office/drawing/2014/main" val="2738820590"/>
                    </a:ext>
                  </a:extLst>
                </a:gridCol>
                <a:gridCol w="718456">
                  <a:extLst>
                    <a:ext uri="{9D8B030D-6E8A-4147-A177-3AD203B41FA5}">
                      <a16:colId xmlns:a16="http://schemas.microsoft.com/office/drawing/2014/main" val="1143461950"/>
                    </a:ext>
                  </a:extLst>
                </a:gridCol>
                <a:gridCol w="452559">
                  <a:extLst>
                    <a:ext uri="{9D8B030D-6E8A-4147-A177-3AD203B41FA5}">
                      <a16:colId xmlns:a16="http://schemas.microsoft.com/office/drawing/2014/main" val="3089571854"/>
                    </a:ext>
                  </a:extLst>
                </a:gridCol>
                <a:gridCol w="984353">
                  <a:extLst>
                    <a:ext uri="{9D8B030D-6E8A-4147-A177-3AD203B41FA5}">
                      <a16:colId xmlns:a16="http://schemas.microsoft.com/office/drawing/2014/main" val="2948421085"/>
                    </a:ext>
                  </a:extLst>
                </a:gridCol>
              </a:tblGrid>
              <a:tr h="853440">
                <a:tc>
                  <a:txBody>
                    <a:bodyPr/>
                    <a:lstStyle/>
                    <a:p>
                      <a:r>
                        <a:rPr lang="en-IN" sz="2400" b="1" dirty="0"/>
                        <a:t>Q(t)</a:t>
                      </a:r>
                    </a:p>
                  </a:txBody>
                  <a:tcPr marL="121920" marR="121920" marT="60960" marB="60960">
                    <a:solidFill>
                      <a:schemeClr val="tx2"/>
                    </a:solidFill>
                  </a:tcPr>
                </a:tc>
                <a:tc>
                  <a:txBody>
                    <a:bodyPr/>
                    <a:lstStyle/>
                    <a:p>
                      <a:r>
                        <a:rPr lang="en-IN" sz="2400" b="1" dirty="0"/>
                        <a:t>S</a:t>
                      </a:r>
                    </a:p>
                  </a:txBody>
                  <a:tcPr marL="121920" marR="121920" marT="60960" marB="60960">
                    <a:solidFill>
                      <a:schemeClr val="tx2"/>
                    </a:solidFill>
                  </a:tcPr>
                </a:tc>
                <a:tc>
                  <a:txBody>
                    <a:bodyPr/>
                    <a:lstStyle/>
                    <a:p>
                      <a:r>
                        <a:rPr lang="en-IN" sz="2400" b="1" dirty="0"/>
                        <a:t>R</a:t>
                      </a:r>
                    </a:p>
                  </a:txBody>
                  <a:tcPr marL="121920" marR="121920" marT="60960" marB="60960">
                    <a:solidFill>
                      <a:schemeClr val="tx2"/>
                    </a:solidFill>
                  </a:tcPr>
                </a:tc>
                <a:tc>
                  <a:txBody>
                    <a:bodyPr/>
                    <a:lstStyle/>
                    <a:p>
                      <a:r>
                        <a:rPr lang="en-IN" sz="2400" b="1" dirty="0"/>
                        <a:t>Q(t+1)</a:t>
                      </a:r>
                    </a:p>
                  </a:txBody>
                  <a:tcPr marL="121920" marR="121920" marT="60960" marB="60960">
                    <a:solidFill>
                      <a:schemeClr val="tx2"/>
                    </a:solidFill>
                  </a:tcPr>
                </a:tc>
                <a:extLst>
                  <a:ext uri="{0D108BD9-81ED-4DB2-BD59-A6C34878D82A}">
                    <a16:rowId xmlns:a16="http://schemas.microsoft.com/office/drawing/2014/main" val="1789647253"/>
                  </a:ext>
                </a:extLst>
              </a:tr>
              <a:tr h="494453">
                <a:tc>
                  <a:txBody>
                    <a:bodyPr/>
                    <a:lstStyle/>
                    <a:p>
                      <a:r>
                        <a:rPr lang="en-IN" sz="2400" dirty="0"/>
                        <a:t>0</a:t>
                      </a:r>
                    </a:p>
                  </a:txBody>
                  <a:tcPr marL="121920" marR="121920" marT="60960" marB="60960">
                    <a:solidFill>
                      <a:schemeClr val="tx2"/>
                    </a:solidFill>
                  </a:tcPr>
                </a:tc>
                <a:tc>
                  <a:txBody>
                    <a:bodyPr/>
                    <a:lstStyle/>
                    <a:p>
                      <a:r>
                        <a:rPr lang="en-IN" sz="2400" dirty="0"/>
                        <a:t>0</a:t>
                      </a:r>
                    </a:p>
                  </a:txBody>
                  <a:tcPr marL="121920" marR="121920" marT="60960" marB="60960">
                    <a:solidFill>
                      <a:schemeClr val="tx2"/>
                    </a:solidFill>
                  </a:tcPr>
                </a:tc>
                <a:tc>
                  <a:txBody>
                    <a:bodyPr/>
                    <a:lstStyle/>
                    <a:p>
                      <a:r>
                        <a:rPr lang="en-IN" sz="2400" dirty="0"/>
                        <a:t>0</a:t>
                      </a:r>
                    </a:p>
                  </a:txBody>
                  <a:tcPr marL="121920" marR="121920" marT="60960" marB="60960">
                    <a:solidFill>
                      <a:schemeClr val="tx2"/>
                    </a:solidFill>
                  </a:tcPr>
                </a:tc>
                <a:tc>
                  <a:txBody>
                    <a:bodyPr/>
                    <a:lstStyle/>
                    <a:p>
                      <a:endParaRPr lang="en-IN" sz="2400"/>
                    </a:p>
                  </a:txBody>
                  <a:tcPr marL="121920" marR="121920" marT="60960" marB="60960">
                    <a:solidFill>
                      <a:schemeClr val="tx2"/>
                    </a:solidFill>
                  </a:tcPr>
                </a:tc>
                <a:extLst>
                  <a:ext uri="{0D108BD9-81ED-4DB2-BD59-A6C34878D82A}">
                    <a16:rowId xmlns:a16="http://schemas.microsoft.com/office/drawing/2014/main" val="3266696670"/>
                  </a:ext>
                </a:extLst>
              </a:tr>
              <a:tr h="494453">
                <a:tc>
                  <a:txBody>
                    <a:bodyPr/>
                    <a:lstStyle/>
                    <a:p>
                      <a:r>
                        <a:rPr lang="en-IN" sz="2400" dirty="0"/>
                        <a:t>0</a:t>
                      </a:r>
                    </a:p>
                  </a:txBody>
                  <a:tcPr marL="121920" marR="121920" marT="60960" marB="60960">
                    <a:solidFill>
                      <a:schemeClr val="tx2"/>
                    </a:solidFill>
                  </a:tcPr>
                </a:tc>
                <a:tc>
                  <a:txBody>
                    <a:bodyPr/>
                    <a:lstStyle/>
                    <a:p>
                      <a:r>
                        <a:rPr lang="en-IN" sz="2400" dirty="0"/>
                        <a:t>0</a:t>
                      </a:r>
                    </a:p>
                  </a:txBody>
                  <a:tcPr marL="121920" marR="121920" marT="60960" marB="60960">
                    <a:solidFill>
                      <a:schemeClr val="tx2"/>
                    </a:solidFill>
                  </a:tcPr>
                </a:tc>
                <a:tc>
                  <a:txBody>
                    <a:bodyPr/>
                    <a:lstStyle/>
                    <a:p>
                      <a:r>
                        <a:rPr lang="en-IN" sz="2400" dirty="0"/>
                        <a:t>1</a:t>
                      </a:r>
                    </a:p>
                  </a:txBody>
                  <a:tcPr marL="121920" marR="121920" marT="60960" marB="60960">
                    <a:solidFill>
                      <a:schemeClr val="tx2"/>
                    </a:solidFill>
                  </a:tcPr>
                </a:tc>
                <a:tc>
                  <a:txBody>
                    <a:bodyPr/>
                    <a:lstStyle/>
                    <a:p>
                      <a:endParaRPr lang="en-IN" sz="2400" dirty="0"/>
                    </a:p>
                  </a:txBody>
                  <a:tcPr marL="121920" marR="121920" marT="60960" marB="60960">
                    <a:solidFill>
                      <a:schemeClr val="tx2"/>
                    </a:solidFill>
                  </a:tcPr>
                </a:tc>
                <a:extLst>
                  <a:ext uri="{0D108BD9-81ED-4DB2-BD59-A6C34878D82A}">
                    <a16:rowId xmlns:a16="http://schemas.microsoft.com/office/drawing/2014/main" val="922284865"/>
                  </a:ext>
                </a:extLst>
              </a:tr>
              <a:tr h="494453">
                <a:tc>
                  <a:txBody>
                    <a:bodyPr/>
                    <a:lstStyle/>
                    <a:p>
                      <a:r>
                        <a:rPr lang="en-IN" sz="2400" dirty="0"/>
                        <a:t>0</a:t>
                      </a:r>
                    </a:p>
                  </a:txBody>
                  <a:tcPr marL="121920" marR="121920" marT="60960" marB="60960">
                    <a:solidFill>
                      <a:schemeClr val="tx2"/>
                    </a:solidFill>
                  </a:tcPr>
                </a:tc>
                <a:tc>
                  <a:txBody>
                    <a:bodyPr/>
                    <a:lstStyle/>
                    <a:p>
                      <a:r>
                        <a:rPr lang="en-IN" sz="2400" dirty="0"/>
                        <a:t>1</a:t>
                      </a:r>
                    </a:p>
                  </a:txBody>
                  <a:tcPr marL="121920" marR="121920" marT="60960" marB="60960">
                    <a:solidFill>
                      <a:schemeClr val="tx2"/>
                    </a:solidFill>
                  </a:tcPr>
                </a:tc>
                <a:tc>
                  <a:txBody>
                    <a:bodyPr/>
                    <a:lstStyle/>
                    <a:p>
                      <a:r>
                        <a:rPr lang="en-IN" sz="2400" dirty="0"/>
                        <a:t>0</a:t>
                      </a:r>
                    </a:p>
                  </a:txBody>
                  <a:tcPr marL="121920" marR="121920" marT="60960" marB="60960">
                    <a:solidFill>
                      <a:schemeClr val="tx2"/>
                    </a:solidFill>
                  </a:tcPr>
                </a:tc>
                <a:tc>
                  <a:txBody>
                    <a:bodyPr/>
                    <a:lstStyle/>
                    <a:p>
                      <a:endParaRPr lang="en-IN" sz="2400"/>
                    </a:p>
                  </a:txBody>
                  <a:tcPr marL="121920" marR="121920" marT="60960" marB="60960">
                    <a:solidFill>
                      <a:schemeClr val="tx2"/>
                    </a:solidFill>
                  </a:tcPr>
                </a:tc>
                <a:extLst>
                  <a:ext uri="{0D108BD9-81ED-4DB2-BD59-A6C34878D82A}">
                    <a16:rowId xmlns:a16="http://schemas.microsoft.com/office/drawing/2014/main" val="1275392177"/>
                  </a:ext>
                </a:extLst>
              </a:tr>
              <a:tr h="494453">
                <a:tc>
                  <a:txBody>
                    <a:bodyPr/>
                    <a:lstStyle/>
                    <a:p>
                      <a:r>
                        <a:rPr lang="en-IN" sz="2400" dirty="0"/>
                        <a:t>0</a:t>
                      </a:r>
                    </a:p>
                  </a:txBody>
                  <a:tcPr marL="121920" marR="121920" marT="60960" marB="60960">
                    <a:solidFill>
                      <a:schemeClr val="tx2"/>
                    </a:solidFill>
                  </a:tcPr>
                </a:tc>
                <a:tc>
                  <a:txBody>
                    <a:bodyPr/>
                    <a:lstStyle/>
                    <a:p>
                      <a:r>
                        <a:rPr lang="en-IN" sz="2400" dirty="0"/>
                        <a:t>1</a:t>
                      </a:r>
                    </a:p>
                  </a:txBody>
                  <a:tcPr marL="121920" marR="121920" marT="60960" marB="60960">
                    <a:solidFill>
                      <a:schemeClr val="tx2"/>
                    </a:solidFill>
                  </a:tcPr>
                </a:tc>
                <a:tc>
                  <a:txBody>
                    <a:bodyPr/>
                    <a:lstStyle/>
                    <a:p>
                      <a:r>
                        <a:rPr lang="en-IN" sz="2400" dirty="0"/>
                        <a:t>1</a:t>
                      </a:r>
                    </a:p>
                  </a:txBody>
                  <a:tcPr marL="121920" marR="121920" marT="60960" marB="60960">
                    <a:solidFill>
                      <a:schemeClr val="tx2"/>
                    </a:solidFill>
                  </a:tcPr>
                </a:tc>
                <a:tc>
                  <a:txBody>
                    <a:bodyPr/>
                    <a:lstStyle/>
                    <a:p>
                      <a:endParaRPr lang="en-IN" sz="2400"/>
                    </a:p>
                  </a:txBody>
                  <a:tcPr marL="121920" marR="121920" marT="60960" marB="60960">
                    <a:solidFill>
                      <a:schemeClr val="tx2"/>
                    </a:solidFill>
                  </a:tcPr>
                </a:tc>
                <a:extLst>
                  <a:ext uri="{0D108BD9-81ED-4DB2-BD59-A6C34878D82A}">
                    <a16:rowId xmlns:a16="http://schemas.microsoft.com/office/drawing/2014/main" val="611865275"/>
                  </a:ext>
                </a:extLst>
              </a:tr>
              <a:tr h="494453">
                <a:tc>
                  <a:txBody>
                    <a:bodyPr/>
                    <a:lstStyle/>
                    <a:p>
                      <a:r>
                        <a:rPr lang="en-IN" sz="2400" dirty="0"/>
                        <a:t>1</a:t>
                      </a:r>
                    </a:p>
                  </a:txBody>
                  <a:tcPr marL="121920" marR="121920" marT="60960" marB="60960">
                    <a:solidFill>
                      <a:schemeClr val="tx2"/>
                    </a:solidFill>
                  </a:tcPr>
                </a:tc>
                <a:tc>
                  <a:txBody>
                    <a:bodyPr/>
                    <a:lstStyle/>
                    <a:p>
                      <a:r>
                        <a:rPr lang="en-IN" sz="2400" dirty="0"/>
                        <a:t>0</a:t>
                      </a:r>
                    </a:p>
                  </a:txBody>
                  <a:tcPr marL="121920" marR="121920" marT="60960" marB="60960">
                    <a:solidFill>
                      <a:schemeClr val="tx2"/>
                    </a:solidFill>
                  </a:tcPr>
                </a:tc>
                <a:tc>
                  <a:txBody>
                    <a:bodyPr/>
                    <a:lstStyle/>
                    <a:p>
                      <a:r>
                        <a:rPr lang="en-IN" sz="2400" dirty="0"/>
                        <a:t>0</a:t>
                      </a:r>
                    </a:p>
                  </a:txBody>
                  <a:tcPr marL="121920" marR="121920" marT="60960" marB="60960">
                    <a:solidFill>
                      <a:schemeClr val="tx2"/>
                    </a:solidFill>
                  </a:tcPr>
                </a:tc>
                <a:tc>
                  <a:txBody>
                    <a:bodyPr/>
                    <a:lstStyle/>
                    <a:p>
                      <a:endParaRPr lang="en-IN" sz="2400"/>
                    </a:p>
                  </a:txBody>
                  <a:tcPr marL="121920" marR="121920" marT="60960" marB="60960">
                    <a:solidFill>
                      <a:schemeClr val="tx2"/>
                    </a:solidFill>
                  </a:tcPr>
                </a:tc>
                <a:extLst>
                  <a:ext uri="{0D108BD9-81ED-4DB2-BD59-A6C34878D82A}">
                    <a16:rowId xmlns:a16="http://schemas.microsoft.com/office/drawing/2014/main" val="2277806118"/>
                  </a:ext>
                </a:extLst>
              </a:tr>
              <a:tr h="494453">
                <a:tc>
                  <a:txBody>
                    <a:bodyPr/>
                    <a:lstStyle/>
                    <a:p>
                      <a:r>
                        <a:rPr lang="en-IN" sz="2400" dirty="0"/>
                        <a:t>1</a:t>
                      </a:r>
                    </a:p>
                  </a:txBody>
                  <a:tcPr marL="121920" marR="121920" marT="60960" marB="60960">
                    <a:solidFill>
                      <a:schemeClr val="tx2"/>
                    </a:solidFill>
                  </a:tcPr>
                </a:tc>
                <a:tc>
                  <a:txBody>
                    <a:bodyPr/>
                    <a:lstStyle/>
                    <a:p>
                      <a:r>
                        <a:rPr lang="en-IN" sz="2400" dirty="0"/>
                        <a:t>0</a:t>
                      </a:r>
                    </a:p>
                  </a:txBody>
                  <a:tcPr marL="121920" marR="121920" marT="60960" marB="60960">
                    <a:solidFill>
                      <a:schemeClr val="tx2"/>
                    </a:solidFill>
                  </a:tcPr>
                </a:tc>
                <a:tc>
                  <a:txBody>
                    <a:bodyPr/>
                    <a:lstStyle/>
                    <a:p>
                      <a:r>
                        <a:rPr lang="en-IN" sz="2400" dirty="0"/>
                        <a:t>1</a:t>
                      </a:r>
                    </a:p>
                  </a:txBody>
                  <a:tcPr marL="121920" marR="121920" marT="60960" marB="60960">
                    <a:solidFill>
                      <a:schemeClr val="tx2"/>
                    </a:solidFill>
                  </a:tcPr>
                </a:tc>
                <a:tc>
                  <a:txBody>
                    <a:bodyPr/>
                    <a:lstStyle/>
                    <a:p>
                      <a:endParaRPr lang="en-IN" sz="2400"/>
                    </a:p>
                  </a:txBody>
                  <a:tcPr marL="121920" marR="121920" marT="60960" marB="60960">
                    <a:solidFill>
                      <a:schemeClr val="tx2"/>
                    </a:solidFill>
                  </a:tcPr>
                </a:tc>
                <a:extLst>
                  <a:ext uri="{0D108BD9-81ED-4DB2-BD59-A6C34878D82A}">
                    <a16:rowId xmlns:a16="http://schemas.microsoft.com/office/drawing/2014/main" val="1649714555"/>
                  </a:ext>
                </a:extLst>
              </a:tr>
              <a:tr h="487680">
                <a:tc>
                  <a:txBody>
                    <a:bodyPr/>
                    <a:lstStyle/>
                    <a:p>
                      <a:r>
                        <a:rPr lang="en-IN" sz="2400" dirty="0"/>
                        <a:t>1</a:t>
                      </a:r>
                    </a:p>
                  </a:txBody>
                  <a:tcPr marL="121920" marR="121920" marT="60960" marB="60960">
                    <a:solidFill>
                      <a:schemeClr val="tx2"/>
                    </a:solidFill>
                  </a:tcPr>
                </a:tc>
                <a:tc>
                  <a:txBody>
                    <a:bodyPr/>
                    <a:lstStyle/>
                    <a:p>
                      <a:r>
                        <a:rPr lang="en-IN" sz="2400" dirty="0"/>
                        <a:t>1</a:t>
                      </a:r>
                    </a:p>
                  </a:txBody>
                  <a:tcPr marL="121920" marR="121920" marT="60960" marB="60960">
                    <a:solidFill>
                      <a:schemeClr val="tx2"/>
                    </a:solidFill>
                  </a:tcPr>
                </a:tc>
                <a:tc>
                  <a:txBody>
                    <a:bodyPr/>
                    <a:lstStyle/>
                    <a:p>
                      <a:r>
                        <a:rPr lang="en-IN" sz="2400" dirty="0"/>
                        <a:t>0</a:t>
                      </a:r>
                    </a:p>
                  </a:txBody>
                  <a:tcPr marL="121920" marR="121920" marT="60960" marB="60960">
                    <a:solidFill>
                      <a:schemeClr val="tx2"/>
                    </a:solidFill>
                  </a:tcPr>
                </a:tc>
                <a:tc>
                  <a:txBody>
                    <a:bodyPr/>
                    <a:lstStyle/>
                    <a:p>
                      <a:endParaRPr lang="en-IN" sz="2400" dirty="0"/>
                    </a:p>
                  </a:txBody>
                  <a:tcPr marL="121920" marR="121920" marT="60960" marB="60960">
                    <a:solidFill>
                      <a:schemeClr val="tx2"/>
                    </a:solidFill>
                  </a:tcPr>
                </a:tc>
                <a:extLst>
                  <a:ext uri="{0D108BD9-81ED-4DB2-BD59-A6C34878D82A}">
                    <a16:rowId xmlns:a16="http://schemas.microsoft.com/office/drawing/2014/main" val="3336137353"/>
                  </a:ext>
                </a:extLst>
              </a:tr>
              <a:tr h="494453">
                <a:tc>
                  <a:txBody>
                    <a:bodyPr/>
                    <a:lstStyle/>
                    <a:p>
                      <a:r>
                        <a:rPr lang="en-IN" sz="2400" dirty="0"/>
                        <a:t>1</a:t>
                      </a:r>
                    </a:p>
                  </a:txBody>
                  <a:tcPr marL="121920" marR="121920" marT="60960" marB="60960">
                    <a:solidFill>
                      <a:schemeClr val="tx2"/>
                    </a:solidFill>
                  </a:tcPr>
                </a:tc>
                <a:tc>
                  <a:txBody>
                    <a:bodyPr/>
                    <a:lstStyle/>
                    <a:p>
                      <a:r>
                        <a:rPr lang="en-IN" sz="2400" dirty="0"/>
                        <a:t>1</a:t>
                      </a:r>
                    </a:p>
                  </a:txBody>
                  <a:tcPr marL="121920" marR="121920" marT="60960" marB="60960">
                    <a:solidFill>
                      <a:schemeClr val="tx2"/>
                    </a:solidFill>
                  </a:tcPr>
                </a:tc>
                <a:tc>
                  <a:txBody>
                    <a:bodyPr/>
                    <a:lstStyle/>
                    <a:p>
                      <a:r>
                        <a:rPr lang="en-IN" sz="2400" dirty="0"/>
                        <a:t>1</a:t>
                      </a:r>
                    </a:p>
                  </a:txBody>
                  <a:tcPr marL="121920" marR="121920" marT="60960" marB="60960">
                    <a:solidFill>
                      <a:schemeClr val="tx2"/>
                    </a:solidFill>
                  </a:tcPr>
                </a:tc>
                <a:tc>
                  <a:txBody>
                    <a:bodyPr/>
                    <a:lstStyle/>
                    <a:p>
                      <a:endParaRPr lang="en-IN" sz="2400" dirty="0"/>
                    </a:p>
                  </a:txBody>
                  <a:tcPr marL="121920" marR="121920" marT="60960" marB="60960">
                    <a:solidFill>
                      <a:schemeClr val="tx2"/>
                    </a:solidFill>
                  </a:tcPr>
                </a:tc>
                <a:extLst>
                  <a:ext uri="{0D108BD9-81ED-4DB2-BD59-A6C34878D82A}">
                    <a16:rowId xmlns:a16="http://schemas.microsoft.com/office/drawing/2014/main" val="40957656"/>
                  </a:ext>
                </a:extLst>
              </a:tr>
            </a:tbl>
          </a:graphicData>
        </a:graphic>
      </p:graphicFrame>
      <p:sp>
        <p:nvSpPr>
          <p:cNvPr id="5" name="TextBox 4">
            <a:extLst>
              <a:ext uri="{FF2B5EF4-FFF2-40B4-BE49-F238E27FC236}">
                <a16:creationId xmlns:a16="http://schemas.microsoft.com/office/drawing/2014/main" id="{DC29650F-DEE6-4F1E-952D-80C735BD9FFD}"/>
              </a:ext>
            </a:extLst>
          </p:cNvPr>
          <p:cNvSpPr txBox="1"/>
          <p:nvPr/>
        </p:nvSpPr>
        <p:spPr>
          <a:xfrm>
            <a:off x="11417374" y="548728"/>
            <a:ext cx="369757" cy="461665"/>
          </a:xfrm>
          <a:prstGeom prst="rect">
            <a:avLst/>
          </a:prstGeom>
          <a:noFill/>
        </p:spPr>
        <p:txBody>
          <a:bodyPr wrap="square" rtlCol="0">
            <a:spAutoFit/>
          </a:bodyPr>
          <a:lstStyle/>
          <a:p>
            <a:r>
              <a:rPr lang="en-IN" sz="2400" dirty="0"/>
              <a:t>0</a:t>
            </a:r>
          </a:p>
        </p:txBody>
      </p:sp>
      <p:sp>
        <p:nvSpPr>
          <p:cNvPr id="24" name="TextBox 23">
            <a:extLst>
              <a:ext uri="{FF2B5EF4-FFF2-40B4-BE49-F238E27FC236}">
                <a16:creationId xmlns:a16="http://schemas.microsoft.com/office/drawing/2014/main" id="{5FBB2FA3-47E2-4F1F-B27B-2290C6DAC8C9}"/>
              </a:ext>
            </a:extLst>
          </p:cNvPr>
          <p:cNvSpPr txBox="1"/>
          <p:nvPr/>
        </p:nvSpPr>
        <p:spPr>
          <a:xfrm>
            <a:off x="11509947" y="1102201"/>
            <a:ext cx="369757" cy="461665"/>
          </a:xfrm>
          <a:prstGeom prst="rect">
            <a:avLst/>
          </a:prstGeom>
          <a:noFill/>
        </p:spPr>
        <p:txBody>
          <a:bodyPr wrap="square" rtlCol="0">
            <a:spAutoFit/>
          </a:bodyPr>
          <a:lstStyle/>
          <a:p>
            <a:r>
              <a:rPr lang="en-IN" sz="2400" dirty="0"/>
              <a:t>0</a:t>
            </a:r>
          </a:p>
        </p:txBody>
      </p:sp>
      <p:sp>
        <p:nvSpPr>
          <p:cNvPr id="25" name="TextBox 24">
            <a:extLst>
              <a:ext uri="{FF2B5EF4-FFF2-40B4-BE49-F238E27FC236}">
                <a16:creationId xmlns:a16="http://schemas.microsoft.com/office/drawing/2014/main" id="{994BD714-FFFE-4D56-881D-6A5403AAC357}"/>
              </a:ext>
            </a:extLst>
          </p:cNvPr>
          <p:cNvSpPr txBox="1"/>
          <p:nvPr/>
        </p:nvSpPr>
        <p:spPr>
          <a:xfrm>
            <a:off x="11509947" y="1538238"/>
            <a:ext cx="369757" cy="461665"/>
          </a:xfrm>
          <a:prstGeom prst="rect">
            <a:avLst/>
          </a:prstGeom>
          <a:noFill/>
        </p:spPr>
        <p:txBody>
          <a:bodyPr wrap="square" rtlCol="0">
            <a:spAutoFit/>
          </a:bodyPr>
          <a:lstStyle/>
          <a:p>
            <a:r>
              <a:rPr lang="en-IN" sz="2400" dirty="0"/>
              <a:t>1</a:t>
            </a:r>
          </a:p>
        </p:txBody>
      </p:sp>
      <p:sp>
        <p:nvSpPr>
          <p:cNvPr id="26" name="TextBox 25">
            <a:extLst>
              <a:ext uri="{FF2B5EF4-FFF2-40B4-BE49-F238E27FC236}">
                <a16:creationId xmlns:a16="http://schemas.microsoft.com/office/drawing/2014/main" id="{7A22077C-F99C-41A7-B8E3-3FEE2A62D466}"/>
              </a:ext>
            </a:extLst>
          </p:cNvPr>
          <p:cNvSpPr txBox="1"/>
          <p:nvPr/>
        </p:nvSpPr>
        <p:spPr>
          <a:xfrm>
            <a:off x="11602252" y="2066044"/>
            <a:ext cx="369757" cy="461665"/>
          </a:xfrm>
          <a:prstGeom prst="rect">
            <a:avLst/>
          </a:prstGeom>
          <a:noFill/>
        </p:spPr>
        <p:txBody>
          <a:bodyPr wrap="square" rtlCol="0">
            <a:spAutoFit/>
          </a:bodyPr>
          <a:lstStyle/>
          <a:p>
            <a:r>
              <a:rPr lang="en-IN" sz="2400" dirty="0"/>
              <a:t>x</a:t>
            </a:r>
          </a:p>
        </p:txBody>
      </p:sp>
      <p:sp>
        <p:nvSpPr>
          <p:cNvPr id="27" name="TextBox 26">
            <a:extLst>
              <a:ext uri="{FF2B5EF4-FFF2-40B4-BE49-F238E27FC236}">
                <a16:creationId xmlns:a16="http://schemas.microsoft.com/office/drawing/2014/main" id="{A1C4F9A2-6153-458B-93D5-646FE8F284A8}"/>
              </a:ext>
            </a:extLst>
          </p:cNvPr>
          <p:cNvSpPr txBox="1"/>
          <p:nvPr/>
        </p:nvSpPr>
        <p:spPr>
          <a:xfrm>
            <a:off x="11602252" y="2527746"/>
            <a:ext cx="369757" cy="461665"/>
          </a:xfrm>
          <a:prstGeom prst="rect">
            <a:avLst/>
          </a:prstGeom>
          <a:noFill/>
        </p:spPr>
        <p:txBody>
          <a:bodyPr wrap="square" rtlCol="0">
            <a:spAutoFit/>
          </a:bodyPr>
          <a:lstStyle/>
          <a:p>
            <a:r>
              <a:rPr lang="en-IN" sz="2400" dirty="0"/>
              <a:t>1</a:t>
            </a:r>
          </a:p>
        </p:txBody>
      </p:sp>
      <p:sp>
        <p:nvSpPr>
          <p:cNvPr id="28" name="TextBox 27">
            <a:extLst>
              <a:ext uri="{FF2B5EF4-FFF2-40B4-BE49-F238E27FC236}">
                <a16:creationId xmlns:a16="http://schemas.microsoft.com/office/drawing/2014/main" id="{2062732C-AA33-4546-8732-9CBACE4358BE}"/>
              </a:ext>
            </a:extLst>
          </p:cNvPr>
          <p:cNvSpPr txBox="1"/>
          <p:nvPr/>
        </p:nvSpPr>
        <p:spPr>
          <a:xfrm>
            <a:off x="11602252" y="3057178"/>
            <a:ext cx="369757" cy="461665"/>
          </a:xfrm>
          <a:prstGeom prst="rect">
            <a:avLst/>
          </a:prstGeom>
          <a:noFill/>
        </p:spPr>
        <p:txBody>
          <a:bodyPr wrap="square" rtlCol="0">
            <a:spAutoFit/>
          </a:bodyPr>
          <a:lstStyle/>
          <a:p>
            <a:r>
              <a:rPr lang="en-IN" sz="2400" dirty="0"/>
              <a:t>0</a:t>
            </a:r>
          </a:p>
        </p:txBody>
      </p:sp>
      <p:sp>
        <p:nvSpPr>
          <p:cNvPr id="29" name="TextBox 28">
            <a:extLst>
              <a:ext uri="{FF2B5EF4-FFF2-40B4-BE49-F238E27FC236}">
                <a16:creationId xmlns:a16="http://schemas.microsoft.com/office/drawing/2014/main" id="{31C1C2D5-9B6C-4834-ADF7-FE22B4718BB6}"/>
              </a:ext>
            </a:extLst>
          </p:cNvPr>
          <p:cNvSpPr txBox="1"/>
          <p:nvPr/>
        </p:nvSpPr>
        <p:spPr>
          <a:xfrm>
            <a:off x="11602252" y="3500086"/>
            <a:ext cx="369757" cy="461665"/>
          </a:xfrm>
          <a:prstGeom prst="rect">
            <a:avLst/>
          </a:prstGeom>
          <a:noFill/>
        </p:spPr>
        <p:txBody>
          <a:bodyPr wrap="square" rtlCol="0">
            <a:spAutoFit/>
          </a:bodyPr>
          <a:lstStyle/>
          <a:p>
            <a:r>
              <a:rPr lang="en-IN" sz="2400" dirty="0"/>
              <a:t>1</a:t>
            </a:r>
          </a:p>
        </p:txBody>
      </p:sp>
      <p:sp>
        <p:nvSpPr>
          <p:cNvPr id="30" name="TextBox 29">
            <a:extLst>
              <a:ext uri="{FF2B5EF4-FFF2-40B4-BE49-F238E27FC236}">
                <a16:creationId xmlns:a16="http://schemas.microsoft.com/office/drawing/2014/main" id="{31947929-CA4B-4C9E-9768-80ECAA6A543D}"/>
              </a:ext>
            </a:extLst>
          </p:cNvPr>
          <p:cNvSpPr txBox="1"/>
          <p:nvPr/>
        </p:nvSpPr>
        <p:spPr>
          <a:xfrm>
            <a:off x="11624739" y="3919888"/>
            <a:ext cx="369757" cy="461665"/>
          </a:xfrm>
          <a:prstGeom prst="rect">
            <a:avLst/>
          </a:prstGeom>
          <a:noFill/>
        </p:spPr>
        <p:txBody>
          <a:bodyPr wrap="square" rtlCol="0">
            <a:spAutoFit/>
          </a:bodyPr>
          <a:lstStyle/>
          <a:p>
            <a:r>
              <a:rPr lang="en-IN" sz="2400" dirty="0"/>
              <a:t>x</a:t>
            </a:r>
          </a:p>
        </p:txBody>
      </p:sp>
      <p:graphicFrame>
        <p:nvGraphicFramePr>
          <p:cNvPr id="41" name="Table 2">
            <a:extLst>
              <a:ext uri="{FF2B5EF4-FFF2-40B4-BE49-F238E27FC236}">
                <a16:creationId xmlns:a16="http://schemas.microsoft.com/office/drawing/2014/main" id="{C692D690-EECD-4060-9BDB-FB611BB695D0}"/>
              </a:ext>
            </a:extLst>
          </p:cNvPr>
          <p:cNvGraphicFramePr>
            <a:graphicFrameLocks noGrp="1"/>
          </p:cNvGraphicFramePr>
          <p:nvPr/>
        </p:nvGraphicFramePr>
        <p:xfrm>
          <a:off x="1147731" y="4738673"/>
          <a:ext cx="4866804" cy="2438400"/>
        </p:xfrm>
        <a:graphic>
          <a:graphicData uri="http://schemas.openxmlformats.org/drawingml/2006/table">
            <a:tbl>
              <a:tblPr firstRow="1" bandRow="1"/>
              <a:tblGrid>
                <a:gridCol w="1216701">
                  <a:extLst>
                    <a:ext uri="{9D8B030D-6E8A-4147-A177-3AD203B41FA5}">
                      <a16:colId xmlns:a16="http://schemas.microsoft.com/office/drawing/2014/main" val="3241982088"/>
                    </a:ext>
                  </a:extLst>
                </a:gridCol>
                <a:gridCol w="1216701">
                  <a:extLst>
                    <a:ext uri="{9D8B030D-6E8A-4147-A177-3AD203B41FA5}">
                      <a16:colId xmlns:a16="http://schemas.microsoft.com/office/drawing/2014/main" val="2898379484"/>
                    </a:ext>
                  </a:extLst>
                </a:gridCol>
                <a:gridCol w="1216701">
                  <a:extLst>
                    <a:ext uri="{9D8B030D-6E8A-4147-A177-3AD203B41FA5}">
                      <a16:colId xmlns:a16="http://schemas.microsoft.com/office/drawing/2014/main" val="1892733765"/>
                    </a:ext>
                  </a:extLst>
                </a:gridCol>
                <a:gridCol w="1216701">
                  <a:extLst>
                    <a:ext uri="{9D8B030D-6E8A-4147-A177-3AD203B41FA5}">
                      <a16:colId xmlns:a16="http://schemas.microsoft.com/office/drawing/2014/main" val="423082515"/>
                    </a:ext>
                  </a:extLst>
                </a:gridCol>
              </a:tblGrid>
              <a:tr h="1219200">
                <a:tc>
                  <a:txBody>
                    <a:bodyPr/>
                    <a:lstStyle/>
                    <a:p>
                      <a:pPr algn="ctr"/>
                      <a:endParaRPr lang="en-IN" sz="2400" dirty="0"/>
                    </a:p>
                    <a:p>
                      <a:pPr algn="ctr"/>
                      <a:r>
                        <a:rPr lang="en-IN" sz="2400" dirty="0"/>
                        <a:t>    0</a:t>
                      </a:r>
                    </a:p>
                  </a:txBody>
                  <a:tcPr marL="121920" marR="121920" marT="60960" marB="60960">
                    <a:solidFill>
                      <a:schemeClr val="tx2"/>
                    </a:solidFill>
                  </a:tcPr>
                </a:tc>
                <a:tc>
                  <a:txBody>
                    <a:bodyPr/>
                    <a:lstStyle/>
                    <a:p>
                      <a:pPr algn="ctr"/>
                      <a:endParaRPr lang="en-IN" sz="2400" dirty="0"/>
                    </a:p>
                    <a:p>
                      <a:pPr algn="ctr"/>
                      <a:r>
                        <a:rPr lang="en-IN" sz="2400" dirty="0"/>
                        <a:t>0</a:t>
                      </a:r>
                    </a:p>
                    <a:p>
                      <a:pPr algn="ctr"/>
                      <a:r>
                        <a:rPr lang="en-IN" sz="2400" dirty="0"/>
                        <a:t>           </a:t>
                      </a:r>
                    </a:p>
                  </a:txBody>
                  <a:tcPr marL="121920" marR="121920" marT="60960" marB="60960">
                    <a:solidFill>
                      <a:schemeClr val="tx2"/>
                    </a:solidFill>
                  </a:tcPr>
                </a:tc>
                <a:tc>
                  <a:txBody>
                    <a:bodyPr/>
                    <a:lstStyle/>
                    <a:p>
                      <a:pPr algn="ctr"/>
                      <a:endParaRPr lang="en-IN" sz="2400" dirty="0"/>
                    </a:p>
                    <a:p>
                      <a:pPr algn="ctr"/>
                      <a:r>
                        <a:rPr lang="en-IN" sz="2400" dirty="0"/>
                        <a:t>X</a:t>
                      </a:r>
                    </a:p>
                  </a:txBody>
                  <a:tcPr marL="121920" marR="121920" marT="60960" marB="60960">
                    <a:solidFill>
                      <a:schemeClr val="tx2"/>
                    </a:solidFill>
                  </a:tcPr>
                </a:tc>
                <a:tc>
                  <a:txBody>
                    <a:bodyPr/>
                    <a:lstStyle/>
                    <a:p>
                      <a:pPr algn="ctr"/>
                      <a:endParaRPr lang="en-IN" sz="2400" dirty="0"/>
                    </a:p>
                    <a:p>
                      <a:pPr algn="ctr"/>
                      <a:r>
                        <a:rPr lang="en-IN" sz="2400" dirty="0"/>
                        <a:t>1</a:t>
                      </a:r>
                    </a:p>
                  </a:txBody>
                  <a:tcPr marL="121920" marR="121920" marT="60960" marB="60960">
                    <a:solidFill>
                      <a:schemeClr val="tx2"/>
                    </a:solidFill>
                  </a:tcPr>
                </a:tc>
                <a:extLst>
                  <a:ext uri="{0D108BD9-81ED-4DB2-BD59-A6C34878D82A}">
                    <a16:rowId xmlns:a16="http://schemas.microsoft.com/office/drawing/2014/main" val="2441963497"/>
                  </a:ext>
                </a:extLst>
              </a:tr>
              <a:tr h="1219200">
                <a:tc>
                  <a:txBody>
                    <a:bodyPr/>
                    <a:lstStyle/>
                    <a:p>
                      <a:pPr algn="ctr"/>
                      <a:endParaRPr lang="en-IN" sz="2400" dirty="0"/>
                    </a:p>
                    <a:p>
                      <a:pPr algn="ctr"/>
                      <a:r>
                        <a:rPr lang="en-IN" sz="2400" dirty="0"/>
                        <a:t>    1</a:t>
                      </a:r>
                    </a:p>
                    <a:p>
                      <a:pPr algn="ctr"/>
                      <a:endParaRPr lang="en-IN" sz="2400" dirty="0"/>
                    </a:p>
                  </a:txBody>
                  <a:tcPr marL="121920" marR="121920" marT="60960" marB="60960">
                    <a:solidFill>
                      <a:schemeClr val="tx2"/>
                    </a:solidFill>
                  </a:tcPr>
                </a:tc>
                <a:tc>
                  <a:txBody>
                    <a:bodyPr/>
                    <a:lstStyle/>
                    <a:p>
                      <a:pPr algn="ctr"/>
                      <a:endParaRPr lang="en-IN" sz="2400" dirty="0"/>
                    </a:p>
                    <a:p>
                      <a:pPr algn="ctr"/>
                      <a:r>
                        <a:rPr lang="en-IN" sz="2400" dirty="0"/>
                        <a:t> 0</a:t>
                      </a:r>
                    </a:p>
                  </a:txBody>
                  <a:tcPr marL="121920" marR="121920" marT="60960" marB="60960">
                    <a:solidFill>
                      <a:schemeClr val="tx2"/>
                    </a:solidFill>
                  </a:tcPr>
                </a:tc>
                <a:tc>
                  <a:txBody>
                    <a:bodyPr/>
                    <a:lstStyle/>
                    <a:p>
                      <a:pPr algn="ctr"/>
                      <a:endParaRPr lang="en-IN" sz="2400" dirty="0"/>
                    </a:p>
                    <a:p>
                      <a:pPr algn="ctr"/>
                      <a:r>
                        <a:rPr lang="en-IN" sz="2400" dirty="0"/>
                        <a:t>X</a:t>
                      </a:r>
                    </a:p>
                  </a:txBody>
                  <a:tcPr marL="121920" marR="121920" marT="60960" marB="60960">
                    <a:solidFill>
                      <a:schemeClr val="tx2"/>
                    </a:solidFill>
                  </a:tcPr>
                </a:tc>
                <a:tc>
                  <a:txBody>
                    <a:bodyPr/>
                    <a:lstStyle/>
                    <a:p>
                      <a:pPr algn="ctr"/>
                      <a:endParaRPr lang="en-IN" sz="2400" dirty="0"/>
                    </a:p>
                    <a:p>
                      <a:pPr algn="ctr"/>
                      <a:r>
                        <a:rPr lang="en-IN" sz="2400" dirty="0"/>
                        <a:t>1</a:t>
                      </a:r>
                    </a:p>
                  </a:txBody>
                  <a:tcPr marL="121920" marR="121920" marT="60960" marB="60960">
                    <a:solidFill>
                      <a:schemeClr val="tx2"/>
                    </a:solidFill>
                  </a:tcPr>
                </a:tc>
                <a:extLst>
                  <a:ext uri="{0D108BD9-81ED-4DB2-BD59-A6C34878D82A}">
                    <a16:rowId xmlns:a16="http://schemas.microsoft.com/office/drawing/2014/main" val="3030106835"/>
                  </a:ext>
                </a:extLst>
              </a:tr>
            </a:tbl>
          </a:graphicData>
        </a:graphic>
      </p:graphicFrame>
      <p:sp>
        <p:nvSpPr>
          <p:cNvPr id="42" name="TextBox 41">
            <a:extLst>
              <a:ext uri="{FF2B5EF4-FFF2-40B4-BE49-F238E27FC236}">
                <a16:creationId xmlns:a16="http://schemas.microsoft.com/office/drawing/2014/main" id="{A2BB19C6-182F-434D-ADDE-3A95E5E2E279}"/>
              </a:ext>
            </a:extLst>
          </p:cNvPr>
          <p:cNvSpPr txBox="1"/>
          <p:nvPr/>
        </p:nvSpPr>
        <p:spPr>
          <a:xfrm>
            <a:off x="604262" y="5865598"/>
            <a:ext cx="890209" cy="461665"/>
          </a:xfrm>
          <a:prstGeom prst="rect">
            <a:avLst/>
          </a:prstGeom>
          <a:noFill/>
        </p:spPr>
        <p:txBody>
          <a:bodyPr wrap="square" rtlCol="0">
            <a:spAutoFit/>
          </a:bodyPr>
          <a:lstStyle/>
          <a:p>
            <a:r>
              <a:rPr lang="en-IN" sz="2400" dirty="0">
                <a:solidFill>
                  <a:schemeClr val="bg1"/>
                </a:solidFill>
              </a:rPr>
              <a:t>1</a:t>
            </a:r>
          </a:p>
        </p:txBody>
      </p:sp>
      <p:sp>
        <p:nvSpPr>
          <p:cNvPr id="6" name="Rectangle: Rounded Corners 5">
            <a:extLst>
              <a:ext uri="{FF2B5EF4-FFF2-40B4-BE49-F238E27FC236}">
                <a16:creationId xmlns:a16="http://schemas.microsoft.com/office/drawing/2014/main" id="{C2AB4816-4212-4361-98F3-6CC6AB0E8EA6}"/>
              </a:ext>
            </a:extLst>
          </p:cNvPr>
          <p:cNvSpPr/>
          <p:nvPr/>
        </p:nvSpPr>
        <p:spPr>
          <a:xfrm>
            <a:off x="3867463" y="5050123"/>
            <a:ext cx="1898480" cy="155554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22" name="Right Bracket 21">
            <a:extLst>
              <a:ext uri="{FF2B5EF4-FFF2-40B4-BE49-F238E27FC236}">
                <a16:creationId xmlns:a16="http://schemas.microsoft.com/office/drawing/2014/main" id="{9D5B130B-60B0-49B7-BC85-2E617C6FCE17}"/>
              </a:ext>
            </a:extLst>
          </p:cNvPr>
          <p:cNvSpPr/>
          <p:nvPr/>
        </p:nvSpPr>
        <p:spPr>
          <a:xfrm>
            <a:off x="423830" y="5827894"/>
            <a:ext cx="1623783" cy="814847"/>
          </a:xfrm>
          <a:prstGeom prst="rightBracket">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400"/>
          </a:p>
        </p:txBody>
      </p:sp>
      <p:sp>
        <p:nvSpPr>
          <p:cNvPr id="43" name="Left Bracket 42">
            <a:extLst>
              <a:ext uri="{FF2B5EF4-FFF2-40B4-BE49-F238E27FC236}">
                <a16:creationId xmlns:a16="http://schemas.microsoft.com/office/drawing/2014/main" id="{0530A636-6398-4B4D-A70E-A9A492623362}"/>
              </a:ext>
            </a:extLst>
          </p:cNvPr>
          <p:cNvSpPr/>
          <p:nvPr/>
        </p:nvSpPr>
        <p:spPr>
          <a:xfrm>
            <a:off x="5226644" y="6023465"/>
            <a:ext cx="1199416" cy="582201"/>
          </a:xfrm>
          <a:prstGeom prst="leftBracket">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400"/>
          </a:p>
        </p:txBody>
      </p:sp>
      <p:sp>
        <p:nvSpPr>
          <p:cNvPr id="44" name="TextBox 43">
            <a:extLst>
              <a:ext uri="{FF2B5EF4-FFF2-40B4-BE49-F238E27FC236}">
                <a16:creationId xmlns:a16="http://schemas.microsoft.com/office/drawing/2014/main" id="{18F330AA-B240-40E0-8990-3E1421ACDD65}"/>
              </a:ext>
            </a:extLst>
          </p:cNvPr>
          <p:cNvSpPr txBox="1"/>
          <p:nvPr/>
        </p:nvSpPr>
        <p:spPr>
          <a:xfrm>
            <a:off x="6567683" y="4887326"/>
            <a:ext cx="5457525" cy="1446550"/>
          </a:xfrm>
          <a:prstGeom prst="rect">
            <a:avLst/>
          </a:prstGeom>
          <a:noFill/>
        </p:spPr>
        <p:txBody>
          <a:bodyPr wrap="square" rtlCol="0">
            <a:spAutoFit/>
          </a:bodyPr>
          <a:lstStyle/>
          <a:p>
            <a:r>
              <a:rPr lang="en-IN" sz="3200" b="1" dirty="0">
                <a:solidFill>
                  <a:srgbClr val="FFC000"/>
                </a:solidFill>
              </a:rPr>
              <a:t>Characteristic equation</a:t>
            </a:r>
          </a:p>
          <a:p>
            <a:r>
              <a:rPr lang="en-IN" sz="3200" b="1" dirty="0">
                <a:solidFill>
                  <a:srgbClr val="FFC000"/>
                </a:solidFill>
              </a:rPr>
              <a:t>Q(t+1)=S+Q(t).R’</a:t>
            </a:r>
          </a:p>
          <a:p>
            <a:r>
              <a:rPr lang="en-IN" sz="2400" dirty="0">
                <a:solidFill>
                  <a:schemeClr val="bg1"/>
                </a:solidFill>
              </a:rPr>
              <a:t> </a:t>
            </a:r>
          </a:p>
        </p:txBody>
      </p:sp>
      <p:pic>
        <p:nvPicPr>
          <p:cNvPr id="31" name="Picture 2" descr="Digital Circuits - Flip-Flops">
            <a:extLst>
              <a:ext uri="{FF2B5EF4-FFF2-40B4-BE49-F238E27FC236}">
                <a16:creationId xmlns:a16="http://schemas.microsoft.com/office/drawing/2014/main" id="{55CB169B-AE68-4DCE-B355-DB171A11EC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81" y="698495"/>
            <a:ext cx="4383717" cy="344344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8FCA244-32D2-1773-9865-C0AB0686466E}"/>
              </a:ext>
            </a:extLst>
          </p:cNvPr>
          <p:cNvSpPr txBox="1"/>
          <p:nvPr/>
        </p:nvSpPr>
        <p:spPr>
          <a:xfrm>
            <a:off x="5142085" y="3304157"/>
            <a:ext cx="3203648" cy="461665"/>
          </a:xfrm>
          <a:prstGeom prst="rect">
            <a:avLst/>
          </a:prstGeom>
          <a:noFill/>
        </p:spPr>
        <p:txBody>
          <a:bodyPr wrap="square" rtlCol="0">
            <a:spAutoFit/>
          </a:bodyPr>
          <a:lstStyle/>
          <a:p>
            <a:r>
              <a:rPr lang="en-IN" sz="2400" dirty="0">
                <a:solidFill>
                  <a:schemeClr val="bg1"/>
                </a:solidFill>
              </a:rPr>
              <a:t>Truth Table</a:t>
            </a:r>
          </a:p>
        </p:txBody>
      </p:sp>
    </p:spTree>
    <p:extLst>
      <p:ext uri="{BB962C8B-B14F-4D97-AF65-F5344CB8AC3E}">
        <p14:creationId xmlns:p14="http://schemas.microsoft.com/office/powerpoint/2010/main" val="2070297471"/>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4" grpId="0"/>
      <p:bldP spid="15" grpId="0"/>
      <p:bldP spid="17" grpId="0"/>
      <p:bldP spid="18" grpId="0"/>
      <p:bldP spid="19" grpId="0"/>
      <p:bldP spid="20" grpId="0"/>
      <p:bldP spid="5" grpId="0"/>
      <p:bldP spid="24" grpId="0"/>
      <p:bldP spid="25" grpId="0"/>
      <p:bldP spid="26" grpId="0"/>
      <p:bldP spid="27" grpId="0"/>
      <p:bldP spid="28" grpId="0"/>
      <p:bldP spid="29" grpId="0"/>
      <p:bldP spid="30" grpId="0"/>
      <p:bldP spid="42" grpId="0"/>
      <p:bldP spid="6" grpId="0" animBg="1"/>
      <p:bldP spid="22" grpId="0" animBg="1"/>
      <p:bldP spid="43" grpId="0" animBg="1"/>
      <p:bldP spid="4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0360F-E4FC-E611-4E8C-D6777AB1CE2B}"/>
              </a:ext>
            </a:extLst>
          </p:cNvPr>
          <p:cNvSpPr>
            <a:spLocks noGrp="1"/>
          </p:cNvSpPr>
          <p:nvPr>
            <p:ph type="title"/>
          </p:nvPr>
        </p:nvSpPr>
        <p:spPr/>
        <p:txBody>
          <a:bodyPr/>
          <a:lstStyle/>
          <a:p>
            <a:r>
              <a:rPr lang="en" dirty="0"/>
              <a:t>D flipflop</a:t>
            </a:r>
            <a:endParaRPr lang="en-IN" dirty="0"/>
          </a:p>
        </p:txBody>
      </p:sp>
      <p:pic>
        <p:nvPicPr>
          <p:cNvPr id="5" name="Content Placeholder 4">
            <a:extLst>
              <a:ext uri="{FF2B5EF4-FFF2-40B4-BE49-F238E27FC236}">
                <a16:creationId xmlns:a16="http://schemas.microsoft.com/office/drawing/2014/main" id="{277D25A8-539F-4735-1848-17E9BCD947EB}"/>
              </a:ext>
            </a:extLst>
          </p:cNvPr>
          <p:cNvPicPr>
            <a:picLocks noGrp="1" noChangeAspect="1"/>
          </p:cNvPicPr>
          <p:nvPr>
            <p:ph idx="1"/>
          </p:nvPr>
        </p:nvPicPr>
        <p:blipFill>
          <a:blip r:embed="rId2"/>
          <a:stretch>
            <a:fillRect/>
          </a:stretch>
        </p:blipFill>
        <p:spPr>
          <a:xfrm>
            <a:off x="871487" y="1760638"/>
            <a:ext cx="10449026" cy="3954362"/>
          </a:xfrm>
          <a:prstGeom prst="rect">
            <a:avLst/>
          </a:prstGeom>
        </p:spPr>
      </p:pic>
    </p:spTree>
    <p:extLst>
      <p:ext uri="{BB962C8B-B14F-4D97-AF65-F5344CB8AC3E}">
        <p14:creationId xmlns:p14="http://schemas.microsoft.com/office/powerpoint/2010/main" val="3954052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9035C-C033-2985-E485-4E4982B9DCFC}"/>
              </a:ext>
            </a:extLst>
          </p:cNvPr>
          <p:cNvSpPr>
            <a:spLocks noGrp="1"/>
          </p:cNvSpPr>
          <p:nvPr>
            <p:ph type="title"/>
          </p:nvPr>
        </p:nvSpPr>
        <p:spPr/>
        <p:txBody>
          <a:bodyPr/>
          <a:lstStyle/>
          <a:p>
            <a:r>
              <a:rPr lang="en" dirty="0"/>
              <a:t>D flipflop</a:t>
            </a:r>
            <a:endParaRPr lang="en-IN" dirty="0"/>
          </a:p>
        </p:txBody>
      </p:sp>
      <p:sp>
        <p:nvSpPr>
          <p:cNvPr id="3" name="Content Placeholder 2">
            <a:extLst>
              <a:ext uri="{FF2B5EF4-FFF2-40B4-BE49-F238E27FC236}">
                <a16:creationId xmlns:a16="http://schemas.microsoft.com/office/drawing/2014/main" id="{7E8DFF4A-FC27-E1B6-8D0B-FC6A58CF47BE}"/>
              </a:ext>
            </a:extLst>
          </p:cNvPr>
          <p:cNvSpPr>
            <a:spLocks noGrp="1"/>
          </p:cNvSpPr>
          <p:nvPr>
            <p:ph sz="half" idx="1"/>
          </p:nvPr>
        </p:nvSpPr>
        <p:spPr/>
        <p:txBody>
          <a:bodyPr>
            <a:normAutofit/>
          </a:bodyPr>
          <a:lstStyle/>
          <a:p>
            <a:r>
              <a:rPr lang="en-US" sz="2400" dirty="0"/>
              <a:t>Most widely used storage device in sequential logic is the D-Flip-Flop.</a:t>
            </a:r>
          </a:p>
          <a:p>
            <a:r>
              <a:rPr lang="en-US" sz="2400" dirty="0"/>
              <a:t>D-Flip-Flop is similar in behavior to the D-Latch with the exception that the store mode is triggered by a transition, or edge on the clock signal instead of a level.</a:t>
            </a:r>
          </a:p>
          <a:p>
            <a:r>
              <a:rPr lang="en-US" sz="2400" dirty="0"/>
              <a:t>This allows the D-Flip-Flop to implement higher frequency systems since the outputs are updated in a shorter amount of time.</a:t>
            </a:r>
            <a:endParaRPr lang="en-IN" sz="2400" dirty="0"/>
          </a:p>
        </p:txBody>
      </p:sp>
      <p:pic>
        <p:nvPicPr>
          <p:cNvPr id="6" name="Content Placeholder 5">
            <a:extLst>
              <a:ext uri="{FF2B5EF4-FFF2-40B4-BE49-F238E27FC236}">
                <a16:creationId xmlns:a16="http://schemas.microsoft.com/office/drawing/2014/main" id="{D2FD226E-16F5-7B3B-D106-30B4EC786E05}"/>
              </a:ext>
            </a:extLst>
          </p:cNvPr>
          <p:cNvPicPr>
            <a:picLocks noGrp="1" noChangeAspect="1"/>
          </p:cNvPicPr>
          <p:nvPr>
            <p:ph sz="half" idx="2"/>
          </p:nvPr>
        </p:nvPicPr>
        <p:blipFill>
          <a:blip r:embed="rId2"/>
          <a:stretch>
            <a:fillRect/>
          </a:stretch>
        </p:blipFill>
        <p:spPr>
          <a:xfrm>
            <a:off x="6378243" y="1190073"/>
            <a:ext cx="4187052" cy="3458058"/>
          </a:xfrm>
          <a:prstGeom prst="rect">
            <a:avLst/>
          </a:prstGeom>
        </p:spPr>
      </p:pic>
      <p:sp>
        <p:nvSpPr>
          <p:cNvPr id="8" name="TextBox 7">
            <a:extLst>
              <a:ext uri="{FF2B5EF4-FFF2-40B4-BE49-F238E27FC236}">
                <a16:creationId xmlns:a16="http://schemas.microsoft.com/office/drawing/2014/main" id="{BD736CF7-CA49-4E29-487B-53E63FC759C1}"/>
              </a:ext>
            </a:extLst>
          </p:cNvPr>
          <p:cNvSpPr txBox="1"/>
          <p:nvPr/>
        </p:nvSpPr>
        <p:spPr>
          <a:xfrm>
            <a:off x="6865454" y="5253633"/>
            <a:ext cx="4335946" cy="1015663"/>
          </a:xfrm>
          <a:prstGeom prst="rect">
            <a:avLst/>
          </a:prstGeom>
          <a:noFill/>
        </p:spPr>
        <p:txBody>
          <a:bodyPr wrap="square">
            <a:spAutoFit/>
          </a:bodyPr>
          <a:lstStyle/>
          <a:p>
            <a:pPr algn="l"/>
            <a:r>
              <a:rPr lang="en-US" sz="2000" b="0" i="0" u="none" strike="noStrike" baseline="0" dirty="0"/>
              <a:t>Edge-triggered flip-flop logic symbols (top: positive edge-triggered; </a:t>
            </a:r>
            <a:r>
              <a:rPr lang="en-IN" sz="2000" b="0" i="0" u="none" strike="noStrike" baseline="0" dirty="0"/>
              <a:t>bottom: negative edge-triggered).</a:t>
            </a:r>
            <a:endParaRPr lang="en-IN" sz="2000" dirty="0"/>
          </a:p>
        </p:txBody>
      </p:sp>
    </p:spTree>
    <p:extLst>
      <p:ext uri="{BB962C8B-B14F-4D97-AF65-F5344CB8AC3E}">
        <p14:creationId xmlns:p14="http://schemas.microsoft.com/office/powerpoint/2010/main" val="3180845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5D8DD-59AA-B230-9B7E-619F688363D6}"/>
              </a:ext>
            </a:extLst>
          </p:cNvPr>
          <p:cNvSpPr>
            <a:spLocks noGrp="1"/>
          </p:cNvSpPr>
          <p:nvPr>
            <p:ph type="title"/>
          </p:nvPr>
        </p:nvSpPr>
        <p:spPr/>
        <p:txBody>
          <a:bodyPr/>
          <a:lstStyle/>
          <a:p>
            <a:r>
              <a:rPr lang="en" dirty="0"/>
              <a:t>D flipflop</a:t>
            </a:r>
            <a:endParaRPr lang="en-IN" dirty="0"/>
          </a:p>
        </p:txBody>
      </p:sp>
      <p:sp>
        <p:nvSpPr>
          <p:cNvPr id="3" name="Content Placeholder 2">
            <a:extLst>
              <a:ext uri="{FF2B5EF4-FFF2-40B4-BE49-F238E27FC236}">
                <a16:creationId xmlns:a16="http://schemas.microsoft.com/office/drawing/2014/main" id="{6415C032-F508-CCA4-0F83-29DE0171A705}"/>
              </a:ext>
            </a:extLst>
          </p:cNvPr>
          <p:cNvSpPr>
            <a:spLocks noGrp="1"/>
          </p:cNvSpPr>
          <p:nvPr>
            <p:ph idx="1"/>
          </p:nvPr>
        </p:nvSpPr>
        <p:spPr/>
        <p:txBody>
          <a:bodyPr>
            <a:normAutofit/>
          </a:bodyPr>
          <a:lstStyle/>
          <a:p>
            <a:r>
              <a:rPr lang="en-US" sz="2400" b="1" dirty="0"/>
              <a:t>Master/slave configuration</a:t>
            </a:r>
            <a:r>
              <a:rPr lang="en-US" sz="2400" dirty="0"/>
              <a:t> because of how the data is passed through the two D-Latches (U1 and U2). </a:t>
            </a:r>
          </a:p>
          <a:p>
            <a:r>
              <a:rPr lang="en-US" sz="2400" dirty="0"/>
              <a:t>Due to the U4 inverter, the two D-Latches will always be in complementary modes. When U1 is in hold mode, U2 will be in track mode and vice versa. </a:t>
            </a:r>
          </a:p>
          <a:p>
            <a:r>
              <a:rPr lang="en-US" sz="2400" dirty="0"/>
              <a:t>When the clock signal transitions HIGH, U1 will store the last value of data. During the time when the clock is HIGH, U2 will enter track mode and pass this value to Q. In this way, the data is latched into the storage device on the rising edge of the clock and is present on Q. This is the master operation of the device because U1, or the first D-Latch, is holding the value, and the second D-Latch (the slave) is simply passing this value to the output Q. </a:t>
            </a:r>
            <a:endParaRPr lang="en-US" dirty="0"/>
          </a:p>
        </p:txBody>
      </p:sp>
    </p:spTree>
    <p:extLst>
      <p:ext uri="{BB962C8B-B14F-4D97-AF65-F5344CB8AC3E}">
        <p14:creationId xmlns:p14="http://schemas.microsoft.com/office/powerpoint/2010/main" val="1825038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5D8DD-59AA-B230-9B7E-619F688363D6}"/>
              </a:ext>
            </a:extLst>
          </p:cNvPr>
          <p:cNvSpPr>
            <a:spLocks noGrp="1"/>
          </p:cNvSpPr>
          <p:nvPr>
            <p:ph type="title"/>
          </p:nvPr>
        </p:nvSpPr>
        <p:spPr/>
        <p:txBody>
          <a:bodyPr/>
          <a:lstStyle/>
          <a:p>
            <a:r>
              <a:rPr lang="en" dirty="0"/>
              <a:t>D flipflop</a:t>
            </a:r>
            <a:endParaRPr lang="en-IN" dirty="0"/>
          </a:p>
        </p:txBody>
      </p:sp>
      <p:sp>
        <p:nvSpPr>
          <p:cNvPr id="3" name="Content Placeholder 2">
            <a:extLst>
              <a:ext uri="{FF2B5EF4-FFF2-40B4-BE49-F238E27FC236}">
                <a16:creationId xmlns:a16="http://schemas.microsoft.com/office/drawing/2014/main" id="{6415C032-F508-CCA4-0F83-29DE0171A705}"/>
              </a:ext>
            </a:extLst>
          </p:cNvPr>
          <p:cNvSpPr>
            <a:spLocks noGrp="1"/>
          </p:cNvSpPr>
          <p:nvPr>
            <p:ph idx="1"/>
          </p:nvPr>
        </p:nvSpPr>
        <p:spPr/>
        <p:txBody>
          <a:bodyPr>
            <a:normAutofit/>
          </a:bodyPr>
          <a:lstStyle/>
          <a:p>
            <a:r>
              <a:rPr lang="en-US" sz="2400" dirty="0"/>
              <a:t>When the clock transitions LOW, U2 will store the output of U1. Since there is a finite delay through U1, the U2 D-Latch is able to store the value before U1 fully enters track mode. U2 will drive Q for the duration of the time that the clock is LOW. This is the </a:t>
            </a:r>
            <a:r>
              <a:rPr lang="en-US" sz="2400" i="1" dirty="0"/>
              <a:t>slave </a:t>
            </a:r>
            <a:r>
              <a:rPr lang="en-US" sz="2400" dirty="0"/>
              <a:t>operation of the device because U2, or the second D-Latch, is holding the value. </a:t>
            </a:r>
          </a:p>
          <a:p>
            <a:r>
              <a:rPr lang="en-US" sz="2400" dirty="0"/>
              <a:t>During the time the clock is LOW, U1 is in track mode, which passes the input data to the middle of the D-Flip-Flop preparing for the next rising edge of the clock. The master / slave configuration creates a behavior where the Q output of the D-Flip-Flop is only updated with the value of D on a rising edge of the clock. At all other times, Q holds the last value of D. </a:t>
            </a:r>
            <a:endParaRPr lang="en-IN" sz="2400" dirty="0"/>
          </a:p>
        </p:txBody>
      </p:sp>
    </p:spTree>
    <p:extLst>
      <p:ext uri="{BB962C8B-B14F-4D97-AF65-F5344CB8AC3E}">
        <p14:creationId xmlns:p14="http://schemas.microsoft.com/office/powerpoint/2010/main" val="1619510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12369D-21F4-758A-2523-C27E5DF525C9}"/>
              </a:ext>
            </a:extLst>
          </p:cNvPr>
          <p:cNvPicPr>
            <a:picLocks noChangeAspect="1"/>
          </p:cNvPicPr>
          <p:nvPr/>
        </p:nvPicPr>
        <p:blipFill>
          <a:blip r:embed="rId2"/>
          <a:stretch>
            <a:fillRect/>
          </a:stretch>
        </p:blipFill>
        <p:spPr>
          <a:xfrm>
            <a:off x="1152938" y="0"/>
            <a:ext cx="9591261" cy="6858000"/>
          </a:xfrm>
          <a:prstGeom prst="rect">
            <a:avLst/>
          </a:prstGeom>
        </p:spPr>
      </p:pic>
    </p:spTree>
    <p:extLst>
      <p:ext uri="{BB962C8B-B14F-4D97-AF65-F5344CB8AC3E}">
        <p14:creationId xmlns:p14="http://schemas.microsoft.com/office/powerpoint/2010/main" val="2329890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09C23-B05A-F6CF-D79C-D0C8AF3DD912}"/>
              </a:ext>
            </a:extLst>
          </p:cNvPr>
          <p:cNvSpPr>
            <a:spLocks noGrp="1"/>
          </p:cNvSpPr>
          <p:nvPr>
            <p:ph type="title"/>
          </p:nvPr>
        </p:nvSpPr>
        <p:spPr/>
        <p:txBody>
          <a:bodyPr/>
          <a:lstStyle/>
          <a:p>
            <a:r>
              <a:rPr lang="en-US" dirty="0"/>
              <a:t>Asynchronous Preset and Clear Inputs</a:t>
            </a:r>
            <a:endParaRPr lang="en-IN" dirty="0"/>
          </a:p>
        </p:txBody>
      </p:sp>
      <p:sp>
        <p:nvSpPr>
          <p:cNvPr id="3" name="Content Placeholder 2">
            <a:extLst>
              <a:ext uri="{FF2B5EF4-FFF2-40B4-BE49-F238E27FC236}">
                <a16:creationId xmlns:a16="http://schemas.microsoft.com/office/drawing/2014/main" id="{FE7B4FEA-780C-E6F8-4BF2-CB6109C49182}"/>
              </a:ext>
            </a:extLst>
          </p:cNvPr>
          <p:cNvSpPr>
            <a:spLocks noGrp="1"/>
          </p:cNvSpPr>
          <p:nvPr>
            <p:ph idx="1"/>
          </p:nvPr>
        </p:nvSpPr>
        <p:spPr/>
        <p:txBody>
          <a:bodyPr/>
          <a:lstStyle/>
          <a:p>
            <a:r>
              <a:rPr lang="en-US" dirty="0"/>
              <a:t>Most integrated circuit flip-flops also have </a:t>
            </a:r>
            <a:r>
              <a:rPr lang="en-US" b="1" dirty="0"/>
              <a:t>asynchronous </a:t>
            </a:r>
            <a:r>
              <a:rPr lang="en-US" dirty="0"/>
              <a:t>inputs. </a:t>
            </a:r>
          </a:p>
          <a:p>
            <a:r>
              <a:rPr lang="en-US" dirty="0"/>
              <a:t>These are inputs that affect the state of the flip-flop independent of the clock. </a:t>
            </a:r>
          </a:p>
          <a:p>
            <a:r>
              <a:rPr lang="en-US" dirty="0"/>
              <a:t>They are normally labeled </a:t>
            </a:r>
            <a:r>
              <a:rPr lang="en-US" b="1" dirty="0"/>
              <a:t>preset</a:t>
            </a:r>
            <a:r>
              <a:rPr lang="en-US" dirty="0"/>
              <a:t>(PRE) and </a:t>
            </a:r>
            <a:r>
              <a:rPr lang="en-US" b="1" dirty="0"/>
              <a:t>reset</a:t>
            </a:r>
            <a:r>
              <a:rPr lang="en-US" dirty="0"/>
              <a:t>(RES), </a:t>
            </a:r>
            <a:r>
              <a:rPr lang="en-US" b="1" dirty="0"/>
              <a:t>clear </a:t>
            </a:r>
            <a:r>
              <a:rPr lang="en-US" dirty="0"/>
              <a:t>(CLR), or direct set (SD) and direct reset (RD) by some manufacturers. </a:t>
            </a:r>
          </a:p>
          <a:p>
            <a:r>
              <a:rPr lang="en-US" dirty="0"/>
              <a:t>An active level on the preset input will set the flip-flop, and an active level on the clear input </a:t>
            </a:r>
            <a:r>
              <a:rPr lang="en-IN" dirty="0"/>
              <a:t>will reset it</a:t>
            </a:r>
          </a:p>
        </p:txBody>
      </p:sp>
    </p:spTree>
    <p:extLst>
      <p:ext uri="{BB962C8B-B14F-4D97-AF65-F5344CB8AC3E}">
        <p14:creationId xmlns:p14="http://schemas.microsoft.com/office/powerpoint/2010/main" val="3281447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F0790E-627E-EC09-458A-2D366AF92EE4}"/>
              </a:ext>
            </a:extLst>
          </p:cNvPr>
          <p:cNvPicPr>
            <a:picLocks noChangeAspect="1"/>
          </p:cNvPicPr>
          <p:nvPr/>
        </p:nvPicPr>
        <p:blipFill>
          <a:blip r:embed="rId2"/>
          <a:stretch>
            <a:fillRect/>
          </a:stretch>
        </p:blipFill>
        <p:spPr>
          <a:xfrm>
            <a:off x="137281" y="13811"/>
            <a:ext cx="11917438" cy="6830378"/>
          </a:xfrm>
          <a:prstGeom prst="rect">
            <a:avLst/>
          </a:prstGeom>
        </p:spPr>
      </p:pic>
    </p:spTree>
    <p:extLst>
      <p:ext uri="{BB962C8B-B14F-4D97-AF65-F5344CB8AC3E}">
        <p14:creationId xmlns:p14="http://schemas.microsoft.com/office/powerpoint/2010/main" val="2643470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AB088-8D92-5F62-DF57-E0EDCFFE69B9}"/>
              </a:ext>
            </a:extLst>
          </p:cNvPr>
          <p:cNvSpPr>
            <a:spLocks noGrp="1"/>
          </p:cNvSpPr>
          <p:nvPr>
            <p:ph type="title"/>
          </p:nvPr>
        </p:nvSpPr>
        <p:spPr/>
        <p:txBody>
          <a:bodyPr/>
          <a:lstStyle/>
          <a:p>
            <a:r>
              <a:rPr lang="en-IN" dirty="0"/>
              <a:t>Resettable </a:t>
            </a:r>
            <a:r>
              <a:rPr lang="en" dirty="0"/>
              <a:t>D flipflop</a:t>
            </a:r>
            <a:endParaRPr lang="en-IN" dirty="0"/>
          </a:p>
        </p:txBody>
      </p:sp>
      <p:sp>
        <p:nvSpPr>
          <p:cNvPr id="3" name="Content Placeholder 2">
            <a:extLst>
              <a:ext uri="{FF2B5EF4-FFF2-40B4-BE49-F238E27FC236}">
                <a16:creationId xmlns:a16="http://schemas.microsoft.com/office/drawing/2014/main" id="{43BE6B90-76D9-7285-32B3-DAD841A36206}"/>
              </a:ext>
            </a:extLst>
          </p:cNvPr>
          <p:cNvSpPr>
            <a:spLocks noGrp="1"/>
          </p:cNvSpPr>
          <p:nvPr>
            <p:ph idx="1"/>
          </p:nvPr>
        </p:nvSpPr>
        <p:spPr/>
        <p:txBody>
          <a:bodyPr>
            <a:normAutofit lnSpcReduction="10000"/>
          </a:bodyPr>
          <a:lstStyle/>
          <a:p>
            <a:r>
              <a:rPr lang="en-US" sz="2400" dirty="0"/>
              <a:t>A resettable flip-flop adds another input, called RESET.</a:t>
            </a:r>
          </a:p>
          <a:p>
            <a:r>
              <a:rPr lang="en-US" sz="2400" dirty="0"/>
              <a:t>D-Flip-Flops often have additional signals that will set the initial conditions of the outputs that are separate from the clock. </a:t>
            </a:r>
          </a:p>
          <a:p>
            <a:r>
              <a:rPr lang="en-US" sz="2400" dirty="0"/>
              <a:t>A reset input is used to force the outputs to Q = 0, Qn = 1. </a:t>
            </a:r>
          </a:p>
          <a:p>
            <a:r>
              <a:rPr lang="en-US" sz="2400" dirty="0"/>
              <a:t>A preset input is used to force the outputs to Q = 1, Qn = 0. </a:t>
            </a:r>
          </a:p>
          <a:p>
            <a:r>
              <a:rPr lang="en-US" sz="2400" dirty="0"/>
              <a:t>In most modern D-Flip-Flops, these inputs are active LOW, meaning that the line is asserted when the input is a 0. Active LOW inputs are indicated by placing an inversion bubble on the input pin of the symbol. These lines are typically asynchronous, meaning that when they are asserted, action is immediately taken to alter the outputs.</a:t>
            </a:r>
          </a:p>
          <a:p>
            <a:r>
              <a:rPr lang="en-US" sz="2400" dirty="0"/>
              <a:t>This is different from a synchronous input in which action is only taken on the edge </a:t>
            </a:r>
            <a:r>
              <a:rPr lang="en-IN" sz="2400" dirty="0"/>
              <a:t>of the clock</a:t>
            </a:r>
          </a:p>
        </p:txBody>
      </p:sp>
    </p:spTree>
    <p:extLst>
      <p:ext uri="{BB962C8B-B14F-4D97-AF65-F5344CB8AC3E}">
        <p14:creationId xmlns:p14="http://schemas.microsoft.com/office/powerpoint/2010/main" val="1248305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AB29B-9589-9851-45A9-3E6DEF7E4CB1}"/>
              </a:ext>
            </a:extLst>
          </p:cNvPr>
          <p:cNvSpPr>
            <a:spLocks noGrp="1"/>
          </p:cNvSpPr>
          <p:nvPr>
            <p:ph type="title"/>
          </p:nvPr>
        </p:nvSpPr>
        <p:spPr/>
        <p:txBody>
          <a:bodyPr/>
          <a:lstStyle/>
          <a:p>
            <a:r>
              <a:rPr lang="en-IN" dirty="0"/>
              <a:t>Resettable </a:t>
            </a:r>
            <a:r>
              <a:rPr lang="en" dirty="0"/>
              <a:t>flipflop</a:t>
            </a:r>
            <a:endParaRPr lang="en-IN" dirty="0"/>
          </a:p>
        </p:txBody>
      </p:sp>
      <p:sp>
        <p:nvSpPr>
          <p:cNvPr id="3" name="Content Placeholder 2">
            <a:extLst>
              <a:ext uri="{FF2B5EF4-FFF2-40B4-BE49-F238E27FC236}">
                <a16:creationId xmlns:a16="http://schemas.microsoft.com/office/drawing/2014/main" id="{3ACFF016-88AE-C56A-F169-71F187B50D5E}"/>
              </a:ext>
            </a:extLst>
          </p:cNvPr>
          <p:cNvSpPr>
            <a:spLocks noGrp="1"/>
          </p:cNvSpPr>
          <p:nvPr>
            <p:ph idx="1"/>
          </p:nvPr>
        </p:nvSpPr>
        <p:spPr/>
        <p:txBody>
          <a:bodyPr>
            <a:normAutofit/>
          </a:bodyPr>
          <a:lstStyle/>
          <a:p>
            <a:r>
              <a:rPr lang="en-US" sz="2400" dirty="0"/>
              <a:t>Such flip-flops may be </a:t>
            </a:r>
            <a:r>
              <a:rPr lang="en-US" sz="2400" i="1" dirty="0"/>
              <a:t>synchronously </a:t>
            </a:r>
            <a:r>
              <a:rPr lang="en-US" sz="2400" dirty="0"/>
              <a:t>or </a:t>
            </a:r>
            <a:r>
              <a:rPr lang="en-US" sz="2400" i="1" dirty="0"/>
              <a:t>asynchronously resettable</a:t>
            </a:r>
            <a:r>
              <a:rPr lang="en-US" sz="2400" dirty="0"/>
              <a:t>.</a:t>
            </a:r>
          </a:p>
          <a:p>
            <a:r>
              <a:rPr lang="en-US" sz="2400" b="1" dirty="0"/>
              <a:t>Synchronously resettable flip-flops </a:t>
            </a:r>
            <a:r>
              <a:rPr lang="en-US" sz="2400" dirty="0"/>
              <a:t>reset themselves only on the rising edge of </a:t>
            </a:r>
            <a:r>
              <a:rPr lang="en-US" sz="2400" i="1" dirty="0"/>
              <a:t>CLK</a:t>
            </a:r>
            <a:r>
              <a:rPr lang="en-US" sz="2400" dirty="0"/>
              <a:t>. </a:t>
            </a:r>
          </a:p>
          <a:p>
            <a:r>
              <a:rPr lang="en-US" sz="2400" b="1" dirty="0"/>
              <a:t>Asynchronously resettable flip-flops </a:t>
            </a:r>
            <a:r>
              <a:rPr lang="en-US" sz="2400" dirty="0"/>
              <a:t>reset themselves as soon as </a:t>
            </a:r>
            <a:r>
              <a:rPr lang="en-US" sz="2400" i="1" dirty="0"/>
              <a:t>RESET </a:t>
            </a:r>
            <a:r>
              <a:rPr lang="en-US" sz="2400" dirty="0"/>
              <a:t>becomes TRUE, independent of </a:t>
            </a:r>
            <a:r>
              <a:rPr lang="en-US" sz="2400" i="1" dirty="0"/>
              <a:t>CLK</a:t>
            </a:r>
            <a:r>
              <a:rPr lang="en-US" sz="2400" dirty="0"/>
              <a:t>.</a:t>
            </a:r>
            <a:endParaRPr lang="en-IN" sz="2400" dirty="0"/>
          </a:p>
        </p:txBody>
      </p:sp>
    </p:spTree>
    <p:extLst>
      <p:ext uri="{BB962C8B-B14F-4D97-AF65-F5344CB8AC3E}">
        <p14:creationId xmlns:p14="http://schemas.microsoft.com/office/powerpoint/2010/main" val="2426620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976BC1-FAC9-1097-2E0E-4F5753370FEB}"/>
              </a:ext>
            </a:extLst>
          </p:cNvPr>
          <p:cNvPicPr>
            <a:picLocks noChangeAspect="1"/>
          </p:cNvPicPr>
          <p:nvPr/>
        </p:nvPicPr>
        <p:blipFill>
          <a:blip r:embed="rId2"/>
          <a:stretch>
            <a:fillRect/>
          </a:stretch>
        </p:blipFill>
        <p:spPr>
          <a:xfrm>
            <a:off x="443743" y="1172562"/>
            <a:ext cx="11841227" cy="3658111"/>
          </a:xfrm>
          <a:prstGeom prst="rect">
            <a:avLst/>
          </a:prstGeom>
        </p:spPr>
      </p:pic>
    </p:spTree>
    <p:extLst>
      <p:ext uri="{BB962C8B-B14F-4D97-AF65-F5344CB8AC3E}">
        <p14:creationId xmlns:p14="http://schemas.microsoft.com/office/powerpoint/2010/main" val="1417576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67314-6616-4AEA-65C6-2075A875F482}"/>
              </a:ext>
            </a:extLst>
          </p:cNvPr>
          <p:cNvSpPr>
            <a:spLocks noGrp="1"/>
          </p:cNvSpPr>
          <p:nvPr>
            <p:ph type="title"/>
          </p:nvPr>
        </p:nvSpPr>
        <p:spPr/>
        <p:txBody>
          <a:bodyPr/>
          <a:lstStyle/>
          <a:p>
            <a:r>
              <a:rPr lang="en" dirty="0"/>
              <a:t>Enabled </a:t>
            </a:r>
            <a:r>
              <a:rPr lang="en-US" dirty="0"/>
              <a:t>D-Flip-Flops</a:t>
            </a:r>
            <a:endParaRPr lang="en-IN" dirty="0"/>
          </a:p>
        </p:txBody>
      </p:sp>
      <p:sp>
        <p:nvSpPr>
          <p:cNvPr id="3" name="Content Placeholder 2">
            <a:extLst>
              <a:ext uri="{FF2B5EF4-FFF2-40B4-BE49-F238E27FC236}">
                <a16:creationId xmlns:a16="http://schemas.microsoft.com/office/drawing/2014/main" id="{7AB25A94-C1F3-BB6C-5A06-3F63CA30516D}"/>
              </a:ext>
            </a:extLst>
          </p:cNvPr>
          <p:cNvSpPr>
            <a:spLocks noGrp="1"/>
          </p:cNvSpPr>
          <p:nvPr>
            <p:ph idx="1"/>
          </p:nvPr>
        </p:nvSpPr>
        <p:spPr/>
        <p:txBody>
          <a:bodyPr>
            <a:normAutofit fontScale="92500"/>
          </a:bodyPr>
          <a:lstStyle/>
          <a:p>
            <a:r>
              <a:rPr lang="en-US" dirty="0"/>
              <a:t>An </a:t>
            </a:r>
            <a:r>
              <a:rPr lang="en-US" i="1" dirty="0"/>
              <a:t>enabled flip-flop </a:t>
            </a:r>
            <a:r>
              <a:rPr lang="en-US" dirty="0"/>
              <a:t>adds another input called </a:t>
            </a:r>
            <a:r>
              <a:rPr lang="en-US" i="1" dirty="0"/>
              <a:t>EN </a:t>
            </a:r>
            <a:r>
              <a:rPr lang="en-US" dirty="0"/>
              <a:t>or </a:t>
            </a:r>
            <a:r>
              <a:rPr lang="en-US" i="1" dirty="0"/>
              <a:t>ENABLE </a:t>
            </a:r>
            <a:r>
              <a:rPr lang="en-US" dirty="0"/>
              <a:t>to </a:t>
            </a:r>
            <a:r>
              <a:rPr lang="en-US" dirty="0" err="1"/>
              <a:t>determinewhether</a:t>
            </a:r>
            <a:r>
              <a:rPr lang="en-US" dirty="0"/>
              <a:t> data is loaded on the clock edge. </a:t>
            </a:r>
          </a:p>
          <a:p>
            <a:r>
              <a:rPr lang="en-US" dirty="0"/>
              <a:t>When </a:t>
            </a:r>
            <a:r>
              <a:rPr lang="en-US" i="1" dirty="0"/>
              <a:t>EN </a:t>
            </a:r>
            <a:r>
              <a:rPr lang="en-US" dirty="0"/>
              <a:t>is 0, the enabled flip-flop behaves like an ordinary D flip-flop. </a:t>
            </a:r>
          </a:p>
          <a:p>
            <a:r>
              <a:rPr lang="en-US" dirty="0"/>
              <a:t>When </a:t>
            </a:r>
            <a:r>
              <a:rPr lang="en-US" i="1" dirty="0"/>
              <a:t>EN </a:t>
            </a:r>
            <a:r>
              <a:rPr lang="en-US" dirty="0"/>
              <a:t>is 1, the enabled flip-flop ignores the clock and retains its state.</a:t>
            </a:r>
          </a:p>
          <a:p>
            <a:r>
              <a:rPr lang="en-US" dirty="0"/>
              <a:t>An enable line controls whether or not the output is updated. </a:t>
            </a:r>
          </a:p>
          <a:p>
            <a:r>
              <a:rPr lang="en-US" dirty="0"/>
              <a:t>Enable lines are synchronous, meaning that when they are asserted, the outputs will be updated on the rising edge of the clock.</a:t>
            </a:r>
          </a:p>
          <a:p>
            <a:r>
              <a:rPr lang="en-US" dirty="0"/>
              <a:t>When de-asserted, the outputs are not updated. This behavior in effect ignores the </a:t>
            </a:r>
            <a:r>
              <a:rPr lang="en-IN" dirty="0"/>
              <a:t>clock input when de-asserted</a:t>
            </a:r>
          </a:p>
        </p:txBody>
      </p:sp>
    </p:spTree>
    <p:extLst>
      <p:ext uri="{BB962C8B-B14F-4D97-AF65-F5344CB8AC3E}">
        <p14:creationId xmlns:p14="http://schemas.microsoft.com/office/powerpoint/2010/main" val="1274899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BE5B66-A679-4756-BED9-EC3708532AB4}"/>
              </a:ext>
            </a:extLst>
          </p:cNvPr>
          <p:cNvPicPr>
            <a:picLocks noChangeAspect="1"/>
          </p:cNvPicPr>
          <p:nvPr/>
        </p:nvPicPr>
        <p:blipFill>
          <a:blip r:embed="rId2"/>
          <a:stretch>
            <a:fillRect/>
          </a:stretch>
        </p:blipFill>
        <p:spPr>
          <a:xfrm>
            <a:off x="2" y="-298553"/>
            <a:ext cx="4308909" cy="3485041"/>
          </a:xfrm>
          <a:prstGeom prst="rect">
            <a:avLst/>
          </a:prstGeom>
        </p:spPr>
      </p:pic>
      <p:sp>
        <p:nvSpPr>
          <p:cNvPr id="6" name="TextBox 5">
            <a:extLst>
              <a:ext uri="{FF2B5EF4-FFF2-40B4-BE49-F238E27FC236}">
                <a16:creationId xmlns:a16="http://schemas.microsoft.com/office/drawing/2014/main" id="{DCA51576-D8C9-459D-A3CC-6AABF72137E8}"/>
              </a:ext>
            </a:extLst>
          </p:cNvPr>
          <p:cNvSpPr txBox="1"/>
          <p:nvPr/>
        </p:nvSpPr>
        <p:spPr>
          <a:xfrm>
            <a:off x="7786051" y="368335"/>
            <a:ext cx="6096000" cy="420564"/>
          </a:xfrm>
          <a:prstGeom prst="rect">
            <a:avLst/>
          </a:prstGeom>
          <a:noFill/>
        </p:spPr>
        <p:txBody>
          <a:bodyPr wrap="square">
            <a:spAutoFit/>
          </a:bodyPr>
          <a:lstStyle/>
          <a:p>
            <a:pPr algn="just"/>
            <a:r>
              <a:rPr lang="en-US" sz="2133" dirty="0">
                <a:latin typeface="Times New Roman" panose="02020603050405020304" pitchFamily="18" charset="0"/>
                <a:cs typeface="Times New Roman" panose="02020603050405020304" pitchFamily="18" charset="0"/>
              </a:rPr>
              <a:t>State/Truth Table for the </a:t>
            </a:r>
            <a:r>
              <a:rPr lang="en-US" sz="2133" dirty="0" err="1">
                <a:latin typeface="Times New Roman" panose="02020603050405020304" pitchFamily="18" charset="0"/>
                <a:cs typeface="Times New Roman" panose="02020603050405020304" pitchFamily="18" charset="0"/>
              </a:rPr>
              <a:t>DFlip</a:t>
            </a:r>
            <a:r>
              <a:rPr lang="en-US" sz="2133" dirty="0">
                <a:latin typeface="Times New Roman" panose="02020603050405020304" pitchFamily="18" charset="0"/>
                <a:cs typeface="Times New Roman" panose="02020603050405020304" pitchFamily="18" charset="0"/>
              </a:rPr>
              <a:t> Flop</a:t>
            </a:r>
          </a:p>
        </p:txBody>
      </p:sp>
      <p:pic>
        <p:nvPicPr>
          <p:cNvPr id="7" name="Picture 6">
            <a:extLst>
              <a:ext uri="{FF2B5EF4-FFF2-40B4-BE49-F238E27FC236}">
                <a16:creationId xmlns:a16="http://schemas.microsoft.com/office/drawing/2014/main" id="{7D06FF36-7F47-4FD4-AF96-F02FBC126354}"/>
              </a:ext>
            </a:extLst>
          </p:cNvPr>
          <p:cNvPicPr>
            <a:picLocks noChangeAspect="1"/>
          </p:cNvPicPr>
          <p:nvPr/>
        </p:nvPicPr>
        <p:blipFill>
          <a:blip r:embed="rId3"/>
          <a:stretch>
            <a:fillRect/>
          </a:stretch>
        </p:blipFill>
        <p:spPr>
          <a:xfrm>
            <a:off x="7642360" y="802389"/>
            <a:ext cx="4549640" cy="3220803"/>
          </a:xfrm>
          <a:prstGeom prst="rect">
            <a:avLst/>
          </a:prstGeom>
        </p:spPr>
      </p:pic>
      <p:graphicFrame>
        <p:nvGraphicFramePr>
          <p:cNvPr id="10" name="Table 10">
            <a:extLst>
              <a:ext uri="{FF2B5EF4-FFF2-40B4-BE49-F238E27FC236}">
                <a16:creationId xmlns:a16="http://schemas.microsoft.com/office/drawing/2014/main" id="{B98F566A-9CD9-4EC9-AC3E-A435A2025C89}"/>
              </a:ext>
            </a:extLst>
          </p:cNvPr>
          <p:cNvGraphicFramePr>
            <a:graphicFrameLocks noGrp="1"/>
          </p:cNvGraphicFramePr>
          <p:nvPr/>
        </p:nvGraphicFramePr>
        <p:xfrm>
          <a:off x="497095" y="3429000"/>
          <a:ext cx="3317823" cy="2672439"/>
        </p:xfrm>
        <a:graphic>
          <a:graphicData uri="http://schemas.openxmlformats.org/drawingml/2006/table">
            <a:tbl>
              <a:tblPr firstRow="1" bandRow="1"/>
              <a:tblGrid>
                <a:gridCol w="1105941">
                  <a:extLst>
                    <a:ext uri="{9D8B030D-6E8A-4147-A177-3AD203B41FA5}">
                      <a16:colId xmlns:a16="http://schemas.microsoft.com/office/drawing/2014/main" val="3418002576"/>
                    </a:ext>
                  </a:extLst>
                </a:gridCol>
                <a:gridCol w="1105941">
                  <a:extLst>
                    <a:ext uri="{9D8B030D-6E8A-4147-A177-3AD203B41FA5}">
                      <a16:colId xmlns:a16="http://schemas.microsoft.com/office/drawing/2014/main" val="1279825049"/>
                    </a:ext>
                  </a:extLst>
                </a:gridCol>
                <a:gridCol w="1105941">
                  <a:extLst>
                    <a:ext uri="{9D8B030D-6E8A-4147-A177-3AD203B41FA5}">
                      <a16:colId xmlns:a16="http://schemas.microsoft.com/office/drawing/2014/main" val="2201553642"/>
                    </a:ext>
                  </a:extLst>
                </a:gridCol>
              </a:tblGrid>
              <a:tr h="494453">
                <a:tc>
                  <a:txBody>
                    <a:bodyPr/>
                    <a:lstStyle/>
                    <a:p>
                      <a:r>
                        <a:rPr lang="en-IN" sz="2400" dirty="0"/>
                        <a:t>Q(t)</a:t>
                      </a:r>
                    </a:p>
                  </a:txBody>
                  <a:tcPr marL="121920" marR="121920" marT="60960" marB="60960">
                    <a:solidFill>
                      <a:schemeClr val="bg1"/>
                    </a:solidFill>
                  </a:tcPr>
                </a:tc>
                <a:tc>
                  <a:txBody>
                    <a:bodyPr/>
                    <a:lstStyle/>
                    <a:p>
                      <a:r>
                        <a:rPr lang="en-IN" sz="2400" dirty="0"/>
                        <a:t>D</a:t>
                      </a:r>
                    </a:p>
                  </a:txBody>
                  <a:tcPr marL="121920" marR="121920" marT="60960" marB="60960">
                    <a:solidFill>
                      <a:schemeClr val="bg1"/>
                    </a:solidFill>
                  </a:tcPr>
                </a:tc>
                <a:tc>
                  <a:txBody>
                    <a:bodyPr/>
                    <a:lstStyle/>
                    <a:p>
                      <a:r>
                        <a:rPr lang="en-IN" sz="2400" dirty="0"/>
                        <a:t>Q(t+1)</a:t>
                      </a:r>
                    </a:p>
                  </a:txBody>
                  <a:tcPr marL="121920" marR="121920" marT="60960" marB="60960">
                    <a:solidFill>
                      <a:schemeClr val="bg1"/>
                    </a:solidFill>
                  </a:tcPr>
                </a:tc>
                <a:extLst>
                  <a:ext uri="{0D108BD9-81ED-4DB2-BD59-A6C34878D82A}">
                    <a16:rowId xmlns:a16="http://schemas.microsoft.com/office/drawing/2014/main" val="2125556129"/>
                  </a:ext>
                </a:extLst>
              </a:tr>
              <a:tr h="694627">
                <a:tc>
                  <a:txBody>
                    <a:bodyPr/>
                    <a:lstStyle/>
                    <a:p>
                      <a:r>
                        <a:rPr lang="en-IN" sz="2400" dirty="0"/>
                        <a:t>0</a:t>
                      </a:r>
                    </a:p>
                  </a:txBody>
                  <a:tcPr marL="121920" marR="121920" marT="60960" marB="60960">
                    <a:solidFill>
                      <a:schemeClr val="bg1"/>
                    </a:solidFill>
                  </a:tcPr>
                </a:tc>
                <a:tc>
                  <a:txBody>
                    <a:bodyPr/>
                    <a:lstStyle/>
                    <a:p>
                      <a:r>
                        <a:rPr lang="en-IN" sz="2400" dirty="0"/>
                        <a:t>0</a:t>
                      </a:r>
                    </a:p>
                  </a:txBody>
                  <a:tcPr marL="121920" marR="121920" marT="60960" marB="60960">
                    <a:solidFill>
                      <a:schemeClr val="bg1"/>
                    </a:solidFill>
                  </a:tcPr>
                </a:tc>
                <a:tc>
                  <a:txBody>
                    <a:bodyPr/>
                    <a:lstStyle/>
                    <a:p>
                      <a:r>
                        <a:rPr lang="en-IN" sz="2400" dirty="0"/>
                        <a:t>0</a:t>
                      </a:r>
                    </a:p>
                  </a:txBody>
                  <a:tcPr marL="121920" marR="121920" marT="60960" marB="60960">
                    <a:solidFill>
                      <a:schemeClr val="bg1"/>
                    </a:solidFill>
                  </a:tcPr>
                </a:tc>
                <a:extLst>
                  <a:ext uri="{0D108BD9-81ED-4DB2-BD59-A6C34878D82A}">
                    <a16:rowId xmlns:a16="http://schemas.microsoft.com/office/drawing/2014/main" val="3846563319"/>
                  </a:ext>
                </a:extLst>
              </a:tr>
              <a:tr h="494453">
                <a:tc>
                  <a:txBody>
                    <a:bodyPr/>
                    <a:lstStyle/>
                    <a:p>
                      <a:r>
                        <a:rPr lang="en-IN" sz="2400" dirty="0"/>
                        <a:t>0</a:t>
                      </a:r>
                    </a:p>
                  </a:txBody>
                  <a:tcPr marL="121920" marR="121920" marT="60960" marB="60960">
                    <a:solidFill>
                      <a:schemeClr val="bg1"/>
                    </a:solidFill>
                  </a:tcPr>
                </a:tc>
                <a:tc>
                  <a:txBody>
                    <a:bodyPr/>
                    <a:lstStyle/>
                    <a:p>
                      <a:r>
                        <a:rPr lang="en-IN" sz="2400" dirty="0"/>
                        <a:t>1</a:t>
                      </a:r>
                    </a:p>
                  </a:txBody>
                  <a:tcPr marL="121920" marR="121920" marT="60960" marB="60960">
                    <a:solidFill>
                      <a:schemeClr val="bg1"/>
                    </a:solidFill>
                  </a:tcPr>
                </a:tc>
                <a:tc>
                  <a:txBody>
                    <a:bodyPr/>
                    <a:lstStyle/>
                    <a:p>
                      <a:r>
                        <a:rPr lang="en-IN" sz="2400" dirty="0"/>
                        <a:t>1</a:t>
                      </a:r>
                    </a:p>
                  </a:txBody>
                  <a:tcPr marL="121920" marR="121920" marT="60960" marB="60960">
                    <a:solidFill>
                      <a:schemeClr val="bg1"/>
                    </a:solidFill>
                  </a:tcPr>
                </a:tc>
                <a:extLst>
                  <a:ext uri="{0D108BD9-81ED-4DB2-BD59-A6C34878D82A}">
                    <a16:rowId xmlns:a16="http://schemas.microsoft.com/office/drawing/2014/main" val="607818938"/>
                  </a:ext>
                </a:extLst>
              </a:tr>
              <a:tr h="494453">
                <a:tc>
                  <a:txBody>
                    <a:bodyPr/>
                    <a:lstStyle/>
                    <a:p>
                      <a:r>
                        <a:rPr lang="en-IN" sz="2400" dirty="0"/>
                        <a:t>1</a:t>
                      </a:r>
                    </a:p>
                  </a:txBody>
                  <a:tcPr marL="121920" marR="121920" marT="60960" marB="60960">
                    <a:solidFill>
                      <a:schemeClr val="bg1"/>
                    </a:solidFill>
                  </a:tcPr>
                </a:tc>
                <a:tc>
                  <a:txBody>
                    <a:bodyPr/>
                    <a:lstStyle/>
                    <a:p>
                      <a:r>
                        <a:rPr lang="en-IN" sz="2400" dirty="0"/>
                        <a:t>0</a:t>
                      </a:r>
                    </a:p>
                  </a:txBody>
                  <a:tcPr marL="121920" marR="121920" marT="60960" marB="60960">
                    <a:solidFill>
                      <a:schemeClr val="bg1"/>
                    </a:solidFill>
                  </a:tcPr>
                </a:tc>
                <a:tc>
                  <a:txBody>
                    <a:bodyPr/>
                    <a:lstStyle/>
                    <a:p>
                      <a:r>
                        <a:rPr lang="en-IN" sz="2400" dirty="0"/>
                        <a:t>0</a:t>
                      </a:r>
                    </a:p>
                  </a:txBody>
                  <a:tcPr marL="121920" marR="121920" marT="60960" marB="60960">
                    <a:solidFill>
                      <a:schemeClr val="bg1"/>
                    </a:solidFill>
                  </a:tcPr>
                </a:tc>
                <a:extLst>
                  <a:ext uri="{0D108BD9-81ED-4DB2-BD59-A6C34878D82A}">
                    <a16:rowId xmlns:a16="http://schemas.microsoft.com/office/drawing/2014/main" val="3790785183"/>
                  </a:ext>
                </a:extLst>
              </a:tr>
              <a:tr h="494453">
                <a:tc>
                  <a:txBody>
                    <a:bodyPr/>
                    <a:lstStyle/>
                    <a:p>
                      <a:r>
                        <a:rPr lang="en-IN" sz="2400" dirty="0"/>
                        <a:t>1</a:t>
                      </a:r>
                    </a:p>
                  </a:txBody>
                  <a:tcPr marL="121920" marR="121920" marT="60960" marB="60960">
                    <a:solidFill>
                      <a:schemeClr val="bg1"/>
                    </a:solidFill>
                  </a:tcPr>
                </a:tc>
                <a:tc>
                  <a:txBody>
                    <a:bodyPr/>
                    <a:lstStyle/>
                    <a:p>
                      <a:r>
                        <a:rPr lang="en-IN" sz="2400" dirty="0"/>
                        <a:t>1</a:t>
                      </a:r>
                    </a:p>
                  </a:txBody>
                  <a:tcPr marL="121920" marR="121920" marT="60960" marB="60960">
                    <a:solidFill>
                      <a:schemeClr val="bg1"/>
                    </a:solidFill>
                  </a:tcPr>
                </a:tc>
                <a:tc>
                  <a:txBody>
                    <a:bodyPr/>
                    <a:lstStyle/>
                    <a:p>
                      <a:r>
                        <a:rPr lang="en-IN" sz="2400" dirty="0"/>
                        <a:t>1</a:t>
                      </a:r>
                    </a:p>
                  </a:txBody>
                  <a:tcPr marL="121920" marR="121920" marT="60960" marB="60960">
                    <a:solidFill>
                      <a:schemeClr val="bg1"/>
                    </a:solidFill>
                  </a:tcPr>
                </a:tc>
                <a:extLst>
                  <a:ext uri="{0D108BD9-81ED-4DB2-BD59-A6C34878D82A}">
                    <a16:rowId xmlns:a16="http://schemas.microsoft.com/office/drawing/2014/main" val="2543250732"/>
                  </a:ext>
                </a:extLst>
              </a:tr>
            </a:tbl>
          </a:graphicData>
        </a:graphic>
      </p:graphicFrame>
      <p:sp>
        <p:nvSpPr>
          <p:cNvPr id="12" name="TextBox 11">
            <a:extLst>
              <a:ext uri="{FF2B5EF4-FFF2-40B4-BE49-F238E27FC236}">
                <a16:creationId xmlns:a16="http://schemas.microsoft.com/office/drawing/2014/main" id="{0AF43190-452F-492D-A8EA-8C9999424DC8}"/>
              </a:ext>
            </a:extLst>
          </p:cNvPr>
          <p:cNvSpPr txBox="1"/>
          <p:nvPr/>
        </p:nvSpPr>
        <p:spPr>
          <a:xfrm>
            <a:off x="-16597" y="6083408"/>
            <a:ext cx="7141921" cy="420564"/>
          </a:xfrm>
          <a:prstGeom prst="rect">
            <a:avLst/>
          </a:prstGeom>
          <a:noFill/>
        </p:spPr>
        <p:txBody>
          <a:bodyPr wrap="square">
            <a:spAutoFit/>
          </a:bodyPr>
          <a:lstStyle/>
          <a:p>
            <a:pPr algn="just"/>
            <a:r>
              <a:rPr lang="en-US" sz="2133" b="1" dirty="0">
                <a:latin typeface="Times New Roman" panose="02020603050405020304" pitchFamily="18" charset="0"/>
                <a:cs typeface="Times New Roman" panose="02020603050405020304" pitchFamily="18" charset="0"/>
              </a:rPr>
              <a:t>Characteristic table for the D Flip Flop</a:t>
            </a:r>
          </a:p>
        </p:txBody>
      </p:sp>
      <p:graphicFrame>
        <p:nvGraphicFramePr>
          <p:cNvPr id="13" name="Table 3">
            <a:extLst>
              <a:ext uri="{FF2B5EF4-FFF2-40B4-BE49-F238E27FC236}">
                <a16:creationId xmlns:a16="http://schemas.microsoft.com/office/drawing/2014/main" id="{FCA833E9-07DE-4EA8-A768-D686B340F6E9}"/>
              </a:ext>
            </a:extLst>
          </p:cNvPr>
          <p:cNvGraphicFramePr>
            <a:graphicFrameLocks noGrp="1"/>
          </p:cNvGraphicFramePr>
          <p:nvPr/>
        </p:nvGraphicFramePr>
        <p:xfrm>
          <a:off x="4937859" y="4174239"/>
          <a:ext cx="2302934" cy="1717645"/>
        </p:xfrm>
        <a:graphic>
          <a:graphicData uri="http://schemas.openxmlformats.org/drawingml/2006/table">
            <a:tbl>
              <a:tblPr firstRow="1" bandRow="1"/>
              <a:tblGrid>
                <a:gridCol w="1151467">
                  <a:extLst>
                    <a:ext uri="{9D8B030D-6E8A-4147-A177-3AD203B41FA5}">
                      <a16:colId xmlns:a16="http://schemas.microsoft.com/office/drawing/2014/main" val="2985036413"/>
                    </a:ext>
                  </a:extLst>
                </a:gridCol>
                <a:gridCol w="1151467">
                  <a:extLst>
                    <a:ext uri="{9D8B030D-6E8A-4147-A177-3AD203B41FA5}">
                      <a16:colId xmlns:a16="http://schemas.microsoft.com/office/drawing/2014/main" val="3454338984"/>
                    </a:ext>
                  </a:extLst>
                </a:gridCol>
              </a:tblGrid>
              <a:tr h="853440">
                <a:tc>
                  <a:txBody>
                    <a:bodyPr/>
                    <a:lstStyle/>
                    <a:p>
                      <a:endParaRPr lang="en-IN" sz="2400" dirty="0"/>
                    </a:p>
                    <a:p>
                      <a:r>
                        <a:rPr lang="en-IN" sz="2400" dirty="0"/>
                        <a:t>       0</a:t>
                      </a:r>
                    </a:p>
                  </a:txBody>
                  <a:tcPr marL="121920" marR="121920" marT="60960" marB="60960">
                    <a:solidFill>
                      <a:schemeClr val="bg1"/>
                    </a:solidFill>
                  </a:tcPr>
                </a:tc>
                <a:tc>
                  <a:txBody>
                    <a:bodyPr/>
                    <a:lstStyle/>
                    <a:p>
                      <a:endParaRPr lang="en-IN" sz="2400" dirty="0"/>
                    </a:p>
                    <a:p>
                      <a:r>
                        <a:rPr lang="en-IN" sz="2400" dirty="0"/>
                        <a:t>1</a:t>
                      </a:r>
                    </a:p>
                  </a:txBody>
                  <a:tcPr marL="121920" marR="121920" marT="60960" marB="60960">
                    <a:solidFill>
                      <a:schemeClr val="bg1"/>
                    </a:solidFill>
                  </a:tcPr>
                </a:tc>
                <a:extLst>
                  <a:ext uri="{0D108BD9-81ED-4DB2-BD59-A6C34878D82A}">
                    <a16:rowId xmlns:a16="http://schemas.microsoft.com/office/drawing/2014/main" val="2407552505"/>
                  </a:ext>
                </a:extLst>
              </a:tr>
              <a:tr h="864205">
                <a:tc>
                  <a:txBody>
                    <a:bodyPr/>
                    <a:lstStyle/>
                    <a:p>
                      <a:endParaRPr lang="en-IN" sz="2400" dirty="0"/>
                    </a:p>
                    <a:p>
                      <a:r>
                        <a:rPr lang="en-IN" sz="2400" dirty="0"/>
                        <a:t>      0</a:t>
                      </a:r>
                    </a:p>
                  </a:txBody>
                  <a:tcPr marL="121920" marR="121920" marT="60960" marB="60960">
                    <a:solidFill>
                      <a:schemeClr val="bg1"/>
                    </a:solidFill>
                  </a:tcPr>
                </a:tc>
                <a:tc>
                  <a:txBody>
                    <a:bodyPr/>
                    <a:lstStyle/>
                    <a:p>
                      <a:endParaRPr lang="en-IN" sz="2400" dirty="0"/>
                    </a:p>
                    <a:p>
                      <a:r>
                        <a:rPr lang="en-IN" sz="2400" dirty="0"/>
                        <a:t>1</a:t>
                      </a:r>
                    </a:p>
                  </a:txBody>
                  <a:tcPr marL="121920" marR="121920" marT="60960" marB="60960">
                    <a:solidFill>
                      <a:schemeClr val="bg1"/>
                    </a:solidFill>
                  </a:tcPr>
                </a:tc>
                <a:extLst>
                  <a:ext uri="{0D108BD9-81ED-4DB2-BD59-A6C34878D82A}">
                    <a16:rowId xmlns:a16="http://schemas.microsoft.com/office/drawing/2014/main" val="3241083882"/>
                  </a:ext>
                </a:extLst>
              </a:tr>
            </a:tbl>
          </a:graphicData>
        </a:graphic>
      </p:graphicFrame>
      <p:cxnSp>
        <p:nvCxnSpPr>
          <p:cNvPr id="14" name="Straight Connector 13">
            <a:extLst>
              <a:ext uri="{FF2B5EF4-FFF2-40B4-BE49-F238E27FC236}">
                <a16:creationId xmlns:a16="http://schemas.microsoft.com/office/drawing/2014/main" id="{E248A178-E143-450E-8B25-3618B8341AAA}"/>
              </a:ext>
            </a:extLst>
          </p:cNvPr>
          <p:cNvCxnSpPr>
            <a:cxnSpLocks/>
          </p:cNvCxnSpPr>
          <p:nvPr/>
        </p:nvCxnSpPr>
        <p:spPr>
          <a:xfrm>
            <a:off x="4308911" y="3870505"/>
            <a:ext cx="628952" cy="380999"/>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B939E72-9297-4608-8726-3A69061E3358}"/>
              </a:ext>
            </a:extLst>
          </p:cNvPr>
          <p:cNvSpPr txBox="1"/>
          <p:nvPr/>
        </p:nvSpPr>
        <p:spPr>
          <a:xfrm>
            <a:off x="4110886" y="4012318"/>
            <a:ext cx="750769" cy="461665"/>
          </a:xfrm>
          <a:prstGeom prst="rect">
            <a:avLst/>
          </a:prstGeom>
          <a:noFill/>
        </p:spPr>
        <p:txBody>
          <a:bodyPr wrap="square" rtlCol="0">
            <a:spAutoFit/>
          </a:bodyPr>
          <a:lstStyle/>
          <a:p>
            <a:r>
              <a:rPr lang="en-IN" sz="2400" dirty="0"/>
              <a:t>Q(t)</a:t>
            </a:r>
          </a:p>
        </p:txBody>
      </p:sp>
      <p:sp>
        <p:nvSpPr>
          <p:cNvPr id="16" name="TextBox 15">
            <a:extLst>
              <a:ext uri="{FF2B5EF4-FFF2-40B4-BE49-F238E27FC236}">
                <a16:creationId xmlns:a16="http://schemas.microsoft.com/office/drawing/2014/main" id="{A5476CBB-EDE0-4EFF-89D3-7E817C6E4940}"/>
              </a:ext>
            </a:extLst>
          </p:cNvPr>
          <p:cNvSpPr txBox="1"/>
          <p:nvPr/>
        </p:nvSpPr>
        <p:spPr>
          <a:xfrm>
            <a:off x="4573302" y="3684892"/>
            <a:ext cx="584383" cy="461665"/>
          </a:xfrm>
          <a:prstGeom prst="rect">
            <a:avLst/>
          </a:prstGeom>
          <a:noFill/>
        </p:spPr>
        <p:txBody>
          <a:bodyPr wrap="square" rtlCol="0">
            <a:spAutoFit/>
          </a:bodyPr>
          <a:lstStyle/>
          <a:p>
            <a:r>
              <a:rPr lang="en-IN" sz="2400" dirty="0"/>
              <a:t>D</a:t>
            </a:r>
          </a:p>
        </p:txBody>
      </p:sp>
      <p:sp>
        <p:nvSpPr>
          <p:cNvPr id="17" name="TextBox 16">
            <a:extLst>
              <a:ext uri="{FF2B5EF4-FFF2-40B4-BE49-F238E27FC236}">
                <a16:creationId xmlns:a16="http://schemas.microsoft.com/office/drawing/2014/main" id="{E652D274-C9E8-4134-B572-9E199693541C}"/>
              </a:ext>
            </a:extLst>
          </p:cNvPr>
          <p:cNvSpPr txBox="1"/>
          <p:nvPr/>
        </p:nvSpPr>
        <p:spPr>
          <a:xfrm>
            <a:off x="4492757" y="4495281"/>
            <a:ext cx="570896" cy="420564"/>
          </a:xfrm>
          <a:prstGeom prst="rect">
            <a:avLst/>
          </a:prstGeom>
          <a:noFill/>
        </p:spPr>
        <p:txBody>
          <a:bodyPr wrap="square" rtlCol="0">
            <a:spAutoFit/>
          </a:bodyPr>
          <a:lstStyle/>
          <a:p>
            <a:r>
              <a:rPr lang="en-IN" sz="2133" b="1" dirty="0"/>
              <a:t>0</a:t>
            </a:r>
          </a:p>
        </p:txBody>
      </p:sp>
      <p:sp>
        <p:nvSpPr>
          <p:cNvPr id="18" name="TextBox 17">
            <a:extLst>
              <a:ext uri="{FF2B5EF4-FFF2-40B4-BE49-F238E27FC236}">
                <a16:creationId xmlns:a16="http://schemas.microsoft.com/office/drawing/2014/main" id="{D6917C96-96DA-481B-BADB-0B6020823B9C}"/>
              </a:ext>
            </a:extLst>
          </p:cNvPr>
          <p:cNvSpPr txBox="1"/>
          <p:nvPr/>
        </p:nvSpPr>
        <p:spPr>
          <a:xfrm>
            <a:off x="4487920" y="5248516"/>
            <a:ext cx="570896" cy="420564"/>
          </a:xfrm>
          <a:prstGeom prst="rect">
            <a:avLst/>
          </a:prstGeom>
          <a:noFill/>
        </p:spPr>
        <p:txBody>
          <a:bodyPr wrap="square" rtlCol="0">
            <a:spAutoFit/>
          </a:bodyPr>
          <a:lstStyle/>
          <a:p>
            <a:r>
              <a:rPr lang="en-IN" sz="2133" b="1" dirty="0"/>
              <a:t>1</a:t>
            </a:r>
          </a:p>
        </p:txBody>
      </p:sp>
      <p:sp>
        <p:nvSpPr>
          <p:cNvPr id="19" name="TextBox 18">
            <a:extLst>
              <a:ext uri="{FF2B5EF4-FFF2-40B4-BE49-F238E27FC236}">
                <a16:creationId xmlns:a16="http://schemas.microsoft.com/office/drawing/2014/main" id="{157445B9-BA82-4ED5-9AF8-BA86C4F1C44A}"/>
              </a:ext>
            </a:extLst>
          </p:cNvPr>
          <p:cNvSpPr txBox="1"/>
          <p:nvPr/>
        </p:nvSpPr>
        <p:spPr>
          <a:xfrm>
            <a:off x="5121709" y="3835300"/>
            <a:ext cx="570896" cy="420564"/>
          </a:xfrm>
          <a:prstGeom prst="rect">
            <a:avLst/>
          </a:prstGeom>
          <a:noFill/>
        </p:spPr>
        <p:txBody>
          <a:bodyPr wrap="square" rtlCol="0">
            <a:spAutoFit/>
          </a:bodyPr>
          <a:lstStyle/>
          <a:p>
            <a:r>
              <a:rPr lang="en-IN" sz="2133" b="1" dirty="0"/>
              <a:t>0</a:t>
            </a:r>
          </a:p>
        </p:txBody>
      </p:sp>
      <p:sp>
        <p:nvSpPr>
          <p:cNvPr id="20" name="TextBox 19">
            <a:extLst>
              <a:ext uri="{FF2B5EF4-FFF2-40B4-BE49-F238E27FC236}">
                <a16:creationId xmlns:a16="http://schemas.microsoft.com/office/drawing/2014/main" id="{A61B79A1-10A3-4F6C-BD5C-D0482AD548DE}"/>
              </a:ext>
            </a:extLst>
          </p:cNvPr>
          <p:cNvSpPr txBox="1"/>
          <p:nvPr/>
        </p:nvSpPr>
        <p:spPr>
          <a:xfrm>
            <a:off x="6382035" y="3825149"/>
            <a:ext cx="570896" cy="420564"/>
          </a:xfrm>
          <a:prstGeom prst="rect">
            <a:avLst/>
          </a:prstGeom>
          <a:noFill/>
        </p:spPr>
        <p:txBody>
          <a:bodyPr wrap="square" rtlCol="0">
            <a:spAutoFit/>
          </a:bodyPr>
          <a:lstStyle/>
          <a:p>
            <a:r>
              <a:rPr lang="en-IN" sz="2133" b="1" dirty="0"/>
              <a:t>1</a:t>
            </a:r>
          </a:p>
        </p:txBody>
      </p:sp>
      <p:sp>
        <p:nvSpPr>
          <p:cNvPr id="21" name="Rectangle: Rounded Corners 20">
            <a:extLst>
              <a:ext uri="{FF2B5EF4-FFF2-40B4-BE49-F238E27FC236}">
                <a16:creationId xmlns:a16="http://schemas.microsoft.com/office/drawing/2014/main" id="{745B8794-27E9-4C9B-ABCE-E7C67D92DF55}"/>
              </a:ext>
            </a:extLst>
          </p:cNvPr>
          <p:cNvSpPr/>
          <p:nvPr/>
        </p:nvSpPr>
        <p:spPr>
          <a:xfrm>
            <a:off x="6165529" y="4349621"/>
            <a:ext cx="570896" cy="143460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endParaRPr>
          </a:p>
        </p:txBody>
      </p:sp>
      <p:sp>
        <p:nvSpPr>
          <p:cNvPr id="22" name="TextBox 21">
            <a:extLst>
              <a:ext uri="{FF2B5EF4-FFF2-40B4-BE49-F238E27FC236}">
                <a16:creationId xmlns:a16="http://schemas.microsoft.com/office/drawing/2014/main" id="{F181EB4B-6B8E-45CC-9C48-57FDFE172565}"/>
              </a:ext>
            </a:extLst>
          </p:cNvPr>
          <p:cNvSpPr txBox="1"/>
          <p:nvPr/>
        </p:nvSpPr>
        <p:spPr>
          <a:xfrm>
            <a:off x="7475096" y="4576997"/>
            <a:ext cx="4716904" cy="1323632"/>
          </a:xfrm>
          <a:prstGeom prst="rect">
            <a:avLst/>
          </a:prstGeom>
          <a:noFill/>
        </p:spPr>
        <p:txBody>
          <a:bodyPr wrap="square" rtlCol="0">
            <a:spAutoFit/>
          </a:bodyPr>
          <a:lstStyle/>
          <a:p>
            <a:r>
              <a:rPr lang="en-IN" sz="2667" b="1" dirty="0"/>
              <a:t>Characteristic Equation for D flip flop:</a:t>
            </a:r>
          </a:p>
          <a:p>
            <a:r>
              <a:rPr lang="en-IN" sz="2667" b="1" dirty="0"/>
              <a:t>     Q(t+1)= D</a:t>
            </a:r>
          </a:p>
        </p:txBody>
      </p:sp>
      <p:pic>
        <p:nvPicPr>
          <p:cNvPr id="1028" name="Picture 4" descr="File D Type Transparent Latch Nor Svg Wikipedia Animated - D Flip Flop  Using Nor Gate Transparent PNG - 1280x640 - Free Download on NicePNG">
            <a:extLst>
              <a:ext uri="{FF2B5EF4-FFF2-40B4-BE49-F238E27FC236}">
                <a16:creationId xmlns:a16="http://schemas.microsoft.com/office/drawing/2014/main" id="{D95B9506-A96E-42FE-A409-15BBD044B7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9350" y="883428"/>
            <a:ext cx="3115745" cy="210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37352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B0DD4A-B12F-5B11-DC6B-6D2EA086359F}"/>
              </a:ext>
            </a:extLst>
          </p:cNvPr>
          <p:cNvPicPr>
            <a:picLocks noChangeAspect="1"/>
          </p:cNvPicPr>
          <p:nvPr/>
        </p:nvPicPr>
        <p:blipFill>
          <a:blip r:embed="rId2"/>
          <a:stretch>
            <a:fillRect/>
          </a:stretch>
        </p:blipFill>
        <p:spPr>
          <a:xfrm>
            <a:off x="180149" y="1271286"/>
            <a:ext cx="11831701" cy="4315427"/>
          </a:xfrm>
          <a:prstGeom prst="rect">
            <a:avLst/>
          </a:prstGeom>
        </p:spPr>
      </p:pic>
    </p:spTree>
    <p:extLst>
      <p:ext uri="{BB962C8B-B14F-4D97-AF65-F5344CB8AC3E}">
        <p14:creationId xmlns:p14="http://schemas.microsoft.com/office/powerpoint/2010/main" val="1250784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AB5AD5-67DA-8062-B39E-01CF4F8583B8}"/>
              </a:ext>
            </a:extLst>
          </p:cNvPr>
          <p:cNvPicPr>
            <a:picLocks noChangeAspect="1"/>
          </p:cNvPicPr>
          <p:nvPr/>
        </p:nvPicPr>
        <p:blipFill>
          <a:blip r:embed="rId2"/>
          <a:stretch>
            <a:fillRect/>
          </a:stretch>
        </p:blipFill>
        <p:spPr>
          <a:xfrm>
            <a:off x="566530" y="0"/>
            <a:ext cx="10893287" cy="6858000"/>
          </a:xfrm>
          <a:prstGeom prst="rect">
            <a:avLst/>
          </a:prstGeom>
        </p:spPr>
      </p:pic>
    </p:spTree>
    <p:extLst>
      <p:ext uri="{BB962C8B-B14F-4D97-AF65-F5344CB8AC3E}">
        <p14:creationId xmlns:p14="http://schemas.microsoft.com/office/powerpoint/2010/main" val="155220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950B9-14D1-AB70-EED6-B1E157A022EF}"/>
              </a:ext>
            </a:extLst>
          </p:cNvPr>
          <p:cNvSpPr>
            <a:spLocks noGrp="1"/>
          </p:cNvSpPr>
          <p:nvPr>
            <p:ph type="title"/>
          </p:nvPr>
        </p:nvSpPr>
        <p:spPr/>
        <p:txBody>
          <a:bodyPr>
            <a:normAutofit/>
          </a:bodyPr>
          <a:lstStyle/>
          <a:p>
            <a:r>
              <a:rPr lang="en" dirty="0"/>
              <a:t>Sequential logic timing considerations</a:t>
            </a:r>
            <a:endParaRPr lang="en-IN" dirty="0"/>
          </a:p>
        </p:txBody>
      </p:sp>
      <p:sp>
        <p:nvSpPr>
          <p:cNvPr id="3" name="Content Placeholder 2">
            <a:extLst>
              <a:ext uri="{FF2B5EF4-FFF2-40B4-BE49-F238E27FC236}">
                <a16:creationId xmlns:a16="http://schemas.microsoft.com/office/drawing/2014/main" id="{56FBF2E1-221B-2EFF-6F4C-A1FCC587FF88}"/>
              </a:ext>
            </a:extLst>
          </p:cNvPr>
          <p:cNvSpPr>
            <a:spLocks noGrp="1"/>
          </p:cNvSpPr>
          <p:nvPr>
            <p:ph idx="1"/>
          </p:nvPr>
        </p:nvSpPr>
        <p:spPr/>
        <p:txBody>
          <a:bodyPr>
            <a:normAutofit/>
          </a:bodyPr>
          <a:lstStyle/>
          <a:p>
            <a:r>
              <a:rPr lang="en-US" sz="2400" dirty="0"/>
              <a:t>There are a variety of timing specifications that need to be met in order to successfully design circuits using sequential storage devices. </a:t>
            </a:r>
          </a:p>
          <a:p>
            <a:pPr marL="514350" indent="-514350">
              <a:buFont typeface="+mj-lt"/>
              <a:buAutoNum type="arabicPeriod"/>
            </a:pPr>
            <a:r>
              <a:rPr lang="en-US" sz="2400" b="1" dirty="0"/>
              <a:t>Setup time (</a:t>
            </a:r>
            <a:r>
              <a:rPr lang="en-US" sz="2400" b="1" dirty="0" err="1"/>
              <a:t>tsetup</a:t>
            </a:r>
            <a:r>
              <a:rPr lang="en-US" sz="2400" b="1" dirty="0"/>
              <a:t> or </a:t>
            </a:r>
            <a:r>
              <a:rPr lang="en-US" sz="2400" b="1" dirty="0" err="1"/>
              <a:t>ts</a:t>
            </a:r>
            <a:r>
              <a:rPr lang="en-US" sz="2400" b="1" dirty="0"/>
              <a:t>) </a:t>
            </a:r>
            <a:r>
              <a:rPr lang="en-US" sz="2400" b="1" dirty="0">
                <a:sym typeface="Wingdings" panose="05000000000000000000" pitchFamily="2" charset="2"/>
              </a:rPr>
              <a:t> </a:t>
            </a:r>
            <a:r>
              <a:rPr lang="en-US" sz="2400" dirty="0"/>
              <a:t>specifies how long the data input needs to be at a steady state before the clock event. </a:t>
            </a:r>
          </a:p>
          <a:p>
            <a:pPr marL="514350" indent="-514350">
              <a:buFont typeface="+mj-lt"/>
              <a:buAutoNum type="arabicPeriod"/>
            </a:pPr>
            <a:r>
              <a:rPr lang="en-US" sz="2400" b="1" dirty="0"/>
              <a:t>Hold time (</a:t>
            </a:r>
            <a:r>
              <a:rPr lang="en-US" sz="2400" b="1" dirty="0" err="1"/>
              <a:t>thold</a:t>
            </a:r>
            <a:r>
              <a:rPr lang="en-US" sz="2400" b="1" dirty="0"/>
              <a:t> or </a:t>
            </a:r>
            <a:r>
              <a:rPr lang="en-US" sz="2400" b="1" dirty="0" err="1"/>
              <a:t>th</a:t>
            </a:r>
            <a:r>
              <a:rPr lang="en-US" sz="2400" b="1" dirty="0"/>
              <a:t>) </a:t>
            </a:r>
            <a:r>
              <a:rPr lang="en-US" sz="2400" b="1" dirty="0">
                <a:sym typeface="Wingdings" panose="05000000000000000000" pitchFamily="2" charset="2"/>
              </a:rPr>
              <a:t> </a:t>
            </a:r>
            <a:r>
              <a:rPr lang="en-US" sz="2400" dirty="0"/>
              <a:t>specifies how long the data input needs to be at a steady state after the clock event</a:t>
            </a:r>
          </a:p>
          <a:p>
            <a:pPr marL="457200" indent="-457200">
              <a:buFont typeface="+mj-lt"/>
              <a:buAutoNum type="arabicPeriod"/>
            </a:pPr>
            <a:r>
              <a:rPr lang="en-US" sz="2400" dirty="0"/>
              <a:t>If these specifications are violated (i.e., the input transitions too close to the clock transition), the storage device will not be able to determine whether the input was a 1 or 0 and will go metastable. The time a storage device will remain metastable is a deterministic value and is specified by the part manufacturer (</a:t>
            </a:r>
            <a:r>
              <a:rPr lang="en-US" sz="2400" b="1" dirty="0" err="1"/>
              <a:t>tmeta</a:t>
            </a:r>
            <a:r>
              <a:rPr lang="en-US" sz="2400" dirty="0"/>
              <a:t>). </a:t>
            </a:r>
          </a:p>
        </p:txBody>
      </p:sp>
    </p:spTree>
    <p:extLst>
      <p:ext uri="{BB962C8B-B14F-4D97-AF65-F5344CB8AC3E}">
        <p14:creationId xmlns:p14="http://schemas.microsoft.com/office/powerpoint/2010/main" val="827002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950B9-14D1-AB70-EED6-B1E157A022EF}"/>
              </a:ext>
            </a:extLst>
          </p:cNvPr>
          <p:cNvSpPr>
            <a:spLocks noGrp="1"/>
          </p:cNvSpPr>
          <p:nvPr>
            <p:ph type="title"/>
          </p:nvPr>
        </p:nvSpPr>
        <p:spPr/>
        <p:txBody>
          <a:bodyPr>
            <a:normAutofit/>
          </a:bodyPr>
          <a:lstStyle/>
          <a:p>
            <a:r>
              <a:rPr lang="en" dirty="0"/>
              <a:t>Sequential logic timing considerations</a:t>
            </a:r>
            <a:endParaRPr lang="en-IN" dirty="0"/>
          </a:p>
        </p:txBody>
      </p:sp>
      <p:sp>
        <p:nvSpPr>
          <p:cNvPr id="3" name="Content Placeholder 2">
            <a:extLst>
              <a:ext uri="{FF2B5EF4-FFF2-40B4-BE49-F238E27FC236}">
                <a16:creationId xmlns:a16="http://schemas.microsoft.com/office/drawing/2014/main" id="{56FBF2E1-221B-2EFF-6F4C-A1FCC587FF88}"/>
              </a:ext>
            </a:extLst>
          </p:cNvPr>
          <p:cNvSpPr>
            <a:spLocks noGrp="1"/>
          </p:cNvSpPr>
          <p:nvPr>
            <p:ph idx="1"/>
          </p:nvPr>
        </p:nvSpPr>
        <p:spPr/>
        <p:txBody>
          <a:bodyPr>
            <a:normAutofit/>
          </a:bodyPr>
          <a:lstStyle/>
          <a:p>
            <a:r>
              <a:rPr lang="en-US" sz="2400" dirty="0"/>
              <a:t>Metastability should be avoided; but knowing the maximum duration of metastability for a storage device allows us to design circuits to overcome potential metastable conditions. </a:t>
            </a:r>
          </a:p>
          <a:p>
            <a:r>
              <a:rPr lang="en-US" sz="2400" dirty="0"/>
              <a:t>During the time the device is metastable, the output will have random behavior. It may go to a steady state 1, a steady state 0, or toggle between a 0 and 1 uncontrollably. </a:t>
            </a:r>
          </a:p>
          <a:p>
            <a:r>
              <a:rPr lang="en-US" sz="2400" dirty="0"/>
              <a:t>Once the device comes out of metastability, it will come to rest in one of its two stable states (Q = 0 or Q = 1). The final resting state is random and unknown. </a:t>
            </a:r>
          </a:p>
          <a:p>
            <a:pPr marL="514350" indent="-514350">
              <a:buFont typeface="+mj-lt"/>
              <a:buAutoNum type="arabicPeriod" startAt="4"/>
            </a:pPr>
            <a:r>
              <a:rPr lang="en-US" sz="2400" b="1" i="1" dirty="0"/>
              <a:t>Clock-to-Q </a:t>
            </a:r>
            <a:r>
              <a:rPr lang="en-US" sz="2400" b="1" dirty="0"/>
              <a:t>delay (</a:t>
            </a:r>
            <a:r>
              <a:rPr lang="en-US" sz="2400" b="1" dirty="0" err="1"/>
              <a:t>tCQ</a:t>
            </a:r>
            <a:r>
              <a:rPr lang="en-US" sz="2400" b="1" dirty="0"/>
              <a:t> ) </a:t>
            </a:r>
            <a:r>
              <a:rPr lang="en-US" sz="2400" b="1" dirty="0">
                <a:sym typeface="Wingdings" panose="05000000000000000000" pitchFamily="2" charset="2"/>
              </a:rPr>
              <a:t> </a:t>
            </a:r>
            <a:r>
              <a:rPr lang="en-US" sz="2400" dirty="0"/>
              <a:t>delay from the time a clock transition occurs to the point that the data is present on the Q output</a:t>
            </a:r>
            <a:endParaRPr lang="en-IN" sz="2400" b="1" dirty="0"/>
          </a:p>
        </p:txBody>
      </p:sp>
    </p:spTree>
    <p:extLst>
      <p:ext uri="{BB962C8B-B14F-4D97-AF65-F5344CB8AC3E}">
        <p14:creationId xmlns:p14="http://schemas.microsoft.com/office/powerpoint/2010/main" val="3811501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1566</Words>
  <Application>Microsoft Office PowerPoint</Application>
  <PresentationFormat>Widescreen</PresentationFormat>
  <Paragraphs>187</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Georgia</vt:lpstr>
      <vt:lpstr>Times New Roman</vt:lpstr>
      <vt:lpstr>Walter Turncoat</vt:lpstr>
      <vt:lpstr>Wingdings</vt:lpstr>
      <vt:lpstr>Office Theme</vt:lpstr>
      <vt:lpstr>Flip flops</vt:lpstr>
      <vt:lpstr>PowerPoint Presentation</vt:lpstr>
      <vt:lpstr>PowerPoint Presentation</vt:lpstr>
      <vt:lpstr>PowerPoint Presentation</vt:lpstr>
      <vt:lpstr>PowerPoint Presentation</vt:lpstr>
      <vt:lpstr>D flipflop</vt:lpstr>
      <vt:lpstr>D flipflop</vt:lpstr>
      <vt:lpstr>D flipflop</vt:lpstr>
      <vt:lpstr>D flipflop</vt:lpstr>
      <vt:lpstr>PowerPoint Presentation</vt:lpstr>
      <vt:lpstr>Asynchronous Preset and Clear Inputs</vt:lpstr>
      <vt:lpstr>PowerPoint Presentation</vt:lpstr>
      <vt:lpstr>Resettable D flipflop</vt:lpstr>
      <vt:lpstr>Resettable flipflop</vt:lpstr>
      <vt:lpstr>PowerPoint Presentation</vt:lpstr>
      <vt:lpstr>Enabled D-Flip-Flops</vt:lpstr>
      <vt:lpstr>PowerPoint Presentation</vt:lpstr>
      <vt:lpstr>PowerPoint Presentation</vt:lpstr>
      <vt:lpstr>PowerPoint Presentation</vt:lpstr>
      <vt:lpstr>Sequential logic timing considerations</vt:lpstr>
      <vt:lpstr>Sequential logic timing considerations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2026-05-07T03:51:53Z</dcterms:created>
  <dcterms:modified xsi:type="dcterms:W3CDTF">2026-05-07T03:52:37Z</dcterms:modified>
</cp:coreProperties>
</file>