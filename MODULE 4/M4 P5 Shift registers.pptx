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0" r:id="rId2"/>
    <p:sldId id="271" r:id="rId3"/>
    <p:sldId id="316" r:id="rId4"/>
    <p:sldId id="315" r:id="rId5"/>
    <p:sldId id="317" r:id="rId6"/>
    <p:sldId id="318" r:id="rId7"/>
    <p:sldId id="273" r:id="rId8"/>
    <p:sldId id="323" r:id="rId9"/>
    <p:sldId id="319" r:id="rId10"/>
    <p:sldId id="324" r:id="rId11"/>
    <p:sldId id="325" r:id="rId12"/>
    <p:sldId id="456" r:id="rId13"/>
    <p:sldId id="457" r:id="rId14"/>
    <p:sldId id="458" r:id="rId15"/>
    <p:sldId id="459" r:id="rId16"/>
    <p:sldId id="468" r:id="rId17"/>
    <p:sldId id="460" r:id="rId18"/>
    <p:sldId id="461" r:id="rId19"/>
    <p:sldId id="462" r:id="rId20"/>
    <p:sldId id="469" r:id="rId21"/>
    <p:sldId id="463" r:id="rId22"/>
    <p:sldId id="470" r:id="rId23"/>
    <p:sldId id="471" r:id="rId24"/>
    <p:sldId id="46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0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92299-3699-D880-D7B9-9CE482F285F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82379CE-76E0-B55C-1801-799C928F83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B36AB43-3ACB-475E-3C98-6BDB00DB4FB1}"/>
              </a:ext>
            </a:extLst>
          </p:cNvPr>
          <p:cNvSpPr>
            <a:spLocks noGrp="1"/>
          </p:cNvSpPr>
          <p:nvPr>
            <p:ph type="dt" sz="half" idx="10"/>
          </p:nvPr>
        </p:nvSpPr>
        <p:spPr/>
        <p:txBody>
          <a:bodyPr/>
          <a:lstStyle/>
          <a:p>
            <a:fld id="{F247663C-8C4F-41F6-8A14-5C6BBA9ECD39}" type="datetimeFigureOut">
              <a:rPr lang="en-IN" smtClean="0"/>
              <a:t>24-09-2025</a:t>
            </a:fld>
            <a:endParaRPr lang="en-IN"/>
          </a:p>
        </p:txBody>
      </p:sp>
      <p:sp>
        <p:nvSpPr>
          <p:cNvPr id="5" name="Footer Placeholder 4">
            <a:extLst>
              <a:ext uri="{FF2B5EF4-FFF2-40B4-BE49-F238E27FC236}">
                <a16:creationId xmlns:a16="http://schemas.microsoft.com/office/drawing/2014/main" id="{B0914F19-A3F8-6C45-8132-F05A280C1C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220ED3-8A64-5376-14FA-BDA821518692}"/>
              </a:ext>
            </a:extLst>
          </p:cNvPr>
          <p:cNvSpPr>
            <a:spLocks noGrp="1"/>
          </p:cNvSpPr>
          <p:nvPr>
            <p:ph type="sldNum" sz="quarter" idx="12"/>
          </p:nvPr>
        </p:nvSpPr>
        <p:spPr/>
        <p:txBody>
          <a:bodyPr/>
          <a:lstStyle/>
          <a:p>
            <a:fld id="{81B693AE-0D80-414D-88ED-80545A3B261B}" type="slidenum">
              <a:rPr lang="en-IN" smtClean="0"/>
              <a:t>‹#›</a:t>
            </a:fld>
            <a:endParaRPr lang="en-IN"/>
          </a:p>
        </p:txBody>
      </p:sp>
    </p:spTree>
    <p:extLst>
      <p:ext uri="{BB962C8B-B14F-4D97-AF65-F5344CB8AC3E}">
        <p14:creationId xmlns:p14="http://schemas.microsoft.com/office/powerpoint/2010/main" val="4116337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64B5F-1A11-98C1-DB69-12D14CBFC7F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95FCA0D-5BFD-8B20-6AE7-22198237DE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0289A8-2250-BC51-1CF4-45A5AA0CEE55}"/>
              </a:ext>
            </a:extLst>
          </p:cNvPr>
          <p:cNvSpPr>
            <a:spLocks noGrp="1"/>
          </p:cNvSpPr>
          <p:nvPr>
            <p:ph type="dt" sz="half" idx="10"/>
          </p:nvPr>
        </p:nvSpPr>
        <p:spPr/>
        <p:txBody>
          <a:bodyPr/>
          <a:lstStyle/>
          <a:p>
            <a:fld id="{F247663C-8C4F-41F6-8A14-5C6BBA9ECD39}" type="datetimeFigureOut">
              <a:rPr lang="en-IN" smtClean="0"/>
              <a:t>24-09-2025</a:t>
            </a:fld>
            <a:endParaRPr lang="en-IN"/>
          </a:p>
        </p:txBody>
      </p:sp>
      <p:sp>
        <p:nvSpPr>
          <p:cNvPr id="5" name="Footer Placeholder 4">
            <a:extLst>
              <a:ext uri="{FF2B5EF4-FFF2-40B4-BE49-F238E27FC236}">
                <a16:creationId xmlns:a16="http://schemas.microsoft.com/office/drawing/2014/main" id="{36D249DE-CB7B-8B48-5636-04D1339F95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EA645A-3D4A-B58B-E32A-B79D812F11B5}"/>
              </a:ext>
            </a:extLst>
          </p:cNvPr>
          <p:cNvSpPr>
            <a:spLocks noGrp="1"/>
          </p:cNvSpPr>
          <p:nvPr>
            <p:ph type="sldNum" sz="quarter" idx="12"/>
          </p:nvPr>
        </p:nvSpPr>
        <p:spPr/>
        <p:txBody>
          <a:bodyPr/>
          <a:lstStyle/>
          <a:p>
            <a:fld id="{81B693AE-0D80-414D-88ED-80545A3B261B}" type="slidenum">
              <a:rPr lang="en-IN" smtClean="0"/>
              <a:t>‹#›</a:t>
            </a:fld>
            <a:endParaRPr lang="en-IN"/>
          </a:p>
        </p:txBody>
      </p:sp>
    </p:spTree>
    <p:extLst>
      <p:ext uri="{BB962C8B-B14F-4D97-AF65-F5344CB8AC3E}">
        <p14:creationId xmlns:p14="http://schemas.microsoft.com/office/powerpoint/2010/main" val="41334141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E9B46-4F27-2F38-F86C-DA8CFE49C3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8C4696A-292B-5F49-84A7-FADBC17CE03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7F4A98-0675-5251-C329-4F78E3A7E03B}"/>
              </a:ext>
            </a:extLst>
          </p:cNvPr>
          <p:cNvSpPr>
            <a:spLocks noGrp="1"/>
          </p:cNvSpPr>
          <p:nvPr>
            <p:ph type="dt" sz="half" idx="10"/>
          </p:nvPr>
        </p:nvSpPr>
        <p:spPr/>
        <p:txBody>
          <a:bodyPr/>
          <a:lstStyle/>
          <a:p>
            <a:fld id="{F247663C-8C4F-41F6-8A14-5C6BBA9ECD39}" type="datetimeFigureOut">
              <a:rPr lang="en-IN" smtClean="0"/>
              <a:t>24-09-2025</a:t>
            </a:fld>
            <a:endParaRPr lang="en-IN"/>
          </a:p>
        </p:txBody>
      </p:sp>
      <p:sp>
        <p:nvSpPr>
          <p:cNvPr id="5" name="Footer Placeholder 4">
            <a:extLst>
              <a:ext uri="{FF2B5EF4-FFF2-40B4-BE49-F238E27FC236}">
                <a16:creationId xmlns:a16="http://schemas.microsoft.com/office/drawing/2014/main" id="{BDE17117-F277-FD3A-7644-AE2E0F1E67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141523-AC23-6B08-9702-3CFEE0FBE095}"/>
              </a:ext>
            </a:extLst>
          </p:cNvPr>
          <p:cNvSpPr>
            <a:spLocks noGrp="1"/>
          </p:cNvSpPr>
          <p:nvPr>
            <p:ph type="sldNum" sz="quarter" idx="12"/>
          </p:nvPr>
        </p:nvSpPr>
        <p:spPr/>
        <p:txBody>
          <a:bodyPr/>
          <a:lstStyle/>
          <a:p>
            <a:fld id="{81B693AE-0D80-414D-88ED-80545A3B261B}" type="slidenum">
              <a:rPr lang="en-IN" smtClean="0"/>
              <a:t>‹#›</a:t>
            </a:fld>
            <a:endParaRPr lang="en-IN"/>
          </a:p>
        </p:txBody>
      </p:sp>
    </p:spTree>
    <p:extLst>
      <p:ext uri="{BB962C8B-B14F-4D97-AF65-F5344CB8AC3E}">
        <p14:creationId xmlns:p14="http://schemas.microsoft.com/office/powerpoint/2010/main" val="4097519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5B22B-54D8-0748-5DAE-97E3ED9098F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84E0923-E97B-7FF0-E2AD-1964EB63D8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456AE15-94A2-9464-90D4-C14DF4535E4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D6D7D5F-C8F1-DEE6-FA23-9B180A0C8688}"/>
              </a:ext>
            </a:extLst>
          </p:cNvPr>
          <p:cNvSpPr>
            <a:spLocks noGrp="1"/>
          </p:cNvSpPr>
          <p:nvPr>
            <p:ph type="dt" sz="half" idx="10"/>
          </p:nvPr>
        </p:nvSpPr>
        <p:spPr/>
        <p:txBody>
          <a:bodyPr/>
          <a:lstStyle/>
          <a:p>
            <a:fld id="{F247663C-8C4F-41F6-8A14-5C6BBA9ECD39}" type="datetimeFigureOut">
              <a:rPr lang="en-IN" smtClean="0"/>
              <a:t>24-09-2025</a:t>
            </a:fld>
            <a:endParaRPr lang="en-IN"/>
          </a:p>
        </p:txBody>
      </p:sp>
      <p:sp>
        <p:nvSpPr>
          <p:cNvPr id="6" name="Footer Placeholder 5">
            <a:extLst>
              <a:ext uri="{FF2B5EF4-FFF2-40B4-BE49-F238E27FC236}">
                <a16:creationId xmlns:a16="http://schemas.microsoft.com/office/drawing/2014/main" id="{3493D395-2C7E-BB73-84BB-D18921135A1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44CF18F-64A7-D5EE-6737-F1E6EAA4B89F}"/>
              </a:ext>
            </a:extLst>
          </p:cNvPr>
          <p:cNvSpPr>
            <a:spLocks noGrp="1"/>
          </p:cNvSpPr>
          <p:nvPr>
            <p:ph type="sldNum" sz="quarter" idx="12"/>
          </p:nvPr>
        </p:nvSpPr>
        <p:spPr/>
        <p:txBody>
          <a:bodyPr/>
          <a:lstStyle/>
          <a:p>
            <a:fld id="{81B693AE-0D80-414D-88ED-80545A3B261B}" type="slidenum">
              <a:rPr lang="en-IN" smtClean="0"/>
              <a:t>‹#›</a:t>
            </a:fld>
            <a:endParaRPr lang="en-IN"/>
          </a:p>
        </p:txBody>
      </p:sp>
    </p:spTree>
    <p:extLst>
      <p:ext uri="{BB962C8B-B14F-4D97-AF65-F5344CB8AC3E}">
        <p14:creationId xmlns:p14="http://schemas.microsoft.com/office/powerpoint/2010/main" val="32567447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FA2EA-7718-5ACA-0E80-4AC94F4E6A6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1441FE2-54A8-8403-E14D-12755656D0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474514-6774-73CD-76C7-15715B8A9A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808175E-D96C-6A55-9382-EAAB120206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E76B80-FCFA-F0C1-9C9C-3DDB866FF7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EF14A9E-D84A-82A5-C356-66F1EC97C731}"/>
              </a:ext>
            </a:extLst>
          </p:cNvPr>
          <p:cNvSpPr>
            <a:spLocks noGrp="1"/>
          </p:cNvSpPr>
          <p:nvPr>
            <p:ph type="dt" sz="half" idx="10"/>
          </p:nvPr>
        </p:nvSpPr>
        <p:spPr/>
        <p:txBody>
          <a:bodyPr/>
          <a:lstStyle/>
          <a:p>
            <a:fld id="{F247663C-8C4F-41F6-8A14-5C6BBA9ECD39}" type="datetimeFigureOut">
              <a:rPr lang="en-IN" smtClean="0"/>
              <a:t>24-09-2025</a:t>
            </a:fld>
            <a:endParaRPr lang="en-IN"/>
          </a:p>
        </p:txBody>
      </p:sp>
      <p:sp>
        <p:nvSpPr>
          <p:cNvPr id="8" name="Footer Placeholder 7">
            <a:extLst>
              <a:ext uri="{FF2B5EF4-FFF2-40B4-BE49-F238E27FC236}">
                <a16:creationId xmlns:a16="http://schemas.microsoft.com/office/drawing/2014/main" id="{D1F6FEE4-CA9F-A4FF-0FAB-DB00BC8A548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54F25DB-9D87-0C5E-2AEA-06B810951737}"/>
              </a:ext>
            </a:extLst>
          </p:cNvPr>
          <p:cNvSpPr>
            <a:spLocks noGrp="1"/>
          </p:cNvSpPr>
          <p:nvPr>
            <p:ph type="sldNum" sz="quarter" idx="12"/>
          </p:nvPr>
        </p:nvSpPr>
        <p:spPr/>
        <p:txBody>
          <a:bodyPr/>
          <a:lstStyle/>
          <a:p>
            <a:fld id="{81B693AE-0D80-414D-88ED-80545A3B261B}" type="slidenum">
              <a:rPr lang="en-IN" smtClean="0"/>
              <a:t>‹#›</a:t>
            </a:fld>
            <a:endParaRPr lang="en-IN"/>
          </a:p>
        </p:txBody>
      </p:sp>
    </p:spTree>
    <p:extLst>
      <p:ext uri="{BB962C8B-B14F-4D97-AF65-F5344CB8AC3E}">
        <p14:creationId xmlns:p14="http://schemas.microsoft.com/office/powerpoint/2010/main" val="2379662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0FE30-F3D5-BA86-EA24-621AEF054FA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0D2B703-2A2D-FDD0-ED53-76886B525148}"/>
              </a:ext>
            </a:extLst>
          </p:cNvPr>
          <p:cNvSpPr>
            <a:spLocks noGrp="1"/>
          </p:cNvSpPr>
          <p:nvPr>
            <p:ph type="dt" sz="half" idx="10"/>
          </p:nvPr>
        </p:nvSpPr>
        <p:spPr/>
        <p:txBody>
          <a:bodyPr/>
          <a:lstStyle/>
          <a:p>
            <a:fld id="{F247663C-8C4F-41F6-8A14-5C6BBA9ECD39}" type="datetimeFigureOut">
              <a:rPr lang="en-IN" smtClean="0"/>
              <a:t>24-09-2025</a:t>
            </a:fld>
            <a:endParaRPr lang="en-IN"/>
          </a:p>
        </p:txBody>
      </p:sp>
      <p:sp>
        <p:nvSpPr>
          <p:cNvPr id="4" name="Footer Placeholder 3">
            <a:extLst>
              <a:ext uri="{FF2B5EF4-FFF2-40B4-BE49-F238E27FC236}">
                <a16:creationId xmlns:a16="http://schemas.microsoft.com/office/drawing/2014/main" id="{CBFBBBF0-560C-BE47-0EAB-88FBAB2D6D3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D07D781-E904-EE9A-7B54-231682AF1485}"/>
              </a:ext>
            </a:extLst>
          </p:cNvPr>
          <p:cNvSpPr>
            <a:spLocks noGrp="1"/>
          </p:cNvSpPr>
          <p:nvPr>
            <p:ph type="sldNum" sz="quarter" idx="12"/>
          </p:nvPr>
        </p:nvSpPr>
        <p:spPr/>
        <p:txBody>
          <a:bodyPr/>
          <a:lstStyle/>
          <a:p>
            <a:fld id="{81B693AE-0D80-414D-88ED-80545A3B261B}" type="slidenum">
              <a:rPr lang="en-IN" smtClean="0"/>
              <a:t>‹#›</a:t>
            </a:fld>
            <a:endParaRPr lang="en-IN"/>
          </a:p>
        </p:txBody>
      </p:sp>
    </p:spTree>
    <p:extLst>
      <p:ext uri="{BB962C8B-B14F-4D97-AF65-F5344CB8AC3E}">
        <p14:creationId xmlns:p14="http://schemas.microsoft.com/office/powerpoint/2010/main" val="23382955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7A5491-6F98-60AB-895F-080A7A196187}"/>
              </a:ext>
            </a:extLst>
          </p:cNvPr>
          <p:cNvSpPr>
            <a:spLocks noGrp="1"/>
          </p:cNvSpPr>
          <p:nvPr>
            <p:ph type="dt" sz="half" idx="10"/>
          </p:nvPr>
        </p:nvSpPr>
        <p:spPr/>
        <p:txBody>
          <a:bodyPr/>
          <a:lstStyle/>
          <a:p>
            <a:fld id="{F247663C-8C4F-41F6-8A14-5C6BBA9ECD39}" type="datetimeFigureOut">
              <a:rPr lang="en-IN" smtClean="0"/>
              <a:t>24-09-2025</a:t>
            </a:fld>
            <a:endParaRPr lang="en-IN"/>
          </a:p>
        </p:txBody>
      </p:sp>
      <p:sp>
        <p:nvSpPr>
          <p:cNvPr id="3" name="Footer Placeholder 2">
            <a:extLst>
              <a:ext uri="{FF2B5EF4-FFF2-40B4-BE49-F238E27FC236}">
                <a16:creationId xmlns:a16="http://schemas.microsoft.com/office/drawing/2014/main" id="{CD6D2462-CA42-9138-4BE4-0D67CD80236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6F792E1-628C-F63D-E5E1-2FC311F41E94}"/>
              </a:ext>
            </a:extLst>
          </p:cNvPr>
          <p:cNvSpPr>
            <a:spLocks noGrp="1"/>
          </p:cNvSpPr>
          <p:nvPr>
            <p:ph type="sldNum" sz="quarter" idx="12"/>
          </p:nvPr>
        </p:nvSpPr>
        <p:spPr/>
        <p:txBody>
          <a:bodyPr/>
          <a:lstStyle/>
          <a:p>
            <a:fld id="{81B693AE-0D80-414D-88ED-80545A3B261B}" type="slidenum">
              <a:rPr lang="en-IN" smtClean="0"/>
              <a:t>‹#›</a:t>
            </a:fld>
            <a:endParaRPr lang="en-IN"/>
          </a:p>
        </p:txBody>
      </p:sp>
    </p:spTree>
    <p:extLst>
      <p:ext uri="{BB962C8B-B14F-4D97-AF65-F5344CB8AC3E}">
        <p14:creationId xmlns:p14="http://schemas.microsoft.com/office/powerpoint/2010/main" val="21652918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3846E-8546-53C3-B64C-477A5E8CE8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495EE5C-B151-554A-E8A1-77F300B0DB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F4DFA1C-5784-0BF7-974F-3634B5EF5D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2E7C83-F72B-47E5-2B84-51E33D73CE1B}"/>
              </a:ext>
            </a:extLst>
          </p:cNvPr>
          <p:cNvSpPr>
            <a:spLocks noGrp="1"/>
          </p:cNvSpPr>
          <p:nvPr>
            <p:ph type="dt" sz="half" idx="10"/>
          </p:nvPr>
        </p:nvSpPr>
        <p:spPr/>
        <p:txBody>
          <a:bodyPr/>
          <a:lstStyle/>
          <a:p>
            <a:fld id="{F247663C-8C4F-41F6-8A14-5C6BBA9ECD39}" type="datetimeFigureOut">
              <a:rPr lang="en-IN" smtClean="0"/>
              <a:t>24-09-2025</a:t>
            </a:fld>
            <a:endParaRPr lang="en-IN"/>
          </a:p>
        </p:txBody>
      </p:sp>
      <p:sp>
        <p:nvSpPr>
          <p:cNvPr id="6" name="Footer Placeholder 5">
            <a:extLst>
              <a:ext uri="{FF2B5EF4-FFF2-40B4-BE49-F238E27FC236}">
                <a16:creationId xmlns:a16="http://schemas.microsoft.com/office/drawing/2014/main" id="{3C84C6DF-39EA-DD87-BB7D-C5B01B8AA75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669B4ED-B2F7-6184-AD63-28F33052F099}"/>
              </a:ext>
            </a:extLst>
          </p:cNvPr>
          <p:cNvSpPr>
            <a:spLocks noGrp="1"/>
          </p:cNvSpPr>
          <p:nvPr>
            <p:ph type="sldNum" sz="quarter" idx="12"/>
          </p:nvPr>
        </p:nvSpPr>
        <p:spPr/>
        <p:txBody>
          <a:bodyPr/>
          <a:lstStyle/>
          <a:p>
            <a:fld id="{81B693AE-0D80-414D-88ED-80545A3B261B}" type="slidenum">
              <a:rPr lang="en-IN" smtClean="0"/>
              <a:t>‹#›</a:t>
            </a:fld>
            <a:endParaRPr lang="en-IN"/>
          </a:p>
        </p:txBody>
      </p:sp>
    </p:spTree>
    <p:extLst>
      <p:ext uri="{BB962C8B-B14F-4D97-AF65-F5344CB8AC3E}">
        <p14:creationId xmlns:p14="http://schemas.microsoft.com/office/powerpoint/2010/main" val="37575472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8EA88-1F46-14D0-A0AB-19902A3242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8439A9E-EC3B-0753-4E29-876DD1B593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600A173-78C8-B071-86C8-CA5E93F177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AA184F-55C4-FD74-27BA-48584BE1E939}"/>
              </a:ext>
            </a:extLst>
          </p:cNvPr>
          <p:cNvSpPr>
            <a:spLocks noGrp="1"/>
          </p:cNvSpPr>
          <p:nvPr>
            <p:ph type="dt" sz="half" idx="10"/>
          </p:nvPr>
        </p:nvSpPr>
        <p:spPr/>
        <p:txBody>
          <a:bodyPr/>
          <a:lstStyle/>
          <a:p>
            <a:fld id="{F247663C-8C4F-41F6-8A14-5C6BBA9ECD39}" type="datetimeFigureOut">
              <a:rPr lang="en-IN" smtClean="0"/>
              <a:t>24-09-2025</a:t>
            </a:fld>
            <a:endParaRPr lang="en-IN"/>
          </a:p>
        </p:txBody>
      </p:sp>
      <p:sp>
        <p:nvSpPr>
          <p:cNvPr id="6" name="Footer Placeholder 5">
            <a:extLst>
              <a:ext uri="{FF2B5EF4-FFF2-40B4-BE49-F238E27FC236}">
                <a16:creationId xmlns:a16="http://schemas.microsoft.com/office/drawing/2014/main" id="{766A5C33-74A0-743A-199E-7FAD72FDF7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DE7184-2C43-D3FC-C723-A39AC6B19CB4}"/>
              </a:ext>
            </a:extLst>
          </p:cNvPr>
          <p:cNvSpPr>
            <a:spLocks noGrp="1"/>
          </p:cNvSpPr>
          <p:nvPr>
            <p:ph type="sldNum" sz="quarter" idx="12"/>
          </p:nvPr>
        </p:nvSpPr>
        <p:spPr/>
        <p:txBody>
          <a:bodyPr/>
          <a:lstStyle/>
          <a:p>
            <a:fld id="{81B693AE-0D80-414D-88ED-80545A3B261B}" type="slidenum">
              <a:rPr lang="en-IN" smtClean="0"/>
              <a:t>‹#›</a:t>
            </a:fld>
            <a:endParaRPr lang="en-IN"/>
          </a:p>
        </p:txBody>
      </p:sp>
    </p:spTree>
    <p:extLst>
      <p:ext uri="{BB962C8B-B14F-4D97-AF65-F5344CB8AC3E}">
        <p14:creationId xmlns:p14="http://schemas.microsoft.com/office/powerpoint/2010/main" val="16165801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201C5-BC11-FFFD-524F-616AAA7B4CC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D0AEBC6-C468-65A1-192B-891BA00266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5B88A9-DE68-180E-BA24-63B624622EF5}"/>
              </a:ext>
            </a:extLst>
          </p:cNvPr>
          <p:cNvSpPr>
            <a:spLocks noGrp="1"/>
          </p:cNvSpPr>
          <p:nvPr>
            <p:ph type="dt" sz="half" idx="10"/>
          </p:nvPr>
        </p:nvSpPr>
        <p:spPr/>
        <p:txBody>
          <a:bodyPr/>
          <a:lstStyle/>
          <a:p>
            <a:fld id="{F247663C-8C4F-41F6-8A14-5C6BBA9ECD39}" type="datetimeFigureOut">
              <a:rPr lang="en-IN" smtClean="0"/>
              <a:t>24-09-2025</a:t>
            </a:fld>
            <a:endParaRPr lang="en-IN"/>
          </a:p>
        </p:txBody>
      </p:sp>
      <p:sp>
        <p:nvSpPr>
          <p:cNvPr id="5" name="Footer Placeholder 4">
            <a:extLst>
              <a:ext uri="{FF2B5EF4-FFF2-40B4-BE49-F238E27FC236}">
                <a16:creationId xmlns:a16="http://schemas.microsoft.com/office/drawing/2014/main" id="{00356274-EEDC-6256-7E78-2FFFFD94F5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CF821A-90CB-3716-8E1A-C2ACE7472D27}"/>
              </a:ext>
            </a:extLst>
          </p:cNvPr>
          <p:cNvSpPr>
            <a:spLocks noGrp="1"/>
          </p:cNvSpPr>
          <p:nvPr>
            <p:ph type="sldNum" sz="quarter" idx="12"/>
          </p:nvPr>
        </p:nvSpPr>
        <p:spPr/>
        <p:txBody>
          <a:bodyPr/>
          <a:lstStyle/>
          <a:p>
            <a:fld id="{81B693AE-0D80-414D-88ED-80545A3B261B}" type="slidenum">
              <a:rPr lang="en-IN" smtClean="0"/>
              <a:t>‹#›</a:t>
            </a:fld>
            <a:endParaRPr lang="en-IN"/>
          </a:p>
        </p:txBody>
      </p:sp>
    </p:spTree>
    <p:extLst>
      <p:ext uri="{BB962C8B-B14F-4D97-AF65-F5344CB8AC3E}">
        <p14:creationId xmlns:p14="http://schemas.microsoft.com/office/powerpoint/2010/main" val="2255754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CD06D8-47D5-0996-B6D3-3D010F409D7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2491E0-16DC-45E8-DCC4-D93ABC21E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BB3BB7-8B06-C983-DB4B-44FEA19DB1F3}"/>
              </a:ext>
            </a:extLst>
          </p:cNvPr>
          <p:cNvSpPr>
            <a:spLocks noGrp="1"/>
          </p:cNvSpPr>
          <p:nvPr>
            <p:ph type="dt" sz="half" idx="10"/>
          </p:nvPr>
        </p:nvSpPr>
        <p:spPr/>
        <p:txBody>
          <a:bodyPr/>
          <a:lstStyle/>
          <a:p>
            <a:fld id="{F247663C-8C4F-41F6-8A14-5C6BBA9ECD39}" type="datetimeFigureOut">
              <a:rPr lang="en-IN" smtClean="0"/>
              <a:t>24-09-2025</a:t>
            </a:fld>
            <a:endParaRPr lang="en-IN"/>
          </a:p>
        </p:txBody>
      </p:sp>
      <p:sp>
        <p:nvSpPr>
          <p:cNvPr id="5" name="Footer Placeholder 4">
            <a:extLst>
              <a:ext uri="{FF2B5EF4-FFF2-40B4-BE49-F238E27FC236}">
                <a16:creationId xmlns:a16="http://schemas.microsoft.com/office/drawing/2014/main" id="{FAF6C4A7-6C77-7D1B-26DC-9D6B88AB81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387045-C292-F0EC-4F92-719075FF7647}"/>
              </a:ext>
            </a:extLst>
          </p:cNvPr>
          <p:cNvSpPr>
            <a:spLocks noGrp="1"/>
          </p:cNvSpPr>
          <p:nvPr>
            <p:ph type="sldNum" sz="quarter" idx="12"/>
          </p:nvPr>
        </p:nvSpPr>
        <p:spPr/>
        <p:txBody>
          <a:bodyPr/>
          <a:lstStyle/>
          <a:p>
            <a:fld id="{81B693AE-0D80-414D-88ED-80545A3B261B}" type="slidenum">
              <a:rPr lang="en-IN" smtClean="0"/>
              <a:t>‹#›</a:t>
            </a:fld>
            <a:endParaRPr lang="en-IN"/>
          </a:p>
        </p:txBody>
      </p:sp>
    </p:spTree>
    <p:extLst>
      <p:ext uri="{BB962C8B-B14F-4D97-AF65-F5344CB8AC3E}">
        <p14:creationId xmlns:p14="http://schemas.microsoft.com/office/powerpoint/2010/main" val="6645259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128BEE-BDA2-0F37-1D16-368E9D3C0F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2EDFA69-6274-57D0-47FA-D6B9555F08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AE1D03-4DA6-D3E6-D337-210E6488B2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47663C-8C4F-41F6-8A14-5C6BBA9ECD39}" type="datetimeFigureOut">
              <a:rPr lang="en-IN" smtClean="0"/>
              <a:t>24-09-2025</a:t>
            </a:fld>
            <a:endParaRPr lang="en-IN"/>
          </a:p>
        </p:txBody>
      </p:sp>
      <p:sp>
        <p:nvSpPr>
          <p:cNvPr id="5" name="Footer Placeholder 4">
            <a:extLst>
              <a:ext uri="{FF2B5EF4-FFF2-40B4-BE49-F238E27FC236}">
                <a16:creationId xmlns:a16="http://schemas.microsoft.com/office/drawing/2014/main" id="{7F5CAE95-44EC-7F93-FC77-2C2AA1F6C8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DAD8D51-5199-7519-9D87-947573D686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693AE-0D80-414D-88ED-80545A3B261B}" type="slidenum">
              <a:rPr lang="en-IN" smtClean="0"/>
              <a:t>‹#›</a:t>
            </a:fld>
            <a:endParaRPr lang="en-IN"/>
          </a:p>
        </p:txBody>
      </p:sp>
    </p:spTree>
    <p:extLst>
      <p:ext uri="{BB962C8B-B14F-4D97-AF65-F5344CB8AC3E}">
        <p14:creationId xmlns:p14="http://schemas.microsoft.com/office/powerpoint/2010/main" val="19484757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4AC1A-8BCE-C07E-F752-B56C663565EC}"/>
              </a:ext>
            </a:extLst>
          </p:cNvPr>
          <p:cNvSpPr>
            <a:spLocks noGrp="1"/>
          </p:cNvSpPr>
          <p:nvPr>
            <p:ph type="title"/>
          </p:nvPr>
        </p:nvSpPr>
        <p:spPr/>
        <p:txBody>
          <a:bodyPr>
            <a:normAutofit/>
          </a:bodyPr>
          <a:lstStyle/>
          <a:p>
            <a:r>
              <a:rPr lang="en" dirty="0"/>
              <a:t>Common circuits based on sequential storage devices</a:t>
            </a:r>
            <a:endParaRPr lang="en-IN" dirty="0"/>
          </a:p>
        </p:txBody>
      </p:sp>
      <p:sp>
        <p:nvSpPr>
          <p:cNvPr id="3" name="Content Placeholder 2">
            <a:extLst>
              <a:ext uri="{FF2B5EF4-FFF2-40B4-BE49-F238E27FC236}">
                <a16:creationId xmlns:a16="http://schemas.microsoft.com/office/drawing/2014/main" id="{CE8C22B4-82A8-89EF-CA2D-36838AE2B40A}"/>
              </a:ext>
            </a:extLst>
          </p:cNvPr>
          <p:cNvSpPr>
            <a:spLocks noGrp="1"/>
          </p:cNvSpPr>
          <p:nvPr>
            <p:ph idx="1"/>
          </p:nvPr>
        </p:nvSpPr>
        <p:spPr/>
        <p:txBody>
          <a:bodyPr/>
          <a:lstStyle/>
          <a:p>
            <a:r>
              <a:rPr lang="en-US" dirty="0"/>
              <a:t>Sequential logic storage devices give us the ability to create sophisticated circuits that can make decisions based on the current and past values of the inputs</a:t>
            </a:r>
          </a:p>
          <a:p>
            <a:r>
              <a:rPr lang="en-US" dirty="0"/>
              <a:t>Simple circuits that can be created with only these storage devices. </a:t>
            </a:r>
          </a:p>
          <a:p>
            <a:pPr lvl="1"/>
            <a:r>
              <a:rPr lang="en-IN" b="1" dirty="0"/>
              <a:t>Toggle Flop Clock Divider</a:t>
            </a:r>
          </a:p>
          <a:p>
            <a:pPr lvl="1"/>
            <a:r>
              <a:rPr lang="en-IN" b="1" dirty="0"/>
              <a:t>Ripple Counter</a:t>
            </a:r>
          </a:p>
          <a:p>
            <a:pPr lvl="1"/>
            <a:r>
              <a:rPr lang="en-IN" b="1" dirty="0"/>
              <a:t>S</a:t>
            </a:r>
            <a:r>
              <a:rPr lang="en" b="1" dirty="0"/>
              <a:t>hift register</a:t>
            </a:r>
          </a:p>
          <a:p>
            <a:pPr lvl="1"/>
            <a:endParaRPr lang="en-IN" b="1" dirty="0"/>
          </a:p>
        </p:txBody>
      </p:sp>
    </p:spTree>
    <p:extLst>
      <p:ext uri="{BB962C8B-B14F-4D97-AF65-F5344CB8AC3E}">
        <p14:creationId xmlns:p14="http://schemas.microsoft.com/office/powerpoint/2010/main" val="2226010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A2E90-6B93-F3EB-BA6A-C0AC87B79BD1}"/>
              </a:ext>
            </a:extLst>
          </p:cNvPr>
          <p:cNvSpPr>
            <a:spLocks noGrp="1"/>
          </p:cNvSpPr>
          <p:nvPr>
            <p:ph type="title"/>
          </p:nvPr>
        </p:nvSpPr>
        <p:spPr/>
        <p:txBody>
          <a:bodyPr>
            <a:normAutofit/>
          </a:bodyPr>
          <a:lstStyle/>
          <a:p>
            <a:r>
              <a:rPr lang="en" dirty="0"/>
              <a:t>Toggle flop clock divider</a:t>
            </a:r>
            <a:endParaRPr lang="en-IN" dirty="0"/>
          </a:p>
        </p:txBody>
      </p:sp>
      <p:sp>
        <p:nvSpPr>
          <p:cNvPr id="3" name="Content Placeholder 2">
            <a:extLst>
              <a:ext uri="{FF2B5EF4-FFF2-40B4-BE49-F238E27FC236}">
                <a16:creationId xmlns:a16="http://schemas.microsoft.com/office/drawing/2014/main" id="{8B5C27DC-5420-5D15-35DA-8372F0571216}"/>
              </a:ext>
            </a:extLst>
          </p:cNvPr>
          <p:cNvSpPr>
            <a:spLocks noGrp="1"/>
          </p:cNvSpPr>
          <p:nvPr>
            <p:ph idx="1"/>
          </p:nvPr>
        </p:nvSpPr>
        <p:spPr/>
        <p:txBody>
          <a:bodyPr>
            <a:normAutofit fontScale="92500" lnSpcReduction="10000"/>
          </a:bodyPr>
          <a:lstStyle/>
          <a:p>
            <a:r>
              <a:rPr lang="en-US" dirty="0"/>
              <a:t>A Toggle Flop is a circuit that contains a D-Flip-Flop configured with its Qn output wired back to its D input. </a:t>
            </a:r>
          </a:p>
          <a:p>
            <a:r>
              <a:rPr lang="en-US" dirty="0"/>
              <a:t>This configuration is also commonly referred to as a T Flip- Flop or T-Flop. </a:t>
            </a:r>
          </a:p>
          <a:p>
            <a:r>
              <a:rPr lang="en-US" dirty="0"/>
              <a:t>In this circuit, the only input is the clock signal. </a:t>
            </a:r>
          </a:p>
          <a:p>
            <a:r>
              <a:rPr lang="en-US" dirty="0"/>
              <a:t>Let’s examine the behavior of this circuit when its outputs are initialized to Q = 0, Qn = 1. </a:t>
            </a:r>
          </a:p>
          <a:p>
            <a:r>
              <a:rPr lang="en-US" dirty="0"/>
              <a:t>Since Qn is wired to the D input, a logic 1 is present on the input before the first clock edge. </a:t>
            </a:r>
          </a:p>
          <a:p>
            <a:r>
              <a:rPr lang="en-US" dirty="0"/>
              <a:t>Upon a rising edge of the clock, Q is updated with the value of D. </a:t>
            </a:r>
          </a:p>
          <a:p>
            <a:r>
              <a:rPr lang="en-US" dirty="0"/>
              <a:t>This puts the outputs at Q = 1, Qn = 0. </a:t>
            </a:r>
          </a:p>
        </p:txBody>
      </p:sp>
    </p:spTree>
    <p:extLst>
      <p:ext uri="{BB962C8B-B14F-4D97-AF65-F5344CB8AC3E}">
        <p14:creationId xmlns:p14="http://schemas.microsoft.com/office/powerpoint/2010/main" val="870971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A2E90-6B93-F3EB-BA6A-C0AC87B79BD1}"/>
              </a:ext>
            </a:extLst>
          </p:cNvPr>
          <p:cNvSpPr>
            <a:spLocks noGrp="1"/>
          </p:cNvSpPr>
          <p:nvPr>
            <p:ph type="title"/>
          </p:nvPr>
        </p:nvSpPr>
        <p:spPr/>
        <p:txBody>
          <a:bodyPr>
            <a:normAutofit/>
          </a:bodyPr>
          <a:lstStyle/>
          <a:p>
            <a:r>
              <a:rPr lang="en" dirty="0"/>
              <a:t>Toggle flop clock divider</a:t>
            </a:r>
            <a:endParaRPr lang="en-IN" dirty="0"/>
          </a:p>
        </p:txBody>
      </p:sp>
      <p:sp>
        <p:nvSpPr>
          <p:cNvPr id="3" name="Content Placeholder 2">
            <a:extLst>
              <a:ext uri="{FF2B5EF4-FFF2-40B4-BE49-F238E27FC236}">
                <a16:creationId xmlns:a16="http://schemas.microsoft.com/office/drawing/2014/main" id="{8B5C27DC-5420-5D15-35DA-8372F0571216}"/>
              </a:ext>
            </a:extLst>
          </p:cNvPr>
          <p:cNvSpPr>
            <a:spLocks noGrp="1"/>
          </p:cNvSpPr>
          <p:nvPr>
            <p:ph idx="1"/>
          </p:nvPr>
        </p:nvSpPr>
        <p:spPr/>
        <p:txBody>
          <a:bodyPr>
            <a:normAutofit fontScale="85000" lnSpcReduction="20000"/>
          </a:bodyPr>
          <a:lstStyle/>
          <a:p>
            <a:r>
              <a:rPr lang="en-US" dirty="0"/>
              <a:t>With these outputs, now a logic 0 is present on the input before the next clock edge. </a:t>
            </a:r>
          </a:p>
          <a:p>
            <a:r>
              <a:rPr lang="en-US" dirty="0"/>
              <a:t>Upon the next rising edge of the clock, Q is updated with the value of D. </a:t>
            </a:r>
          </a:p>
          <a:p>
            <a:r>
              <a:rPr lang="en-US" dirty="0"/>
              <a:t>This time the outputs go to Q = 0, Qn = 1. </a:t>
            </a:r>
          </a:p>
          <a:p>
            <a:r>
              <a:rPr lang="en-US" dirty="0"/>
              <a:t>This behavior continues indefinitely. </a:t>
            </a:r>
          </a:p>
          <a:p>
            <a:r>
              <a:rPr lang="en-US" dirty="0"/>
              <a:t>The circuit is called a toggle flop because the outputs simply toggle between a 0 and 1 every time there is a rising edge of the clock. </a:t>
            </a:r>
          </a:p>
          <a:p>
            <a:r>
              <a:rPr lang="en-US" dirty="0"/>
              <a:t>This configuration produces outputs that are square waves with exactly half the frequency of the incoming clock. </a:t>
            </a:r>
          </a:p>
          <a:p>
            <a:r>
              <a:rPr lang="en-US" dirty="0"/>
              <a:t>As a result, this circuit is also called a clock divider. </a:t>
            </a:r>
          </a:p>
          <a:p>
            <a:r>
              <a:rPr lang="en-US" dirty="0"/>
              <a:t>This circuit can be given its own symbol with a label of “T” indicating it is a toggle flop.</a:t>
            </a:r>
            <a:endParaRPr lang="en-IN" dirty="0"/>
          </a:p>
        </p:txBody>
      </p:sp>
    </p:spTree>
    <p:extLst>
      <p:ext uri="{BB962C8B-B14F-4D97-AF65-F5344CB8AC3E}">
        <p14:creationId xmlns:p14="http://schemas.microsoft.com/office/powerpoint/2010/main" val="21404767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28BCD55-EE77-75E4-63C0-C8213A18D9E9}"/>
              </a:ext>
            </a:extLst>
          </p:cNvPr>
          <p:cNvPicPr>
            <a:picLocks noChangeAspect="1"/>
          </p:cNvPicPr>
          <p:nvPr/>
        </p:nvPicPr>
        <p:blipFill>
          <a:blip r:embed="rId2"/>
          <a:stretch>
            <a:fillRect/>
          </a:stretch>
        </p:blipFill>
        <p:spPr>
          <a:xfrm>
            <a:off x="1358984" y="0"/>
            <a:ext cx="9474032" cy="6858000"/>
          </a:xfrm>
          <a:prstGeom prst="rect">
            <a:avLst/>
          </a:prstGeom>
        </p:spPr>
      </p:pic>
    </p:spTree>
    <p:extLst>
      <p:ext uri="{BB962C8B-B14F-4D97-AF65-F5344CB8AC3E}">
        <p14:creationId xmlns:p14="http://schemas.microsoft.com/office/powerpoint/2010/main" val="3523592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D1C84-446B-DA7F-6A3A-E027046FA5D3}"/>
              </a:ext>
            </a:extLst>
          </p:cNvPr>
          <p:cNvSpPr>
            <a:spLocks noGrp="1"/>
          </p:cNvSpPr>
          <p:nvPr>
            <p:ph type="title"/>
          </p:nvPr>
        </p:nvSpPr>
        <p:spPr>
          <a:xfrm>
            <a:off x="838200" y="168965"/>
            <a:ext cx="10515600" cy="983975"/>
          </a:xfrm>
        </p:spPr>
        <p:txBody>
          <a:bodyPr/>
          <a:lstStyle/>
          <a:p>
            <a:r>
              <a:rPr lang="en" dirty="0"/>
              <a:t>Asynchronous ripple counter</a:t>
            </a:r>
            <a:endParaRPr lang="en-IN" dirty="0"/>
          </a:p>
        </p:txBody>
      </p:sp>
      <p:sp>
        <p:nvSpPr>
          <p:cNvPr id="3" name="Content Placeholder 2">
            <a:extLst>
              <a:ext uri="{FF2B5EF4-FFF2-40B4-BE49-F238E27FC236}">
                <a16:creationId xmlns:a16="http://schemas.microsoft.com/office/drawing/2014/main" id="{AE3BBC53-C474-AC4B-D3A6-652CED074124}"/>
              </a:ext>
            </a:extLst>
          </p:cNvPr>
          <p:cNvSpPr>
            <a:spLocks noGrp="1"/>
          </p:cNvSpPr>
          <p:nvPr>
            <p:ph idx="1"/>
          </p:nvPr>
        </p:nvSpPr>
        <p:spPr>
          <a:xfrm>
            <a:off x="838200" y="1152940"/>
            <a:ext cx="10515600" cy="5536095"/>
          </a:xfrm>
        </p:spPr>
        <p:txBody>
          <a:bodyPr>
            <a:normAutofit lnSpcReduction="10000"/>
          </a:bodyPr>
          <a:lstStyle/>
          <a:p>
            <a:r>
              <a:rPr lang="en-US" sz="2400" dirty="0"/>
              <a:t>The toggle flop configuration can be used to create a simple binary counter called a ripple counter. </a:t>
            </a:r>
          </a:p>
          <a:p>
            <a:r>
              <a:rPr lang="en-US" sz="2400" dirty="0"/>
              <a:t>In this configuration, the Qn output of a toggle flop is used as the clock for a subsequent toggle flop. </a:t>
            </a:r>
          </a:p>
          <a:p>
            <a:r>
              <a:rPr lang="en-US" sz="2400" dirty="0"/>
              <a:t>Since the output of the first toggle flop is a square wave that is ½ the frequency of the incoming clock, this configuration will produce an output on the second toggle flop that is ¼ the frequency of the incoming clock. </a:t>
            </a:r>
          </a:p>
          <a:p>
            <a:r>
              <a:rPr lang="en-US" sz="2400" dirty="0"/>
              <a:t>This is by nature the behavior of a binary counter. </a:t>
            </a:r>
          </a:p>
          <a:p>
            <a:r>
              <a:rPr lang="en-US" sz="2400" dirty="0"/>
              <a:t>The output of this counter is present on the Q pins of each toggle flop. </a:t>
            </a:r>
          </a:p>
          <a:p>
            <a:r>
              <a:rPr lang="en-US" sz="2400" dirty="0"/>
              <a:t>Toggle flops are added until the desired width of the counter is achieved with each toggle flop representing one bit of the counter. </a:t>
            </a:r>
          </a:p>
          <a:p>
            <a:r>
              <a:rPr lang="en-US" sz="2400" dirty="0"/>
              <a:t>Since each toggle flop produces the clock for the subsequent latch, the clock is said to ripple through the circuit, hence the name ripple counter.</a:t>
            </a:r>
          </a:p>
          <a:p>
            <a:r>
              <a:rPr lang="en-US" sz="2400" dirty="0"/>
              <a:t>The clock input of all flops is not the same or the flops are not in sync with each other. So, it is also called asynchronous</a:t>
            </a:r>
            <a:endParaRPr lang="en-IN" sz="2400" dirty="0"/>
          </a:p>
        </p:txBody>
      </p:sp>
    </p:spTree>
    <p:extLst>
      <p:ext uri="{BB962C8B-B14F-4D97-AF65-F5344CB8AC3E}">
        <p14:creationId xmlns:p14="http://schemas.microsoft.com/office/powerpoint/2010/main" val="16626860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AE54FD-24EF-0BEB-C5E6-FEF7AE80845D}"/>
              </a:ext>
            </a:extLst>
          </p:cNvPr>
          <p:cNvPicPr>
            <a:picLocks noChangeAspect="1"/>
          </p:cNvPicPr>
          <p:nvPr/>
        </p:nvPicPr>
        <p:blipFill>
          <a:blip r:embed="rId2"/>
          <a:stretch>
            <a:fillRect/>
          </a:stretch>
        </p:blipFill>
        <p:spPr>
          <a:xfrm>
            <a:off x="1083365" y="0"/>
            <a:ext cx="9859617" cy="6858000"/>
          </a:xfrm>
          <a:prstGeom prst="rect">
            <a:avLst/>
          </a:prstGeom>
        </p:spPr>
      </p:pic>
    </p:spTree>
    <p:extLst>
      <p:ext uri="{BB962C8B-B14F-4D97-AF65-F5344CB8AC3E}">
        <p14:creationId xmlns:p14="http://schemas.microsoft.com/office/powerpoint/2010/main" val="41163397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52A43-4AE8-ECE4-D609-29653A70E35D}"/>
              </a:ext>
            </a:extLst>
          </p:cNvPr>
          <p:cNvSpPr>
            <a:spLocks noGrp="1"/>
          </p:cNvSpPr>
          <p:nvPr>
            <p:ph type="title"/>
          </p:nvPr>
        </p:nvSpPr>
        <p:spPr>
          <a:xfrm>
            <a:off x="838200" y="365125"/>
            <a:ext cx="10515600" cy="1115805"/>
          </a:xfrm>
        </p:spPr>
        <p:txBody>
          <a:bodyPr/>
          <a:lstStyle/>
          <a:p>
            <a:r>
              <a:rPr lang="en" dirty="0"/>
              <a:t>Shift register</a:t>
            </a:r>
            <a:endParaRPr lang="en-IN" dirty="0"/>
          </a:p>
        </p:txBody>
      </p:sp>
      <p:sp>
        <p:nvSpPr>
          <p:cNvPr id="3" name="Content Placeholder 2">
            <a:extLst>
              <a:ext uri="{FF2B5EF4-FFF2-40B4-BE49-F238E27FC236}">
                <a16:creationId xmlns:a16="http://schemas.microsoft.com/office/drawing/2014/main" id="{47FA0220-D3B9-D527-D1CA-8FB48F05292A}"/>
              </a:ext>
            </a:extLst>
          </p:cNvPr>
          <p:cNvSpPr>
            <a:spLocks noGrp="1"/>
          </p:cNvSpPr>
          <p:nvPr>
            <p:ph idx="1"/>
          </p:nvPr>
        </p:nvSpPr>
        <p:spPr/>
        <p:txBody>
          <a:bodyPr>
            <a:noAutofit/>
          </a:bodyPr>
          <a:lstStyle/>
          <a:p>
            <a:r>
              <a:rPr lang="en-US" sz="2400" dirty="0"/>
              <a:t>A shift register is a chain of D-Flip-Flops that are each connected to a common clock. </a:t>
            </a:r>
          </a:p>
          <a:p>
            <a:r>
              <a:rPr lang="en-US" sz="2400" dirty="0"/>
              <a:t>The output of the first D-Flip-Flop is connected to the input of the second D Flip-Flop. </a:t>
            </a:r>
          </a:p>
          <a:p>
            <a:r>
              <a:rPr lang="en-US" sz="2400" dirty="0"/>
              <a:t>The output of the second D-Flip-Flop is connected to the input of the third D-Flip-Flop, and so on. </a:t>
            </a:r>
          </a:p>
          <a:p>
            <a:r>
              <a:rPr lang="en-US" sz="2400" dirty="0"/>
              <a:t>When data is present on the input to the first D-Flip-Flop, it will be latched upon the first rising edge of the clock. </a:t>
            </a:r>
          </a:p>
          <a:p>
            <a:r>
              <a:rPr lang="en-US" sz="2400" dirty="0"/>
              <a:t>On the second rising edge of the clock, the same data will be latched into the second D-Flip-Flop. </a:t>
            </a:r>
          </a:p>
          <a:p>
            <a:endParaRPr lang="en-IN" sz="2400" dirty="0"/>
          </a:p>
        </p:txBody>
      </p:sp>
    </p:spTree>
    <p:extLst>
      <p:ext uri="{BB962C8B-B14F-4D97-AF65-F5344CB8AC3E}">
        <p14:creationId xmlns:p14="http://schemas.microsoft.com/office/powerpoint/2010/main" val="772346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C2FAC-A86E-C71C-9FCA-A79C974A1B0A}"/>
              </a:ext>
            </a:extLst>
          </p:cNvPr>
          <p:cNvSpPr>
            <a:spLocks noGrp="1"/>
          </p:cNvSpPr>
          <p:nvPr>
            <p:ph type="title"/>
          </p:nvPr>
        </p:nvSpPr>
        <p:spPr/>
        <p:txBody>
          <a:bodyPr/>
          <a:lstStyle/>
          <a:p>
            <a:r>
              <a:rPr lang="en" dirty="0"/>
              <a:t>Shift register</a:t>
            </a:r>
            <a:endParaRPr lang="en-IN" dirty="0"/>
          </a:p>
        </p:txBody>
      </p:sp>
      <p:sp>
        <p:nvSpPr>
          <p:cNvPr id="3" name="Content Placeholder 2">
            <a:extLst>
              <a:ext uri="{FF2B5EF4-FFF2-40B4-BE49-F238E27FC236}">
                <a16:creationId xmlns:a16="http://schemas.microsoft.com/office/drawing/2014/main" id="{5DC2B614-7F54-5AC2-8678-1B251E7E4ED3}"/>
              </a:ext>
            </a:extLst>
          </p:cNvPr>
          <p:cNvSpPr>
            <a:spLocks noGrp="1"/>
          </p:cNvSpPr>
          <p:nvPr>
            <p:ph idx="1"/>
          </p:nvPr>
        </p:nvSpPr>
        <p:spPr/>
        <p:txBody>
          <a:bodyPr/>
          <a:lstStyle/>
          <a:p>
            <a:r>
              <a:rPr lang="en-US" dirty="0"/>
              <a:t>This continues on each rising edge of the clock until the data has been shifted entirely through the chain of D-Flip-Flops. </a:t>
            </a:r>
          </a:p>
          <a:p>
            <a:r>
              <a:rPr lang="en-US" dirty="0"/>
              <a:t>Shift registers are commonly used to convert a serial string of data into a parallel format. </a:t>
            </a:r>
          </a:p>
          <a:p>
            <a:r>
              <a:rPr lang="en-US" dirty="0"/>
              <a:t>If an n-bit, serial sequence of information is clocked into the shift register, after n clocks the data will be held on each of the D-Flip-Flop outputs. </a:t>
            </a:r>
          </a:p>
          <a:p>
            <a:r>
              <a:rPr lang="en-US"/>
              <a:t>At this moment, the n-bits can be read as a parallel value.</a:t>
            </a:r>
            <a:endParaRPr lang="en-IN"/>
          </a:p>
        </p:txBody>
      </p:sp>
    </p:spTree>
    <p:extLst>
      <p:ext uri="{BB962C8B-B14F-4D97-AF65-F5344CB8AC3E}">
        <p14:creationId xmlns:p14="http://schemas.microsoft.com/office/powerpoint/2010/main" val="10218876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235964C-85E1-D3E2-181E-CEAA8C66854D}"/>
              </a:ext>
            </a:extLst>
          </p:cNvPr>
          <p:cNvPicPr>
            <a:picLocks noChangeAspect="1"/>
          </p:cNvPicPr>
          <p:nvPr/>
        </p:nvPicPr>
        <p:blipFill>
          <a:blip r:embed="rId2"/>
          <a:stretch>
            <a:fillRect/>
          </a:stretch>
        </p:blipFill>
        <p:spPr>
          <a:xfrm>
            <a:off x="815009" y="0"/>
            <a:ext cx="10624929" cy="6858000"/>
          </a:xfrm>
          <a:prstGeom prst="rect">
            <a:avLst/>
          </a:prstGeom>
        </p:spPr>
      </p:pic>
    </p:spTree>
    <p:extLst>
      <p:ext uri="{BB962C8B-B14F-4D97-AF65-F5344CB8AC3E}">
        <p14:creationId xmlns:p14="http://schemas.microsoft.com/office/powerpoint/2010/main" val="13026937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CEE5EC0-0F55-9917-DE97-5EDBDEC23FF0}"/>
              </a:ext>
            </a:extLst>
          </p:cNvPr>
          <p:cNvSpPr>
            <a:spLocks noGrp="1"/>
          </p:cNvSpPr>
          <p:nvPr>
            <p:ph type="title"/>
          </p:nvPr>
        </p:nvSpPr>
        <p:spPr/>
        <p:txBody>
          <a:bodyPr/>
          <a:lstStyle/>
          <a:p>
            <a:r>
              <a:rPr lang="en-US" dirty="0"/>
              <a:t>Basic data movement in shift registers</a:t>
            </a:r>
            <a:endParaRPr lang="en-IN" dirty="0"/>
          </a:p>
        </p:txBody>
      </p:sp>
      <p:pic>
        <p:nvPicPr>
          <p:cNvPr id="8" name="Content Placeholder 7">
            <a:extLst>
              <a:ext uri="{FF2B5EF4-FFF2-40B4-BE49-F238E27FC236}">
                <a16:creationId xmlns:a16="http://schemas.microsoft.com/office/drawing/2014/main" id="{F31FDBC4-F8AE-660D-C409-53B4FAA9BDE0}"/>
              </a:ext>
            </a:extLst>
          </p:cNvPr>
          <p:cNvPicPr>
            <a:picLocks noGrp="1" noChangeAspect="1"/>
          </p:cNvPicPr>
          <p:nvPr>
            <p:ph idx="1"/>
          </p:nvPr>
        </p:nvPicPr>
        <p:blipFill>
          <a:blip r:embed="rId2"/>
          <a:stretch>
            <a:fillRect/>
          </a:stretch>
        </p:blipFill>
        <p:spPr>
          <a:xfrm>
            <a:off x="954386" y="1921283"/>
            <a:ext cx="10515599" cy="4181343"/>
          </a:xfrm>
          <a:prstGeom prst="rect">
            <a:avLst/>
          </a:prstGeom>
        </p:spPr>
      </p:pic>
    </p:spTree>
    <p:extLst>
      <p:ext uri="{BB962C8B-B14F-4D97-AF65-F5344CB8AC3E}">
        <p14:creationId xmlns:p14="http://schemas.microsoft.com/office/powerpoint/2010/main" val="35449256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D7C51-82F4-A239-BE04-2AA4317142C6}"/>
              </a:ext>
            </a:extLst>
          </p:cNvPr>
          <p:cNvSpPr>
            <a:spLocks noGrp="1"/>
          </p:cNvSpPr>
          <p:nvPr>
            <p:ph type="title"/>
          </p:nvPr>
        </p:nvSpPr>
        <p:spPr/>
        <p:txBody>
          <a:bodyPr/>
          <a:lstStyle/>
          <a:p>
            <a:r>
              <a:rPr lang="en-US" dirty="0"/>
              <a:t>Serial In/Serial Out Shift Registers</a:t>
            </a:r>
            <a:endParaRPr lang="en-IN" dirty="0"/>
          </a:p>
        </p:txBody>
      </p:sp>
      <p:pic>
        <p:nvPicPr>
          <p:cNvPr id="5" name="Content Placeholder 4">
            <a:extLst>
              <a:ext uri="{FF2B5EF4-FFF2-40B4-BE49-F238E27FC236}">
                <a16:creationId xmlns:a16="http://schemas.microsoft.com/office/drawing/2014/main" id="{BDDB1BD6-11F3-B570-2F20-C57755550A8E}"/>
              </a:ext>
            </a:extLst>
          </p:cNvPr>
          <p:cNvPicPr>
            <a:picLocks noGrp="1" noChangeAspect="1"/>
          </p:cNvPicPr>
          <p:nvPr>
            <p:ph idx="1"/>
          </p:nvPr>
        </p:nvPicPr>
        <p:blipFill>
          <a:blip r:embed="rId2"/>
          <a:stretch>
            <a:fillRect/>
          </a:stretch>
        </p:blipFill>
        <p:spPr>
          <a:xfrm>
            <a:off x="1107348" y="1690688"/>
            <a:ext cx="6458851" cy="2791860"/>
          </a:xfrm>
          <a:prstGeom prst="rect">
            <a:avLst/>
          </a:prstGeom>
        </p:spPr>
      </p:pic>
      <p:sp>
        <p:nvSpPr>
          <p:cNvPr id="4" name="TextBox 3">
            <a:extLst>
              <a:ext uri="{FF2B5EF4-FFF2-40B4-BE49-F238E27FC236}">
                <a16:creationId xmlns:a16="http://schemas.microsoft.com/office/drawing/2014/main" id="{E97D6283-C3FE-9565-1D4E-747C01F649F3}"/>
              </a:ext>
            </a:extLst>
          </p:cNvPr>
          <p:cNvSpPr txBox="1"/>
          <p:nvPr/>
        </p:nvSpPr>
        <p:spPr>
          <a:xfrm>
            <a:off x="1107348" y="5112043"/>
            <a:ext cx="10515600" cy="1323439"/>
          </a:xfrm>
          <a:prstGeom prst="rect">
            <a:avLst/>
          </a:prstGeom>
          <a:noFill/>
        </p:spPr>
        <p:txBody>
          <a:bodyPr wrap="square">
            <a:spAutoFit/>
          </a:bodyPr>
          <a:lstStyle/>
          <a:p>
            <a:pPr marL="342900" indent="-342900" algn="l">
              <a:buFont typeface="Arial" panose="020B0604020202020204" pitchFamily="34" charset="0"/>
              <a:buChar char="•"/>
            </a:pPr>
            <a:r>
              <a:rPr lang="en-US" sz="2000" b="0" i="0" u="none" strike="noStrike" baseline="0" dirty="0"/>
              <a:t>The serial in/serial out shift register accepts data serially—that is, one bit at a time on a single line. It produces the stored information on its output also in serial form.</a:t>
            </a:r>
          </a:p>
          <a:p>
            <a:pPr marL="342900" indent="-342900" algn="l">
              <a:buFont typeface="Arial" panose="020B0604020202020204" pitchFamily="34" charset="0"/>
              <a:buChar char="•"/>
            </a:pPr>
            <a:r>
              <a:rPr lang="en-US" sz="2000" dirty="0"/>
              <a:t>The register is initially clear. The 0 is put onto the data input line, making D = 0 for FF0. When the first clock pulse is applied, FF0 is reset, thus storing the 0.</a:t>
            </a:r>
          </a:p>
        </p:txBody>
      </p:sp>
      <p:pic>
        <p:nvPicPr>
          <p:cNvPr id="7" name="Picture 6">
            <a:extLst>
              <a:ext uri="{FF2B5EF4-FFF2-40B4-BE49-F238E27FC236}">
                <a16:creationId xmlns:a16="http://schemas.microsoft.com/office/drawing/2014/main" id="{4369FBA2-AB2B-B684-C0A4-FE0ED75E7E9D}"/>
              </a:ext>
            </a:extLst>
          </p:cNvPr>
          <p:cNvPicPr>
            <a:picLocks noChangeAspect="1"/>
          </p:cNvPicPr>
          <p:nvPr/>
        </p:nvPicPr>
        <p:blipFill>
          <a:blip r:embed="rId3"/>
          <a:stretch>
            <a:fillRect/>
          </a:stretch>
        </p:blipFill>
        <p:spPr>
          <a:xfrm>
            <a:off x="7566199" y="1690687"/>
            <a:ext cx="4410453" cy="3239121"/>
          </a:xfrm>
          <a:prstGeom prst="rect">
            <a:avLst/>
          </a:prstGeom>
        </p:spPr>
      </p:pic>
      <p:sp>
        <p:nvSpPr>
          <p:cNvPr id="9" name="TextBox 8">
            <a:extLst>
              <a:ext uri="{FF2B5EF4-FFF2-40B4-BE49-F238E27FC236}">
                <a16:creationId xmlns:a16="http://schemas.microsoft.com/office/drawing/2014/main" id="{B03BCE8F-CB8B-233B-6B0A-AC0E737523CB}"/>
              </a:ext>
            </a:extLst>
          </p:cNvPr>
          <p:cNvSpPr txBox="1"/>
          <p:nvPr/>
        </p:nvSpPr>
        <p:spPr>
          <a:xfrm>
            <a:off x="7566199" y="1321356"/>
            <a:ext cx="4410453" cy="369332"/>
          </a:xfrm>
          <a:prstGeom prst="rect">
            <a:avLst/>
          </a:prstGeom>
          <a:noFill/>
        </p:spPr>
        <p:txBody>
          <a:bodyPr wrap="square">
            <a:spAutoFit/>
          </a:bodyPr>
          <a:lstStyle/>
          <a:p>
            <a:r>
              <a:rPr lang="en-US" sz="1800" b="0" i="0" u="none" strike="noStrike" baseline="0" dirty="0">
                <a:latin typeface="Helvetica" panose="020B0604020202020204" pitchFamily="34" charset="0"/>
              </a:rPr>
              <a:t>Shifting a 4-bit code into the shift register</a:t>
            </a:r>
            <a:endParaRPr lang="en-IN" dirty="0"/>
          </a:p>
        </p:txBody>
      </p:sp>
    </p:spTree>
    <p:extLst>
      <p:ext uri="{BB962C8B-B14F-4D97-AF65-F5344CB8AC3E}">
        <p14:creationId xmlns:p14="http://schemas.microsoft.com/office/powerpoint/2010/main" val="30181334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4DB1B-0A2B-73EF-5425-7BB72752623C}"/>
              </a:ext>
            </a:extLst>
          </p:cNvPr>
          <p:cNvSpPr>
            <a:spLocks noGrp="1"/>
          </p:cNvSpPr>
          <p:nvPr>
            <p:ph type="title"/>
          </p:nvPr>
        </p:nvSpPr>
        <p:spPr/>
        <p:txBody>
          <a:bodyPr/>
          <a:lstStyle/>
          <a:p>
            <a:r>
              <a:rPr lang="en-US" dirty="0"/>
              <a:t>Serial In/Serial Out Shift Registers</a:t>
            </a:r>
            <a:endParaRPr lang="en-IN" dirty="0"/>
          </a:p>
        </p:txBody>
      </p:sp>
      <p:sp>
        <p:nvSpPr>
          <p:cNvPr id="3" name="Content Placeholder 2">
            <a:extLst>
              <a:ext uri="{FF2B5EF4-FFF2-40B4-BE49-F238E27FC236}">
                <a16:creationId xmlns:a16="http://schemas.microsoft.com/office/drawing/2014/main" id="{0142024D-7FAD-7B55-AA9D-C98DEB8CFDF0}"/>
              </a:ext>
            </a:extLst>
          </p:cNvPr>
          <p:cNvSpPr>
            <a:spLocks noGrp="1"/>
          </p:cNvSpPr>
          <p:nvPr>
            <p:ph idx="1"/>
          </p:nvPr>
        </p:nvSpPr>
        <p:spPr>
          <a:xfrm>
            <a:off x="838200" y="1690688"/>
            <a:ext cx="10515600" cy="4802187"/>
          </a:xfrm>
        </p:spPr>
        <p:txBody>
          <a:bodyPr>
            <a:normAutofit/>
          </a:bodyPr>
          <a:lstStyle/>
          <a:p>
            <a:pPr marL="342900" indent="-342900"/>
            <a:r>
              <a:rPr lang="en-US" sz="2400" dirty="0"/>
              <a:t>Next the second bit, which is a 1, is applied to the data input, making D = 1 for FF0 and D = 0 for FF1 because the D input of FF1 is connected to the Q0 output. When the second clock pulse occurs, the 1 on the data input is shifted into FF0, causing FF0 to set; and the 0 that was in FF0 is shifted into FF1.</a:t>
            </a:r>
          </a:p>
          <a:p>
            <a:pPr marL="342900" indent="-342900"/>
            <a:r>
              <a:rPr lang="en-US" sz="2400" dirty="0"/>
              <a:t>The third bit, a 0, is now put onto the data-input line, and a clock pulse is applied. The 0 is entered into FF0, the 1 stored in FF0 is shifted into FF1, and the 0 stored in FF1 is shifted into FF2.</a:t>
            </a:r>
          </a:p>
          <a:p>
            <a:pPr marL="342900" indent="-342900"/>
            <a:r>
              <a:rPr lang="en-US" sz="2400" dirty="0"/>
              <a:t>The last bit, a 1, is now applied to the data input, and a clock pulse is applied. This time the 1 is entered into FF0, the 0 stored in FF0 is shifted into FF1, the 1 stored in FF1 is shifted into FF2, and the 0 stored in FF2 is shifted into FF3. This completes the serial entry of the four bits into the shift register, where they can be stored for any length of time as long as the flip-flops have dc power.</a:t>
            </a:r>
            <a:endParaRPr lang="en-IN" sz="2400" dirty="0"/>
          </a:p>
        </p:txBody>
      </p:sp>
    </p:spTree>
    <p:extLst>
      <p:ext uri="{BB962C8B-B14F-4D97-AF65-F5344CB8AC3E}">
        <p14:creationId xmlns:p14="http://schemas.microsoft.com/office/powerpoint/2010/main" val="12943571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CA190-BE23-5E74-50F5-42EB085427E4}"/>
              </a:ext>
            </a:extLst>
          </p:cNvPr>
          <p:cNvSpPr>
            <a:spLocks noGrp="1"/>
          </p:cNvSpPr>
          <p:nvPr>
            <p:ph type="title"/>
          </p:nvPr>
        </p:nvSpPr>
        <p:spPr/>
        <p:txBody>
          <a:bodyPr/>
          <a:lstStyle/>
          <a:p>
            <a:r>
              <a:rPr lang="en-US" dirty="0"/>
              <a:t>Serial In/Serial Out Shift Registers</a:t>
            </a:r>
            <a:endParaRPr lang="en-IN" dirty="0"/>
          </a:p>
        </p:txBody>
      </p:sp>
      <p:sp>
        <p:nvSpPr>
          <p:cNvPr id="3" name="Content Placeholder 2">
            <a:extLst>
              <a:ext uri="{FF2B5EF4-FFF2-40B4-BE49-F238E27FC236}">
                <a16:creationId xmlns:a16="http://schemas.microsoft.com/office/drawing/2014/main" id="{9171B38A-F05D-C52C-3EFB-0B84708F4F21}"/>
              </a:ext>
            </a:extLst>
          </p:cNvPr>
          <p:cNvSpPr>
            <a:spLocks noGrp="1"/>
          </p:cNvSpPr>
          <p:nvPr>
            <p:ph idx="1"/>
          </p:nvPr>
        </p:nvSpPr>
        <p:spPr/>
        <p:txBody>
          <a:bodyPr>
            <a:normAutofit/>
          </a:bodyPr>
          <a:lstStyle/>
          <a:p>
            <a:r>
              <a:rPr lang="en-US" sz="2400"/>
              <a:t>After CLK4 in the data-entry operation just described, the LSB, 0, appears on the </a:t>
            </a:r>
            <a:r>
              <a:rPr lang="en-US" sz="2400" i="1"/>
              <a:t>Q</a:t>
            </a:r>
            <a:r>
              <a:rPr lang="en-US" sz="2400"/>
              <a:t>3 output. When clock pulse CLK5 is applied, the second bit appears on the </a:t>
            </a:r>
            <a:r>
              <a:rPr lang="en-US" sz="2400" i="1"/>
              <a:t>Q</a:t>
            </a:r>
            <a:r>
              <a:rPr lang="en-US" sz="2400"/>
              <a:t>3 output. Clock pulse CLK6 shifts the third bit to the output, and CLK7 shifts the fourth bit to the output. While the original four bits are being shifted out, more bits can be shifted in. All zeros are shown being shifted in, after CLK8.</a:t>
            </a:r>
            <a:endParaRPr lang="en-IN" sz="2400" dirty="0"/>
          </a:p>
        </p:txBody>
      </p:sp>
      <p:pic>
        <p:nvPicPr>
          <p:cNvPr id="5" name="Picture 4">
            <a:extLst>
              <a:ext uri="{FF2B5EF4-FFF2-40B4-BE49-F238E27FC236}">
                <a16:creationId xmlns:a16="http://schemas.microsoft.com/office/drawing/2014/main" id="{D8DB4B33-7DBF-3272-1ACB-51ECB9E6CAFE}"/>
              </a:ext>
            </a:extLst>
          </p:cNvPr>
          <p:cNvPicPr>
            <a:picLocks noChangeAspect="1"/>
          </p:cNvPicPr>
          <p:nvPr/>
        </p:nvPicPr>
        <p:blipFill>
          <a:blip r:embed="rId2"/>
          <a:stretch>
            <a:fillRect/>
          </a:stretch>
        </p:blipFill>
        <p:spPr>
          <a:xfrm>
            <a:off x="1313783" y="3836186"/>
            <a:ext cx="5767201" cy="1918571"/>
          </a:xfrm>
          <a:prstGeom prst="rect">
            <a:avLst/>
          </a:prstGeom>
        </p:spPr>
      </p:pic>
      <p:sp>
        <p:nvSpPr>
          <p:cNvPr id="9" name="TextBox 8">
            <a:extLst>
              <a:ext uri="{FF2B5EF4-FFF2-40B4-BE49-F238E27FC236}">
                <a16:creationId xmlns:a16="http://schemas.microsoft.com/office/drawing/2014/main" id="{9CCCCA29-B502-77B4-679C-E9339F92AFBE}"/>
              </a:ext>
            </a:extLst>
          </p:cNvPr>
          <p:cNvSpPr txBox="1"/>
          <p:nvPr/>
        </p:nvSpPr>
        <p:spPr>
          <a:xfrm>
            <a:off x="1313783" y="5754757"/>
            <a:ext cx="6097656" cy="461665"/>
          </a:xfrm>
          <a:prstGeom prst="rect">
            <a:avLst/>
          </a:prstGeom>
          <a:noFill/>
        </p:spPr>
        <p:txBody>
          <a:bodyPr wrap="square">
            <a:spAutoFit/>
          </a:bodyPr>
          <a:lstStyle/>
          <a:p>
            <a:r>
              <a:rPr lang="en-US" sz="2400" b="0" i="0" u="none" strike="noStrike" baseline="0" dirty="0"/>
              <a:t>Shifting a 4-bit code out of the shift register</a:t>
            </a:r>
            <a:endParaRPr lang="en-IN" sz="2400" dirty="0"/>
          </a:p>
        </p:txBody>
      </p:sp>
    </p:spTree>
    <p:extLst>
      <p:ext uri="{BB962C8B-B14F-4D97-AF65-F5344CB8AC3E}">
        <p14:creationId xmlns:p14="http://schemas.microsoft.com/office/powerpoint/2010/main" val="14949729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8D61F-A2C5-1A94-FF34-F2525EB8516A}"/>
              </a:ext>
            </a:extLst>
          </p:cNvPr>
          <p:cNvSpPr>
            <a:spLocks noGrp="1"/>
          </p:cNvSpPr>
          <p:nvPr>
            <p:ph type="title"/>
          </p:nvPr>
        </p:nvSpPr>
        <p:spPr/>
        <p:txBody>
          <a:bodyPr/>
          <a:lstStyle/>
          <a:p>
            <a:r>
              <a:rPr lang="en-US" dirty="0"/>
              <a:t>Serial In/Parallel Out Shift Registers</a:t>
            </a:r>
            <a:endParaRPr lang="en-IN" dirty="0"/>
          </a:p>
        </p:txBody>
      </p:sp>
      <p:pic>
        <p:nvPicPr>
          <p:cNvPr id="5" name="Content Placeholder 4">
            <a:extLst>
              <a:ext uri="{FF2B5EF4-FFF2-40B4-BE49-F238E27FC236}">
                <a16:creationId xmlns:a16="http://schemas.microsoft.com/office/drawing/2014/main" id="{B15DE868-BA7A-E43B-EB0A-892BD9EE4122}"/>
              </a:ext>
            </a:extLst>
          </p:cNvPr>
          <p:cNvPicPr>
            <a:picLocks noGrp="1" noChangeAspect="1"/>
          </p:cNvPicPr>
          <p:nvPr>
            <p:ph idx="1"/>
          </p:nvPr>
        </p:nvPicPr>
        <p:blipFill>
          <a:blip r:embed="rId2"/>
          <a:stretch>
            <a:fillRect/>
          </a:stretch>
        </p:blipFill>
        <p:spPr>
          <a:xfrm>
            <a:off x="727470" y="2131339"/>
            <a:ext cx="11015542" cy="2997252"/>
          </a:xfrm>
          <a:prstGeom prst="rect">
            <a:avLst/>
          </a:prstGeom>
        </p:spPr>
      </p:pic>
    </p:spTree>
    <p:extLst>
      <p:ext uri="{BB962C8B-B14F-4D97-AF65-F5344CB8AC3E}">
        <p14:creationId xmlns:p14="http://schemas.microsoft.com/office/powerpoint/2010/main" val="20175323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C6723-3586-FC14-BF82-549862135A8C}"/>
              </a:ext>
            </a:extLst>
          </p:cNvPr>
          <p:cNvSpPr>
            <a:spLocks noGrp="1"/>
          </p:cNvSpPr>
          <p:nvPr>
            <p:ph type="title"/>
          </p:nvPr>
        </p:nvSpPr>
        <p:spPr/>
        <p:txBody>
          <a:bodyPr/>
          <a:lstStyle/>
          <a:p>
            <a:r>
              <a:rPr lang="en-US" dirty="0"/>
              <a:t>Serial In/Parallel Out Shift Registers</a:t>
            </a:r>
            <a:endParaRPr lang="en-IN" dirty="0"/>
          </a:p>
        </p:txBody>
      </p:sp>
      <p:sp>
        <p:nvSpPr>
          <p:cNvPr id="3" name="Content Placeholder 2">
            <a:extLst>
              <a:ext uri="{FF2B5EF4-FFF2-40B4-BE49-F238E27FC236}">
                <a16:creationId xmlns:a16="http://schemas.microsoft.com/office/drawing/2014/main" id="{0710C56F-87BA-BA9C-7008-F29160E174C1}"/>
              </a:ext>
            </a:extLst>
          </p:cNvPr>
          <p:cNvSpPr>
            <a:spLocks noGrp="1"/>
          </p:cNvSpPr>
          <p:nvPr>
            <p:ph idx="1"/>
          </p:nvPr>
        </p:nvSpPr>
        <p:spPr/>
        <p:txBody>
          <a:bodyPr>
            <a:normAutofit/>
          </a:bodyPr>
          <a:lstStyle/>
          <a:p>
            <a:r>
              <a:rPr lang="en-US" sz="2400" dirty="0"/>
              <a:t>Data bits are entered serially (least-significant bit first) into a serial in/parallel out shift register in the same manner as in serial in/serial out registers. </a:t>
            </a:r>
          </a:p>
          <a:p>
            <a:r>
              <a:rPr lang="en-US" sz="2400" dirty="0"/>
              <a:t>The difference is the way in which the data bits are taken out of the register; in the parallel output register, the output of each stage is available. </a:t>
            </a:r>
          </a:p>
          <a:p>
            <a:r>
              <a:rPr lang="en-US" sz="2400" dirty="0"/>
              <a:t>Once the data are stored, each bit appears on its respective output line, and all bits are available simultaneously, rather than on a bit-by-bit basis as </a:t>
            </a:r>
            <a:r>
              <a:rPr lang="en-IN" sz="2400" dirty="0"/>
              <a:t>with the serial output.</a:t>
            </a:r>
          </a:p>
        </p:txBody>
      </p:sp>
    </p:spTree>
    <p:extLst>
      <p:ext uri="{BB962C8B-B14F-4D97-AF65-F5344CB8AC3E}">
        <p14:creationId xmlns:p14="http://schemas.microsoft.com/office/powerpoint/2010/main" val="3288475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79EB-58BA-BDF2-EF5C-6DB42D5348B3}"/>
              </a:ext>
            </a:extLst>
          </p:cNvPr>
          <p:cNvSpPr>
            <a:spLocks noGrp="1"/>
          </p:cNvSpPr>
          <p:nvPr>
            <p:ph type="title"/>
          </p:nvPr>
        </p:nvSpPr>
        <p:spPr/>
        <p:txBody>
          <a:bodyPr/>
          <a:lstStyle/>
          <a:p>
            <a:r>
              <a:rPr lang="en-US" dirty="0"/>
              <a:t>Serial In/Parallel Out Shift Registers</a:t>
            </a:r>
            <a:endParaRPr lang="en-IN" dirty="0"/>
          </a:p>
        </p:txBody>
      </p:sp>
      <p:pic>
        <p:nvPicPr>
          <p:cNvPr id="5" name="Content Placeholder 4">
            <a:extLst>
              <a:ext uri="{FF2B5EF4-FFF2-40B4-BE49-F238E27FC236}">
                <a16:creationId xmlns:a16="http://schemas.microsoft.com/office/drawing/2014/main" id="{2B41A465-C063-CF41-42A4-B7FF17791DA6}"/>
              </a:ext>
            </a:extLst>
          </p:cNvPr>
          <p:cNvPicPr>
            <a:picLocks noGrp="1" noChangeAspect="1"/>
          </p:cNvPicPr>
          <p:nvPr>
            <p:ph sz="half" idx="1"/>
          </p:nvPr>
        </p:nvPicPr>
        <p:blipFill>
          <a:blip r:embed="rId2"/>
          <a:stretch>
            <a:fillRect/>
          </a:stretch>
        </p:blipFill>
        <p:spPr>
          <a:xfrm>
            <a:off x="838200" y="1690688"/>
            <a:ext cx="5326807" cy="3666503"/>
          </a:xfrm>
          <a:prstGeom prst="rect">
            <a:avLst/>
          </a:prstGeom>
        </p:spPr>
      </p:pic>
      <p:sp>
        <p:nvSpPr>
          <p:cNvPr id="6" name="Content Placeholder 5">
            <a:extLst>
              <a:ext uri="{FF2B5EF4-FFF2-40B4-BE49-F238E27FC236}">
                <a16:creationId xmlns:a16="http://schemas.microsoft.com/office/drawing/2014/main" id="{0BD90036-8A21-1B94-7762-56620106C58E}"/>
              </a:ext>
            </a:extLst>
          </p:cNvPr>
          <p:cNvSpPr>
            <a:spLocks noGrp="1"/>
          </p:cNvSpPr>
          <p:nvPr>
            <p:ph sz="half" idx="2"/>
          </p:nvPr>
        </p:nvSpPr>
        <p:spPr/>
        <p:txBody>
          <a:bodyPr/>
          <a:lstStyle/>
          <a:p>
            <a:r>
              <a:rPr lang="en-US" dirty="0"/>
              <a:t>The register contains 0110 after four clock pulses for data input 0110</a:t>
            </a:r>
            <a:endParaRPr lang="en-IN" dirty="0"/>
          </a:p>
        </p:txBody>
      </p:sp>
    </p:spTree>
    <p:extLst>
      <p:ext uri="{BB962C8B-B14F-4D97-AF65-F5344CB8AC3E}">
        <p14:creationId xmlns:p14="http://schemas.microsoft.com/office/powerpoint/2010/main" val="8220059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77491-38F2-1D86-05D8-5CE98071610E}"/>
              </a:ext>
            </a:extLst>
          </p:cNvPr>
          <p:cNvSpPr>
            <a:spLocks noGrp="1"/>
          </p:cNvSpPr>
          <p:nvPr>
            <p:ph type="title"/>
          </p:nvPr>
        </p:nvSpPr>
        <p:spPr/>
        <p:txBody>
          <a:bodyPr/>
          <a:lstStyle/>
          <a:p>
            <a:r>
              <a:rPr lang="en-US" dirty="0"/>
              <a:t>Parallel In/Serial Out Shift Registers</a:t>
            </a:r>
            <a:endParaRPr lang="en-IN" dirty="0"/>
          </a:p>
        </p:txBody>
      </p:sp>
      <p:pic>
        <p:nvPicPr>
          <p:cNvPr id="5" name="Content Placeholder 4">
            <a:extLst>
              <a:ext uri="{FF2B5EF4-FFF2-40B4-BE49-F238E27FC236}">
                <a16:creationId xmlns:a16="http://schemas.microsoft.com/office/drawing/2014/main" id="{244C49B6-58DA-F67C-0683-32DA8B5CCB84}"/>
              </a:ext>
            </a:extLst>
          </p:cNvPr>
          <p:cNvPicPr>
            <a:picLocks noGrp="1" noChangeAspect="1"/>
          </p:cNvPicPr>
          <p:nvPr>
            <p:ph idx="1"/>
          </p:nvPr>
        </p:nvPicPr>
        <p:blipFill>
          <a:blip r:embed="rId2"/>
          <a:stretch>
            <a:fillRect/>
          </a:stretch>
        </p:blipFill>
        <p:spPr>
          <a:xfrm>
            <a:off x="1044494" y="1517512"/>
            <a:ext cx="10047576" cy="4903166"/>
          </a:xfrm>
          <a:prstGeom prst="rect">
            <a:avLst/>
          </a:prstGeom>
        </p:spPr>
      </p:pic>
    </p:spTree>
    <p:extLst>
      <p:ext uri="{BB962C8B-B14F-4D97-AF65-F5344CB8AC3E}">
        <p14:creationId xmlns:p14="http://schemas.microsoft.com/office/powerpoint/2010/main" val="24949382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7A077-6B7A-FAE8-5820-6DBD7F157306}"/>
              </a:ext>
            </a:extLst>
          </p:cNvPr>
          <p:cNvSpPr>
            <a:spLocks noGrp="1"/>
          </p:cNvSpPr>
          <p:nvPr>
            <p:ph type="title"/>
          </p:nvPr>
        </p:nvSpPr>
        <p:spPr/>
        <p:txBody>
          <a:bodyPr/>
          <a:lstStyle/>
          <a:p>
            <a:r>
              <a:rPr lang="en-US" dirty="0"/>
              <a:t>Parallel In/Serial Out Shift Registers</a:t>
            </a:r>
            <a:endParaRPr lang="en-IN" dirty="0"/>
          </a:p>
        </p:txBody>
      </p:sp>
      <p:sp>
        <p:nvSpPr>
          <p:cNvPr id="3" name="Content Placeholder 2">
            <a:extLst>
              <a:ext uri="{FF2B5EF4-FFF2-40B4-BE49-F238E27FC236}">
                <a16:creationId xmlns:a16="http://schemas.microsoft.com/office/drawing/2014/main" id="{4EBD2100-3D1D-3B14-9C3E-7D9280CEDEA9}"/>
              </a:ext>
            </a:extLst>
          </p:cNvPr>
          <p:cNvSpPr>
            <a:spLocks noGrp="1"/>
          </p:cNvSpPr>
          <p:nvPr>
            <p:ph idx="1"/>
          </p:nvPr>
        </p:nvSpPr>
        <p:spPr/>
        <p:txBody>
          <a:bodyPr>
            <a:normAutofit/>
          </a:bodyPr>
          <a:lstStyle/>
          <a:p>
            <a:r>
              <a:rPr lang="en-US" sz="2400" dirty="0"/>
              <a:t>For a register with parallel data inputs, the bits are entered simultaneously into their respective stages on parallel lines rather than on a bit-by-bit basis on one line as with serial data inputs. </a:t>
            </a:r>
          </a:p>
          <a:p>
            <a:r>
              <a:rPr lang="en-US" sz="2400" dirty="0"/>
              <a:t>The serial output is the same as in serial in/serial out shift registers, once the data are completely stored in the register.</a:t>
            </a:r>
          </a:p>
          <a:p>
            <a:r>
              <a:rPr lang="en-US" sz="2400" dirty="0"/>
              <a:t>There are four data-input lines, </a:t>
            </a:r>
            <a:r>
              <a:rPr lang="en-US" sz="2400" i="1" dirty="0"/>
              <a:t>D</a:t>
            </a:r>
            <a:r>
              <a:rPr lang="en-US" sz="2400" dirty="0"/>
              <a:t>0, </a:t>
            </a:r>
            <a:r>
              <a:rPr lang="en-US" sz="2400" i="1" dirty="0"/>
              <a:t>D</a:t>
            </a:r>
            <a:r>
              <a:rPr lang="en-US" sz="2400" dirty="0"/>
              <a:t>1, </a:t>
            </a:r>
            <a:r>
              <a:rPr lang="en-US" sz="2400" i="1" dirty="0"/>
              <a:t>D</a:t>
            </a:r>
            <a:r>
              <a:rPr lang="en-US" sz="2400" dirty="0"/>
              <a:t>2, and </a:t>
            </a:r>
            <a:r>
              <a:rPr lang="en-US" sz="2400" i="1" dirty="0"/>
              <a:t>D</a:t>
            </a:r>
            <a:r>
              <a:rPr lang="en-US" sz="2400" dirty="0"/>
              <a:t>3, and a </a:t>
            </a:r>
            <a:r>
              <a:rPr lang="en-US" sz="2400" i="1" dirty="0"/>
              <a:t>SHIFT</a:t>
            </a:r>
            <a:r>
              <a:rPr lang="en-US" sz="2400" dirty="0"/>
              <a:t>/</a:t>
            </a:r>
            <a:r>
              <a:rPr lang="en-US" sz="2400" i="1" dirty="0"/>
              <a:t>LOAD </a:t>
            </a:r>
            <a:r>
              <a:rPr lang="en-US" sz="2400" dirty="0"/>
              <a:t>input, which allows four bits of data to </a:t>
            </a:r>
            <a:r>
              <a:rPr lang="en-US" sz="2400" b="1" dirty="0"/>
              <a:t>load </a:t>
            </a:r>
            <a:r>
              <a:rPr lang="en-US" sz="2400" dirty="0"/>
              <a:t>in parallel into the register. </a:t>
            </a:r>
          </a:p>
          <a:p>
            <a:r>
              <a:rPr lang="en-US" sz="2400" dirty="0"/>
              <a:t>When </a:t>
            </a:r>
            <a:r>
              <a:rPr lang="en-US" sz="2400" i="1" dirty="0"/>
              <a:t>SHIFT</a:t>
            </a:r>
            <a:r>
              <a:rPr lang="en-US" sz="2400" dirty="0"/>
              <a:t>/</a:t>
            </a:r>
            <a:r>
              <a:rPr lang="en-US" sz="2400" i="1" dirty="0"/>
              <a:t>LOAD </a:t>
            </a:r>
            <a:r>
              <a:rPr lang="en-US" sz="2400" dirty="0"/>
              <a:t>is LOW, gates </a:t>
            </a:r>
            <a:r>
              <a:rPr lang="en-US" sz="2400" i="1" dirty="0"/>
              <a:t>G</a:t>
            </a:r>
            <a:r>
              <a:rPr lang="en-US" sz="2400" dirty="0"/>
              <a:t>1 through </a:t>
            </a:r>
            <a:r>
              <a:rPr lang="en-US" sz="2400" i="1" dirty="0"/>
              <a:t>G</a:t>
            </a:r>
            <a:r>
              <a:rPr lang="en-US" sz="2400" dirty="0"/>
              <a:t>4 are enabled, allowing each data bit to be applied to the </a:t>
            </a:r>
            <a:r>
              <a:rPr lang="en-US" sz="2400" i="1" dirty="0"/>
              <a:t>D </a:t>
            </a:r>
            <a:r>
              <a:rPr lang="en-US" sz="2400" dirty="0"/>
              <a:t>input of its respective flip-flop. When a clock pulse is applied, the flip-flops with </a:t>
            </a:r>
            <a:r>
              <a:rPr lang="en-US" sz="2400" i="1" dirty="0"/>
              <a:t>D </a:t>
            </a:r>
            <a:r>
              <a:rPr lang="en-US" sz="2400" dirty="0"/>
              <a:t>= 1 will set and those with </a:t>
            </a:r>
            <a:r>
              <a:rPr lang="en-US" sz="2400" i="1" dirty="0"/>
              <a:t>D </a:t>
            </a:r>
            <a:r>
              <a:rPr lang="en-US" sz="2400" dirty="0"/>
              <a:t>= 0 will reset, thereby storing all four bits simultaneously.</a:t>
            </a:r>
            <a:endParaRPr lang="en-IN" sz="2400" dirty="0"/>
          </a:p>
        </p:txBody>
      </p:sp>
    </p:spTree>
    <p:extLst>
      <p:ext uri="{BB962C8B-B14F-4D97-AF65-F5344CB8AC3E}">
        <p14:creationId xmlns:p14="http://schemas.microsoft.com/office/powerpoint/2010/main" val="17498856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7FABA-D17B-AC74-960D-B055D8D68F59}"/>
              </a:ext>
            </a:extLst>
          </p:cNvPr>
          <p:cNvSpPr>
            <a:spLocks noGrp="1"/>
          </p:cNvSpPr>
          <p:nvPr>
            <p:ph type="title"/>
          </p:nvPr>
        </p:nvSpPr>
        <p:spPr/>
        <p:txBody>
          <a:bodyPr/>
          <a:lstStyle/>
          <a:p>
            <a:r>
              <a:rPr lang="en-US" dirty="0"/>
              <a:t>Parallel In/Serial Out Shift Registers</a:t>
            </a:r>
            <a:endParaRPr lang="en-IN" dirty="0"/>
          </a:p>
        </p:txBody>
      </p:sp>
      <p:sp>
        <p:nvSpPr>
          <p:cNvPr id="3" name="Content Placeholder 2">
            <a:extLst>
              <a:ext uri="{FF2B5EF4-FFF2-40B4-BE49-F238E27FC236}">
                <a16:creationId xmlns:a16="http://schemas.microsoft.com/office/drawing/2014/main" id="{BD7818E2-98D4-B040-B14C-043D473A0F12}"/>
              </a:ext>
            </a:extLst>
          </p:cNvPr>
          <p:cNvSpPr>
            <a:spLocks noGrp="1"/>
          </p:cNvSpPr>
          <p:nvPr>
            <p:ph idx="1"/>
          </p:nvPr>
        </p:nvSpPr>
        <p:spPr/>
        <p:txBody>
          <a:bodyPr>
            <a:normAutofit/>
          </a:bodyPr>
          <a:lstStyle/>
          <a:p>
            <a:r>
              <a:rPr lang="en-US" sz="2400" dirty="0"/>
              <a:t>When </a:t>
            </a:r>
            <a:r>
              <a:rPr lang="en-US" sz="2400" i="1" dirty="0"/>
              <a:t>SHIFT</a:t>
            </a:r>
            <a:r>
              <a:rPr lang="en-US" sz="2400" dirty="0"/>
              <a:t>/</a:t>
            </a:r>
            <a:r>
              <a:rPr lang="en-US" sz="2400" i="1" dirty="0"/>
              <a:t>LOAD </a:t>
            </a:r>
            <a:r>
              <a:rPr lang="en-US" sz="2400" dirty="0"/>
              <a:t>is HIGH, gates </a:t>
            </a:r>
            <a:r>
              <a:rPr lang="en-US" sz="2400" i="1" dirty="0"/>
              <a:t>G</a:t>
            </a:r>
            <a:r>
              <a:rPr lang="en-US" sz="2400" dirty="0"/>
              <a:t>1 through </a:t>
            </a:r>
            <a:r>
              <a:rPr lang="en-US" sz="2400" i="1" dirty="0"/>
              <a:t>G</a:t>
            </a:r>
            <a:r>
              <a:rPr lang="en-US" sz="2400" dirty="0"/>
              <a:t>4 are disabled and gates </a:t>
            </a:r>
            <a:r>
              <a:rPr lang="en-US" sz="2400" i="1" dirty="0"/>
              <a:t>G</a:t>
            </a:r>
            <a:r>
              <a:rPr lang="en-US" sz="2400" dirty="0"/>
              <a:t>5 through </a:t>
            </a:r>
            <a:r>
              <a:rPr lang="en-US" sz="2400" i="1" dirty="0"/>
              <a:t>G</a:t>
            </a:r>
            <a:r>
              <a:rPr lang="en-US" sz="2400" dirty="0"/>
              <a:t>7 are enabled, allowing the data bits to shift right from one stage to the next. </a:t>
            </a:r>
          </a:p>
          <a:p>
            <a:r>
              <a:rPr lang="en-US" sz="2400" dirty="0"/>
              <a:t>The OR gates allow either the normal shifting operation or the parallel data-entry operation, depending on which AND gates are enabled by the level on the </a:t>
            </a:r>
            <a:r>
              <a:rPr lang="en-US" sz="2400" i="1" dirty="0"/>
              <a:t>SHIFT</a:t>
            </a:r>
            <a:r>
              <a:rPr lang="en-US" sz="2400" dirty="0"/>
              <a:t>/</a:t>
            </a:r>
            <a:r>
              <a:rPr lang="en-US" sz="2400" i="1" dirty="0"/>
              <a:t>LOAD </a:t>
            </a:r>
            <a:r>
              <a:rPr lang="en-US" sz="2400" dirty="0"/>
              <a:t>input. </a:t>
            </a:r>
          </a:p>
          <a:p>
            <a:r>
              <a:rPr lang="en-US" sz="2400" dirty="0"/>
              <a:t>FF0 has a single AND to disable the parallel input, </a:t>
            </a:r>
            <a:r>
              <a:rPr lang="en-US" sz="2400" i="1" dirty="0"/>
              <a:t>D</a:t>
            </a:r>
            <a:r>
              <a:rPr lang="en-US" sz="2400" dirty="0"/>
              <a:t>0. It does not require an AND/OR  arrangement because there is no serial data in.</a:t>
            </a:r>
            <a:endParaRPr lang="en-IN" sz="2400" dirty="0"/>
          </a:p>
        </p:txBody>
      </p:sp>
    </p:spTree>
    <p:extLst>
      <p:ext uri="{BB962C8B-B14F-4D97-AF65-F5344CB8AC3E}">
        <p14:creationId xmlns:p14="http://schemas.microsoft.com/office/powerpoint/2010/main" val="390958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AE8E5-657B-BF0A-13DF-A57511CD7B68}"/>
              </a:ext>
            </a:extLst>
          </p:cNvPr>
          <p:cNvSpPr>
            <a:spLocks noGrp="1"/>
          </p:cNvSpPr>
          <p:nvPr>
            <p:ph type="title"/>
          </p:nvPr>
        </p:nvSpPr>
        <p:spPr/>
        <p:txBody>
          <a:bodyPr/>
          <a:lstStyle/>
          <a:p>
            <a:r>
              <a:rPr lang="en-US" dirty="0"/>
              <a:t>Parallel In/Serial Out Shift Registers</a:t>
            </a:r>
            <a:endParaRPr lang="en-IN" dirty="0"/>
          </a:p>
        </p:txBody>
      </p:sp>
      <p:pic>
        <p:nvPicPr>
          <p:cNvPr id="5" name="Content Placeholder 4">
            <a:extLst>
              <a:ext uri="{FF2B5EF4-FFF2-40B4-BE49-F238E27FC236}">
                <a16:creationId xmlns:a16="http://schemas.microsoft.com/office/drawing/2014/main" id="{82B038F9-C989-00A2-BC2A-F59200D75F0E}"/>
              </a:ext>
            </a:extLst>
          </p:cNvPr>
          <p:cNvPicPr>
            <a:picLocks noGrp="1" noChangeAspect="1"/>
          </p:cNvPicPr>
          <p:nvPr>
            <p:ph sz="half" idx="1"/>
          </p:nvPr>
        </p:nvPicPr>
        <p:blipFill>
          <a:blip r:embed="rId2"/>
          <a:stretch>
            <a:fillRect/>
          </a:stretch>
        </p:blipFill>
        <p:spPr>
          <a:xfrm>
            <a:off x="838200" y="1935985"/>
            <a:ext cx="5177472" cy="3818771"/>
          </a:xfrm>
          <a:prstGeom prst="rect">
            <a:avLst/>
          </a:prstGeom>
        </p:spPr>
      </p:pic>
      <p:sp>
        <p:nvSpPr>
          <p:cNvPr id="6" name="Content Placeholder 5">
            <a:extLst>
              <a:ext uri="{FF2B5EF4-FFF2-40B4-BE49-F238E27FC236}">
                <a16:creationId xmlns:a16="http://schemas.microsoft.com/office/drawing/2014/main" id="{9901D0BF-008B-9AC3-AE58-FB6A300E91BD}"/>
              </a:ext>
            </a:extLst>
          </p:cNvPr>
          <p:cNvSpPr>
            <a:spLocks noGrp="1"/>
          </p:cNvSpPr>
          <p:nvPr>
            <p:ph sz="half" idx="2"/>
          </p:nvPr>
        </p:nvSpPr>
        <p:spPr/>
        <p:txBody>
          <a:bodyPr>
            <a:normAutofit fontScale="92500" lnSpcReduction="20000"/>
          </a:bodyPr>
          <a:lstStyle/>
          <a:p>
            <a:r>
              <a:rPr lang="en-US" dirty="0"/>
              <a:t>On clock pulse 1, the parallel data (</a:t>
            </a:r>
            <a:r>
              <a:rPr lang="en-US" i="1" dirty="0"/>
              <a:t>D</a:t>
            </a:r>
            <a:r>
              <a:rPr lang="en-US" dirty="0"/>
              <a:t>0</a:t>
            </a:r>
            <a:r>
              <a:rPr lang="en-US" i="1" dirty="0"/>
              <a:t>D</a:t>
            </a:r>
            <a:r>
              <a:rPr lang="en-US" dirty="0"/>
              <a:t>1</a:t>
            </a:r>
            <a:r>
              <a:rPr lang="en-US" i="1" dirty="0"/>
              <a:t>D</a:t>
            </a:r>
            <a:r>
              <a:rPr lang="en-US" dirty="0"/>
              <a:t>2</a:t>
            </a:r>
            <a:r>
              <a:rPr lang="en-US" i="1" dirty="0"/>
              <a:t>D</a:t>
            </a:r>
            <a:r>
              <a:rPr lang="en-US" dirty="0"/>
              <a:t>3 = 1010) are loaded into the register, making </a:t>
            </a:r>
            <a:r>
              <a:rPr lang="en-US" i="1" dirty="0"/>
              <a:t>Q</a:t>
            </a:r>
            <a:r>
              <a:rPr lang="en-US" dirty="0"/>
              <a:t>3 a 0. </a:t>
            </a:r>
          </a:p>
          <a:p>
            <a:r>
              <a:rPr lang="en-US" dirty="0"/>
              <a:t>On clock pulse 2 the 1 from </a:t>
            </a:r>
            <a:r>
              <a:rPr lang="en-US" i="1" dirty="0"/>
              <a:t>Q</a:t>
            </a:r>
            <a:r>
              <a:rPr lang="en-US" dirty="0"/>
              <a:t>2 is shifted onto </a:t>
            </a:r>
            <a:r>
              <a:rPr lang="en-US" i="1" dirty="0"/>
              <a:t>Q</a:t>
            </a:r>
            <a:r>
              <a:rPr lang="en-US" dirty="0"/>
              <a:t>3</a:t>
            </a:r>
          </a:p>
          <a:p>
            <a:r>
              <a:rPr lang="en-US" dirty="0"/>
              <a:t>On clock pulse 3 the 0 is shifted onto </a:t>
            </a:r>
            <a:r>
              <a:rPr lang="en-US" i="1" dirty="0"/>
              <a:t>Q</a:t>
            </a:r>
            <a:r>
              <a:rPr lang="en-US" dirty="0"/>
              <a:t>3; </a:t>
            </a:r>
          </a:p>
          <a:p>
            <a:r>
              <a:rPr lang="en-US" dirty="0"/>
              <a:t>On clock pulse 4 the last data bit (1) is shifted onto </a:t>
            </a:r>
            <a:r>
              <a:rPr lang="en-US" i="1" dirty="0"/>
              <a:t>Q</a:t>
            </a:r>
            <a:r>
              <a:rPr lang="en-US" dirty="0"/>
              <a:t>3; and </a:t>
            </a:r>
          </a:p>
          <a:p>
            <a:r>
              <a:rPr lang="en-US" dirty="0"/>
              <a:t>On clock pulse 5, all data bits have been shifted out, and only 1s remain in the register (assuming the </a:t>
            </a:r>
            <a:r>
              <a:rPr lang="en-US" i="1" dirty="0"/>
              <a:t>D</a:t>
            </a:r>
            <a:r>
              <a:rPr lang="en-US" dirty="0"/>
              <a:t>0 input remains a 1).</a:t>
            </a:r>
            <a:endParaRPr lang="en-IN" dirty="0"/>
          </a:p>
        </p:txBody>
      </p:sp>
    </p:spTree>
    <p:extLst>
      <p:ext uri="{BB962C8B-B14F-4D97-AF65-F5344CB8AC3E}">
        <p14:creationId xmlns:p14="http://schemas.microsoft.com/office/powerpoint/2010/main" val="14930028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B7B05-3B67-D927-B264-3B36D803A019}"/>
              </a:ext>
            </a:extLst>
          </p:cNvPr>
          <p:cNvSpPr>
            <a:spLocks noGrp="1"/>
          </p:cNvSpPr>
          <p:nvPr>
            <p:ph type="title"/>
          </p:nvPr>
        </p:nvSpPr>
        <p:spPr/>
        <p:txBody>
          <a:bodyPr/>
          <a:lstStyle/>
          <a:p>
            <a:r>
              <a:rPr lang="en-US" dirty="0"/>
              <a:t>Parallel In/Parallel Out Shift Registers</a:t>
            </a:r>
            <a:endParaRPr lang="en-IN" dirty="0"/>
          </a:p>
        </p:txBody>
      </p:sp>
      <p:sp>
        <p:nvSpPr>
          <p:cNvPr id="3" name="Content Placeholder 2">
            <a:extLst>
              <a:ext uri="{FF2B5EF4-FFF2-40B4-BE49-F238E27FC236}">
                <a16:creationId xmlns:a16="http://schemas.microsoft.com/office/drawing/2014/main" id="{ABB51C4B-6818-3067-48B5-71F1690D5A92}"/>
              </a:ext>
            </a:extLst>
          </p:cNvPr>
          <p:cNvSpPr>
            <a:spLocks noGrp="1"/>
          </p:cNvSpPr>
          <p:nvPr>
            <p:ph idx="1"/>
          </p:nvPr>
        </p:nvSpPr>
        <p:spPr/>
        <p:txBody>
          <a:bodyPr/>
          <a:lstStyle/>
          <a:p>
            <a:r>
              <a:rPr lang="en-US" dirty="0"/>
              <a:t>Immediately following the simultaneous entry of all data bits, the bits appear on the parallel outputs. Data are entered simultaneously, and after a clock, the data are available at the output </a:t>
            </a:r>
            <a:endParaRPr lang="en-IN" dirty="0"/>
          </a:p>
        </p:txBody>
      </p:sp>
      <p:pic>
        <p:nvPicPr>
          <p:cNvPr id="5" name="Picture 4">
            <a:extLst>
              <a:ext uri="{FF2B5EF4-FFF2-40B4-BE49-F238E27FC236}">
                <a16:creationId xmlns:a16="http://schemas.microsoft.com/office/drawing/2014/main" id="{5A91CCB1-7CEB-184F-2BC8-D8E076F19E2A}"/>
              </a:ext>
            </a:extLst>
          </p:cNvPr>
          <p:cNvPicPr>
            <a:picLocks noChangeAspect="1"/>
          </p:cNvPicPr>
          <p:nvPr/>
        </p:nvPicPr>
        <p:blipFill>
          <a:blip r:embed="rId2"/>
          <a:stretch>
            <a:fillRect/>
          </a:stretch>
        </p:blipFill>
        <p:spPr>
          <a:xfrm>
            <a:off x="1430639" y="2982612"/>
            <a:ext cx="7882325" cy="3629532"/>
          </a:xfrm>
          <a:prstGeom prst="rect">
            <a:avLst/>
          </a:prstGeom>
        </p:spPr>
      </p:pic>
    </p:spTree>
    <p:extLst>
      <p:ext uri="{BB962C8B-B14F-4D97-AF65-F5344CB8AC3E}">
        <p14:creationId xmlns:p14="http://schemas.microsoft.com/office/powerpoint/2010/main" val="31346208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7CC37-4285-E6D8-1215-8DB159EB668E}"/>
              </a:ext>
            </a:extLst>
          </p:cNvPr>
          <p:cNvSpPr>
            <a:spLocks noGrp="1"/>
          </p:cNvSpPr>
          <p:nvPr>
            <p:ph type="title"/>
          </p:nvPr>
        </p:nvSpPr>
        <p:spPr/>
        <p:txBody>
          <a:bodyPr/>
          <a:lstStyle/>
          <a:p>
            <a:r>
              <a:rPr lang="en-IN" dirty="0"/>
              <a:t>Bidirectional Shift Registers</a:t>
            </a:r>
          </a:p>
        </p:txBody>
      </p:sp>
      <p:pic>
        <p:nvPicPr>
          <p:cNvPr id="5" name="Content Placeholder 4">
            <a:extLst>
              <a:ext uri="{FF2B5EF4-FFF2-40B4-BE49-F238E27FC236}">
                <a16:creationId xmlns:a16="http://schemas.microsoft.com/office/drawing/2014/main" id="{8ABE44B9-BB94-180E-6357-1A33C6F44CAD}"/>
              </a:ext>
            </a:extLst>
          </p:cNvPr>
          <p:cNvPicPr>
            <a:picLocks noGrp="1" noChangeAspect="1"/>
          </p:cNvPicPr>
          <p:nvPr>
            <p:ph idx="1"/>
          </p:nvPr>
        </p:nvPicPr>
        <p:blipFill>
          <a:blip r:embed="rId2"/>
          <a:stretch>
            <a:fillRect/>
          </a:stretch>
        </p:blipFill>
        <p:spPr>
          <a:xfrm>
            <a:off x="1134719" y="1690688"/>
            <a:ext cx="8869013" cy="4239217"/>
          </a:xfrm>
          <a:prstGeom prst="rect">
            <a:avLst/>
          </a:prstGeom>
        </p:spPr>
      </p:pic>
    </p:spTree>
    <p:extLst>
      <p:ext uri="{BB962C8B-B14F-4D97-AF65-F5344CB8AC3E}">
        <p14:creationId xmlns:p14="http://schemas.microsoft.com/office/powerpoint/2010/main" val="17414570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4D4B1-1525-E16B-1F29-2FF67F3AC2CC}"/>
              </a:ext>
            </a:extLst>
          </p:cNvPr>
          <p:cNvSpPr>
            <a:spLocks noGrp="1"/>
          </p:cNvSpPr>
          <p:nvPr>
            <p:ph type="title"/>
          </p:nvPr>
        </p:nvSpPr>
        <p:spPr/>
        <p:txBody>
          <a:bodyPr/>
          <a:lstStyle/>
          <a:p>
            <a:r>
              <a:rPr lang="en-IN" dirty="0"/>
              <a:t>Bidirectional Shift Registers</a:t>
            </a:r>
          </a:p>
        </p:txBody>
      </p:sp>
      <p:sp>
        <p:nvSpPr>
          <p:cNvPr id="3" name="Content Placeholder 2">
            <a:extLst>
              <a:ext uri="{FF2B5EF4-FFF2-40B4-BE49-F238E27FC236}">
                <a16:creationId xmlns:a16="http://schemas.microsoft.com/office/drawing/2014/main" id="{C9430D75-5163-A1C3-959D-5EBB0EAC47DE}"/>
              </a:ext>
            </a:extLst>
          </p:cNvPr>
          <p:cNvSpPr>
            <a:spLocks noGrp="1"/>
          </p:cNvSpPr>
          <p:nvPr>
            <p:ph idx="1"/>
          </p:nvPr>
        </p:nvSpPr>
        <p:spPr>
          <a:xfrm>
            <a:off x="838199" y="1690688"/>
            <a:ext cx="10740887" cy="4928773"/>
          </a:xfrm>
        </p:spPr>
        <p:txBody>
          <a:bodyPr>
            <a:normAutofit lnSpcReduction="10000"/>
          </a:bodyPr>
          <a:lstStyle/>
          <a:p>
            <a:r>
              <a:rPr lang="en-US" sz="2400" dirty="0"/>
              <a:t>A </a:t>
            </a:r>
            <a:r>
              <a:rPr lang="en-US" sz="2400" b="1" dirty="0"/>
              <a:t>bidirectional </a:t>
            </a:r>
            <a:r>
              <a:rPr lang="en-US" sz="2400" dirty="0"/>
              <a:t>shift register is one in which the data can be shifted either left or right. It can be implemented by using gating logic that enables the transfer of a data bit from one stage to the next stage to the right or to the left, depending on the level of a control line.</a:t>
            </a:r>
          </a:p>
          <a:p>
            <a:r>
              <a:rPr lang="en-US" sz="2400" dirty="0"/>
              <a:t>A HIGH on the RIGHT/LEFT control input allows data bits inside the register to be shifted to the right, and a LOW enables data bits inside the register to be shifted to the left.</a:t>
            </a:r>
          </a:p>
          <a:p>
            <a:r>
              <a:rPr lang="en-US" sz="2400" dirty="0"/>
              <a:t>When the RIGHT/LEFT control input is HIGH, gates G1 through G4 are enabled, and the state of the Q output of each flip-flop is passed through to the D input of the following flip-flop. When a clock pulse occurs, the data bits are shifted one place to the right. </a:t>
            </a:r>
          </a:p>
          <a:p>
            <a:r>
              <a:rPr lang="en-US" sz="2400" dirty="0"/>
              <a:t>When the RIGHT/LEFT control input is LOW, gates G5 through G8 are enabled, and the Q output of each flip-flop is passed through to the D input of the preceding flip-flop. When a clock pulse occurs, the data bits are then shifted one </a:t>
            </a:r>
            <a:r>
              <a:rPr lang="en-IN" sz="2400" dirty="0"/>
              <a:t>place to the left</a:t>
            </a:r>
          </a:p>
        </p:txBody>
      </p:sp>
    </p:spTree>
    <p:extLst>
      <p:ext uri="{BB962C8B-B14F-4D97-AF65-F5344CB8AC3E}">
        <p14:creationId xmlns:p14="http://schemas.microsoft.com/office/powerpoint/2010/main" val="32946593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4F329-5400-83E7-72E1-2718927F868D}"/>
              </a:ext>
            </a:extLst>
          </p:cNvPr>
          <p:cNvSpPr>
            <a:spLocks noGrp="1"/>
          </p:cNvSpPr>
          <p:nvPr>
            <p:ph type="title"/>
          </p:nvPr>
        </p:nvSpPr>
        <p:spPr/>
        <p:txBody>
          <a:bodyPr/>
          <a:lstStyle/>
          <a:p>
            <a:r>
              <a:rPr lang="en-IN" dirty="0"/>
              <a:t>Bidirectional Shift Registers</a:t>
            </a:r>
          </a:p>
        </p:txBody>
      </p:sp>
      <p:pic>
        <p:nvPicPr>
          <p:cNvPr id="5" name="Content Placeholder 4">
            <a:extLst>
              <a:ext uri="{FF2B5EF4-FFF2-40B4-BE49-F238E27FC236}">
                <a16:creationId xmlns:a16="http://schemas.microsoft.com/office/drawing/2014/main" id="{C9C2E489-AB5E-E890-171E-BF1129266130}"/>
              </a:ext>
            </a:extLst>
          </p:cNvPr>
          <p:cNvPicPr>
            <a:picLocks noGrp="1" noChangeAspect="1"/>
          </p:cNvPicPr>
          <p:nvPr>
            <p:ph idx="1"/>
          </p:nvPr>
        </p:nvPicPr>
        <p:blipFill>
          <a:blip r:embed="rId2"/>
          <a:stretch>
            <a:fillRect/>
          </a:stretch>
        </p:blipFill>
        <p:spPr>
          <a:xfrm>
            <a:off x="1054128" y="1863020"/>
            <a:ext cx="8971060" cy="4505174"/>
          </a:xfrm>
          <a:prstGeom prst="rect">
            <a:avLst/>
          </a:prstGeom>
        </p:spPr>
      </p:pic>
      <p:sp>
        <p:nvSpPr>
          <p:cNvPr id="7" name="TextBox 6">
            <a:extLst>
              <a:ext uri="{FF2B5EF4-FFF2-40B4-BE49-F238E27FC236}">
                <a16:creationId xmlns:a16="http://schemas.microsoft.com/office/drawing/2014/main" id="{CF920AB6-F54F-8D77-BB16-C524E538712E}"/>
              </a:ext>
            </a:extLst>
          </p:cNvPr>
          <p:cNvSpPr txBox="1"/>
          <p:nvPr/>
        </p:nvSpPr>
        <p:spPr>
          <a:xfrm>
            <a:off x="838200" y="1493658"/>
            <a:ext cx="10711070" cy="400110"/>
          </a:xfrm>
          <a:prstGeom prst="rect">
            <a:avLst/>
          </a:prstGeom>
          <a:noFill/>
        </p:spPr>
        <p:txBody>
          <a:bodyPr wrap="square">
            <a:spAutoFit/>
          </a:bodyPr>
          <a:lstStyle/>
          <a:p>
            <a:pPr algn="l"/>
            <a:r>
              <a:rPr lang="en-IN" sz="2000" b="0" i="0" u="none" strike="noStrike" baseline="0" dirty="0"/>
              <a:t>Assume that </a:t>
            </a:r>
            <a:r>
              <a:rPr lang="en-IN" sz="2000" b="0" i="1" u="none" strike="noStrike" baseline="0" dirty="0"/>
              <a:t>Q</a:t>
            </a:r>
            <a:r>
              <a:rPr lang="en-IN" sz="2000" b="0" i="0" u="none" strike="noStrike" baseline="0" dirty="0"/>
              <a:t>0 = 1, </a:t>
            </a:r>
            <a:r>
              <a:rPr lang="en-US" sz="2000" b="0" i="1" u="none" strike="noStrike" baseline="0" dirty="0"/>
              <a:t>Q</a:t>
            </a:r>
            <a:r>
              <a:rPr lang="en-US" sz="2000" b="0" i="0" u="none" strike="noStrike" baseline="0" dirty="0"/>
              <a:t>1 = 1, </a:t>
            </a:r>
            <a:r>
              <a:rPr lang="en-US" sz="2000" b="0" i="1" u="none" strike="noStrike" baseline="0" dirty="0"/>
              <a:t>Q</a:t>
            </a:r>
            <a:r>
              <a:rPr lang="en-US" sz="2000" b="0" i="0" u="none" strike="noStrike" baseline="0" dirty="0"/>
              <a:t>2 = 0, and </a:t>
            </a:r>
            <a:r>
              <a:rPr lang="en-US" sz="2000" b="0" i="1" u="none" strike="noStrike" baseline="0" dirty="0"/>
              <a:t>Q</a:t>
            </a:r>
            <a:r>
              <a:rPr lang="en-US" sz="2000" b="0" i="0" u="none" strike="noStrike" baseline="0" dirty="0"/>
              <a:t>3 = 1 and that the serial data-input line is LOW.</a:t>
            </a:r>
            <a:endParaRPr lang="en-IN" sz="2000" dirty="0"/>
          </a:p>
        </p:txBody>
      </p:sp>
    </p:spTree>
    <p:extLst>
      <p:ext uri="{BB962C8B-B14F-4D97-AF65-F5344CB8AC3E}">
        <p14:creationId xmlns:p14="http://schemas.microsoft.com/office/powerpoint/2010/main" val="42640023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1919</Words>
  <Application>Microsoft Office PowerPoint</Application>
  <PresentationFormat>Widescreen</PresentationFormat>
  <Paragraphs>88</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Helvetica</vt:lpstr>
      <vt:lpstr>Office Theme</vt:lpstr>
      <vt:lpstr>Common circuits based on sequential storage devices</vt:lpstr>
      <vt:lpstr>Toggle flop clock divider</vt:lpstr>
      <vt:lpstr>Toggle flop clock divider</vt:lpstr>
      <vt:lpstr>PowerPoint Presentation</vt:lpstr>
      <vt:lpstr>Asynchronous ripple counter</vt:lpstr>
      <vt:lpstr>PowerPoint Presentation</vt:lpstr>
      <vt:lpstr>Shift register</vt:lpstr>
      <vt:lpstr>Shift register</vt:lpstr>
      <vt:lpstr>PowerPoint Presentation</vt:lpstr>
      <vt:lpstr>Basic data movement in shift registers</vt:lpstr>
      <vt:lpstr>Serial In/Serial Out Shift Registers</vt:lpstr>
      <vt:lpstr>Serial In/Serial Out Shift Registers</vt:lpstr>
      <vt:lpstr>Serial In/Serial Out Shift Registers</vt:lpstr>
      <vt:lpstr>Serial In/Parallel Out Shift Registers</vt:lpstr>
      <vt:lpstr>Serial In/Parallel Out Shift Registers</vt:lpstr>
      <vt:lpstr>Serial In/Parallel Out Shift Registers</vt:lpstr>
      <vt:lpstr>Parallel In/Serial Out Shift Registers</vt:lpstr>
      <vt:lpstr>Parallel In/Serial Out Shift Registers</vt:lpstr>
      <vt:lpstr>Parallel In/Serial Out Shift Registers</vt:lpstr>
      <vt:lpstr>Parallel In/Serial Out Shift Registers</vt:lpstr>
      <vt:lpstr>Parallel In/Parallel Out Shift Registers</vt:lpstr>
      <vt:lpstr>Bidirectional Shift Registers</vt:lpstr>
      <vt:lpstr>Bidirectional Shift Registers</vt:lpstr>
      <vt:lpstr>Bidirectional Shift Registers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1</cp:revision>
  <dcterms:created xsi:type="dcterms:W3CDTF">2025-09-24T05:58:20Z</dcterms:created>
  <dcterms:modified xsi:type="dcterms:W3CDTF">2025-09-24T05:58:26Z</dcterms:modified>
</cp:coreProperties>
</file>