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06" r:id="rId3"/>
    <p:sldId id="307" r:id="rId4"/>
    <p:sldId id="308" r:id="rId5"/>
    <p:sldId id="310" r:id="rId6"/>
    <p:sldId id="309" r:id="rId7"/>
    <p:sldId id="311" r:id="rId8"/>
    <p:sldId id="312" r:id="rId9"/>
    <p:sldId id="313" r:id="rId10"/>
    <p:sldId id="314" r:id="rId11"/>
    <p:sldId id="315" r:id="rId12"/>
    <p:sldId id="316" r:id="rId13"/>
    <p:sldId id="318" r:id="rId14"/>
    <p:sldId id="317" r:id="rId15"/>
    <p:sldId id="319" r:id="rId16"/>
    <p:sldId id="320" r:id="rId17"/>
    <p:sldId id="32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55361-3D81-3E13-BA60-4814EB69B8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7A864B-BBAB-70B5-7864-BB7047773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A4DB11-0AF3-1AB9-71E8-8F579A808FAD}"/>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2867268D-C0AF-C2CF-D34F-A32971E1C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B96961-0534-6657-ED31-805E24C40FD0}"/>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721880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8356-4196-00B0-8083-9D1D1D8BE4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81637F-419B-416D-7933-5043685BB9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248467-EDD7-B4ED-3F36-3EA8AECA4186}"/>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81F05B85-7973-6DB4-E0D2-BB2D73854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C05E9D-71D0-61B7-CA6B-25B60A33E0BF}"/>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178294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52673-E7A3-442A-BB69-9CC254ED01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6779D2-083C-73D2-CCD6-E21E164640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E5ECD4-460B-E7C4-FF38-D0FF9F33C6C0}"/>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CF5A1019-36A6-194B-F5AF-8B3D833D31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4B02D4-9E52-635E-0990-86B620C309F3}"/>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286339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5F9B1-85EF-50C3-57A0-9762E043DB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20CC80-CA28-6094-C204-0493C93AEA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AB8B83-6C8B-55F3-9AB9-E7F8218C9E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139DF7-398E-D9EC-3BA2-5D16BE463232}"/>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6" name="Footer Placeholder 5">
            <a:extLst>
              <a:ext uri="{FF2B5EF4-FFF2-40B4-BE49-F238E27FC236}">
                <a16:creationId xmlns:a16="http://schemas.microsoft.com/office/drawing/2014/main" id="{182DF1CD-31C2-16DE-4204-672EF3B572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BF7575-A686-EAD0-5D51-70BBC9B00253}"/>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303336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3307-89CA-5422-9CDC-F4D826E839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D99BA6-91C2-0741-4029-6439ADF851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AA635-687D-4DF2-67A3-88F6DAFE5A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E22CFC-243F-C804-3636-EF68CAC25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A29F03-BD14-B619-F98F-F86F09C9D3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6F095B-079A-905A-98D2-D8CC6B812914}"/>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8" name="Footer Placeholder 7">
            <a:extLst>
              <a:ext uri="{FF2B5EF4-FFF2-40B4-BE49-F238E27FC236}">
                <a16:creationId xmlns:a16="http://schemas.microsoft.com/office/drawing/2014/main" id="{027D3B01-D4C2-6F93-BB7E-B8A5111624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DE7ED6-4AA8-B511-A3AE-9537F5502663}"/>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1932879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2E543-B35C-3C87-FC6D-8C5F0291BB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B5835F-5D32-F096-7032-03ED82DA8540}"/>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4" name="Footer Placeholder 3">
            <a:extLst>
              <a:ext uri="{FF2B5EF4-FFF2-40B4-BE49-F238E27FC236}">
                <a16:creationId xmlns:a16="http://schemas.microsoft.com/office/drawing/2014/main" id="{99D9D151-B59B-B299-6191-6920FC1174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F74192-37C5-6898-8CE0-7025C13C37FB}"/>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2046937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09D8C-8610-BC42-9B84-09E49D958621}"/>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3" name="Footer Placeholder 2">
            <a:extLst>
              <a:ext uri="{FF2B5EF4-FFF2-40B4-BE49-F238E27FC236}">
                <a16:creationId xmlns:a16="http://schemas.microsoft.com/office/drawing/2014/main" id="{2C300BFF-13F0-0CA7-B43E-6379D998A8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A83D51-61CD-7B91-AE9C-4E9CC1CDDE78}"/>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3159260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8C70-ECAC-D889-1F48-6C89CE958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1BCFEC-3416-ED0A-301E-A6B3E08FD7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250F11-3153-F91D-B3A0-E1D9DF506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336DB-0B0C-B480-9C94-B4A9F80B5471}"/>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6" name="Footer Placeholder 5">
            <a:extLst>
              <a:ext uri="{FF2B5EF4-FFF2-40B4-BE49-F238E27FC236}">
                <a16:creationId xmlns:a16="http://schemas.microsoft.com/office/drawing/2014/main" id="{66F70E4B-471B-57E4-19F8-5D275E0516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9FE399-9250-C2DB-1AB7-B7CDB210C044}"/>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3914654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5357-3D57-6497-C30E-2010A83896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DFB8FE-4629-B7E8-F462-8352148EF7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C335EC-E31E-B09C-841D-A973A9FB7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F02FCA-0DA6-7A97-DC85-7A84A3852A64}"/>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6" name="Footer Placeholder 5">
            <a:extLst>
              <a:ext uri="{FF2B5EF4-FFF2-40B4-BE49-F238E27FC236}">
                <a16:creationId xmlns:a16="http://schemas.microsoft.com/office/drawing/2014/main" id="{7AA8955C-35F1-C2EA-CDF9-98DE0E2008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4521C6-20AD-F128-74EC-527EAB3457E5}"/>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3756891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EEA1-DFC2-1942-BFAE-87715797D1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B2255B-D5FB-8D3A-82C6-B498B1CB47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1B8897-43B0-BDFC-E40D-1E3485889685}"/>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780D1FD6-246C-821C-657A-A7B56B191B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5CBDC-FE69-53BE-64B0-D648D0C43107}"/>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959893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B9C481-A7A3-C3AA-3D3A-2C80E0C41A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E0A64A-3BFD-CFA4-03BD-AA5EF962B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2C6D3B-AD78-1DE1-077D-A62CC62474F5}"/>
              </a:ext>
            </a:extLst>
          </p:cNvPr>
          <p:cNvSpPr>
            <a:spLocks noGrp="1"/>
          </p:cNvSpPr>
          <p:nvPr>
            <p:ph type="dt" sz="half" idx="10"/>
          </p:nvPr>
        </p:nvSpPr>
        <p:spPr/>
        <p:txBody>
          <a:body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42100BF3-324C-1FC7-A7C3-8B0A94116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F3EC64-3A4C-2189-5CFD-CD5531E24995}"/>
              </a:ext>
            </a:extLst>
          </p:cNvPr>
          <p:cNvSpPr>
            <a:spLocks noGrp="1"/>
          </p:cNvSpPr>
          <p:nvPr>
            <p:ph type="sldNum" sz="quarter" idx="12"/>
          </p:nvPr>
        </p:nvSpPr>
        <p:spPr/>
        <p:txBody>
          <a:bodyPr/>
          <a:lstStyle/>
          <a:p>
            <a:fld id="{31548C66-59BC-41E8-9913-25DC9270ECAD}" type="slidenum">
              <a:rPr lang="en-IN" smtClean="0"/>
              <a:t>‹#›</a:t>
            </a:fld>
            <a:endParaRPr lang="en-IN"/>
          </a:p>
        </p:txBody>
      </p:sp>
    </p:spTree>
    <p:extLst>
      <p:ext uri="{BB962C8B-B14F-4D97-AF65-F5344CB8AC3E}">
        <p14:creationId xmlns:p14="http://schemas.microsoft.com/office/powerpoint/2010/main" val="2705967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A98666-EDF7-8496-86E8-7E555AA0B9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983590-F411-7B46-7788-7F1CD23543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15D995-5591-024D-A400-3B6DF94AF9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0E36B-1BB8-4105-82C1-2E8075A37768}" type="datetimeFigureOut">
              <a:rPr lang="en-IN" smtClean="0"/>
              <a:t>09-05-2026</a:t>
            </a:fld>
            <a:endParaRPr lang="en-IN"/>
          </a:p>
        </p:txBody>
      </p:sp>
      <p:sp>
        <p:nvSpPr>
          <p:cNvPr id="5" name="Footer Placeholder 4">
            <a:extLst>
              <a:ext uri="{FF2B5EF4-FFF2-40B4-BE49-F238E27FC236}">
                <a16:creationId xmlns:a16="http://schemas.microsoft.com/office/drawing/2014/main" id="{3AE49EDD-B187-0C6E-DEE7-F07F4A162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4A7174-38FC-BF0B-8BB8-75C4168CF1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548C66-59BC-41E8-9913-25DC9270ECAD}" type="slidenum">
              <a:rPr lang="en-IN" smtClean="0"/>
              <a:t>‹#›</a:t>
            </a:fld>
            <a:endParaRPr lang="en-IN"/>
          </a:p>
        </p:txBody>
      </p:sp>
    </p:spTree>
    <p:extLst>
      <p:ext uri="{BB962C8B-B14F-4D97-AF65-F5344CB8AC3E}">
        <p14:creationId xmlns:p14="http://schemas.microsoft.com/office/powerpoint/2010/main" val="433902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8D5E-918F-F49A-5048-51C4F51AC53F}"/>
              </a:ext>
            </a:extLst>
          </p:cNvPr>
          <p:cNvSpPr>
            <a:spLocks noGrp="1"/>
          </p:cNvSpPr>
          <p:nvPr>
            <p:ph type="title"/>
          </p:nvPr>
        </p:nvSpPr>
        <p:spPr/>
        <p:txBody>
          <a:bodyPr>
            <a:normAutofit/>
          </a:bodyPr>
          <a:lstStyle/>
          <a:p>
            <a:r>
              <a:rPr lang="en-IN" dirty="0"/>
              <a:t>Conditional Programming constructs</a:t>
            </a:r>
          </a:p>
        </p:txBody>
      </p:sp>
      <p:sp>
        <p:nvSpPr>
          <p:cNvPr id="3" name="Content Placeholder 2">
            <a:extLst>
              <a:ext uri="{FF2B5EF4-FFF2-40B4-BE49-F238E27FC236}">
                <a16:creationId xmlns:a16="http://schemas.microsoft.com/office/drawing/2014/main" id="{CF473042-44CD-3059-857B-B3FA56C31762}"/>
              </a:ext>
            </a:extLst>
          </p:cNvPr>
          <p:cNvSpPr>
            <a:spLocks noGrp="1"/>
          </p:cNvSpPr>
          <p:nvPr>
            <p:ph idx="1"/>
          </p:nvPr>
        </p:nvSpPr>
        <p:spPr/>
        <p:txBody>
          <a:bodyPr/>
          <a:lstStyle/>
          <a:p>
            <a:r>
              <a:rPr lang="en-US" dirty="0"/>
              <a:t>One of the more powerful features that procedural blocks provide in Verilog is the ability to use conditional programming constructs such as if-else decisions, case statements, and loops. </a:t>
            </a:r>
          </a:p>
          <a:p>
            <a:r>
              <a:rPr lang="en-US" dirty="0"/>
              <a:t>These constructs are only available within a procedural block and can be used to model both combinational and sequential logic.</a:t>
            </a:r>
            <a:endParaRPr lang="en-IN" dirty="0"/>
          </a:p>
        </p:txBody>
      </p:sp>
    </p:spTree>
    <p:extLst>
      <p:ext uri="{BB962C8B-B14F-4D97-AF65-F5344CB8AC3E}">
        <p14:creationId xmlns:p14="http://schemas.microsoft.com/office/powerpoint/2010/main" val="393331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ECBEB-FD98-24CF-3995-167E2D4F9D03}"/>
              </a:ext>
            </a:extLst>
          </p:cNvPr>
          <p:cNvSpPr>
            <a:spLocks noGrp="1"/>
          </p:cNvSpPr>
          <p:nvPr>
            <p:ph type="title"/>
          </p:nvPr>
        </p:nvSpPr>
        <p:spPr/>
        <p:txBody>
          <a:bodyPr/>
          <a:lstStyle/>
          <a:p>
            <a:r>
              <a:rPr lang="en-IN" dirty="0"/>
              <a:t>if-else Statements</a:t>
            </a:r>
          </a:p>
        </p:txBody>
      </p:sp>
      <p:sp>
        <p:nvSpPr>
          <p:cNvPr id="3" name="Content Placeholder 2">
            <a:extLst>
              <a:ext uri="{FF2B5EF4-FFF2-40B4-BE49-F238E27FC236}">
                <a16:creationId xmlns:a16="http://schemas.microsoft.com/office/drawing/2014/main" id="{77034B25-DF53-B978-0015-606457D64836}"/>
              </a:ext>
            </a:extLst>
          </p:cNvPr>
          <p:cNvSpPr>
            <a:spLocks noGrp="1"/>
          </p:cNvSpPr>
          <p:nvPr>
            <p:ph idx="1"/>
          </p:nvPr>
        </p:nvSpPr>
        <p:spPr>
          <a:xfrm>
            <a:off x="838200" y="1690688"/>
            <a:ext cx="10515600" cy="4802187"/>
          </a:xfrm>
        </p:spPr>
        <p:txBody>
          <a:bodyPr>
            <a:normAutofit/>
          </a:bodyPr>
          <a:lstStyle/>
          <a:p>
            <a:r>
              <a:rPr lang="en-US" sz="2400" dirty="0"/>
              <a:t>An if-else statement provides a way to make conditional signal assignments based on Boolean conditions. </a:t>
            </a:r>
          </a:p>
          <a:p>
            <a:r>
              <a:rPr lang="en-US" sz="2400" dirty="0"/>
              <a:t>The </a:t>
            </a:r>
            <a:r>
              <a:rPr lang="en-US" sz="2400" b="1" dirty="0"/>
              <a:t>if </a:t>
            </a:r>
            <a:r>
              <a:rPr lang="en-US" sz="2400" dirty="0"/>
              <a:t>portion of statement is followed by a Boolean condition that if evaluated TRUE will cause the signal assignment listed after it to be performed.</a:t>
            </a:r>
          </a:p>
          <a:p>
            <a:r>
              <a:rPr lang="en-US" sz="2400" dirty="0"/>
              <a:t>If the Boolean condition is evaluated FALSE, the statements listed after the </a:t>
            </a:r>
            <a:r>
              <a:rPr lang="en-US" sz="2400" b="1" dirty="0"/>
              <a:t>else </a:t>
            </a:r>
            <a:r>
              <a:rPr lang="en-US" sz="2400" dirty="0"/>
              <a:t>portion are executed. </a:t>
            </a:r>
          </a:p>
          <a:p>
            <a:r>
              <a:rPr lang="en-US" sz="2400" dirty="0"/>
              <a:t>If multiple statements are to be executed in either the if or else portion, then the statement group keywords begin/end need to be used. </a:t>
            </a:r>
          </a:p>
          <a:p>
            <a:r>
              <a:rPr lang="en-US" sz="2400" dirty="0"/>
              <a:t>If only one statement is to be executed, then the statement group keywords are not needed.</a:t>
            </a:r>
          </a:p>
          <a:p>
            <a:r>
              <a:rPr lang="en-US" sz="2400" dirty="0"/>
              <a:t>The else portion of the statement is not required and if omitted, no assignment will take place when the Boolean condition is evaluated FALSE.</a:t>
            </a:r>
            <a:endParaRPr lang="en-IN" sz="2400" dirty="0"/>
          </a:p>
        </p:txBody>
      </p:sp>
    </p:spTree>
    <p:extLst>
      <p:ext uri="{BB962C8B-B14F-4D97-AF65-F5344CB8AC3E}">
        <p14:creationId xmlns:p14="http://schemas.microsoft.com/office/powerpoint/2010/main" val="1935522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F4272-E725-8123-7C72-4BF80FD7CC8A}"/>
              </a:ext>
            </a:extLst>
          </p:cNvPr>
          <p:cNvSpPr>
            <a:spLocks noGrp="1"/>
          </p:cNvSpPr>
          <p:nvPr>
            <p:ph type="title"/>
          </p:nvPr>
        </p:nvSpPr>
        <p:spPr/>
        <p:txBody>
          <a:bodyPr/>
          <a:lstStyle/>
          <a:p>
            <a:r>
              <a:rPr lang="en-IN" dirty="0"/>
              <a:t>if-else Statements</a:t>
            </a:r>
          </a:p>
        </p:txBody>
      </p:sp>
      <p:sp>
        <p:nvSpPr>
          <p:cNvPr id="3" name="Content Placeholder 2">
            <a:extLst>
              <a:ext uri="{FF2B5EF4-FFF2-40B4-BE49-F238E27FC236}">
                <a16:creationId xmlns:a16="http://schemas.microsoft.com/office/drawing/2014/main" id="{71F7D697-6005-9625-9356-5066C13476F3}"/>
              </a:ext>
            </a:extLst>
          </p:cNvPr>
          <p:cNvSpPr>
            <a:spLocks noGrp="1"/>
          </p:cNvSpPr>
          <p:nvPr>
            <p:ph idx="1"/>
          </p:nvPr>
        </p:nvSpPr>
        <p:spPr/>
        <p:txBody>
          <a:bodyPr>
            <a:normAutofit/>
          </a:bodyPr>
          <a:lstStyle/>
          <a:p>
            <a:r>
              <a:rPr lang="en-IN" sz="2400" dirty="0"/>
              <a:t>Syntax for an if-else statement is as follows:</a:t>
            </a:r>
          </a:p>
          <a:p>
            <a:r>
              <a:rPr lang="en-US" sz="2400" dirty="0"/>
              <a:t>The syntax for an if-else statement with multiple true/false statements is as </a:t>
            </a:r>
            <a:r>
              <a:rPr lang="en-IN" sz="2400" dirty="0"/>
              <a:t>follows:</a:t>
            </a:r>
          </a:p>
        </p:txBody>
      </p:sp>
      <p:pic>
        <p:nvPicPr>
          <p:cNvPr id="5" name="Picture 4">
            <a:extLst>
              <a:ext uri="{FF2B5EF4-FFF2-40B4-BE49-F238E27FC236}">
                <a16:creationId xmlns:a16="http://schemas.microsoft.com/office/drawing/2014/main" id="{6C686681-244D-5956-30B4-04150FD8AABF}"/>
              </a:ext>
            </a:extLst>
          </p:cNvPr>
          <p:cNvPicPr>
            <a:picLocks noChangeAspect="1"/>
          </p:cNvPicPr>
          <p:nvPr/>
        </p:nvPicPr>
        <p:blipFill>
          <a:blip r:embed="rId2"/>
          <a:stretch>
            <a:fillRect/>
          </a:stretch>
        </p:blipFill>
        <p:spPr>
          <a:xfrm>
            <a:off x="7318447" y="681037"/>
            <a:ext cx="3896269" cy="1257475"/>
          </a:xfrm>
          <a:prstGeom prst="rect">
            <a:avLst/>
          </a:prstGeom>
        </p:spPr>
      </p:pic>
      <p:pic>
        <p:nvPicPr>
          <p:cNvPr id="7" name="Picture 6">
            <a:extLst>
              <a:ext uri="{FF2B5EF4-FFF2-40B4-BE49-F238E27FC236}">
                <a16:creationId xmlns:a16="http://schemas.microsoft.com/office/drawing/2014/main" id="{A5855CFC-E9FB-E6F2-AD51-F2AB51690ED5}"/>
              </a:ext>
            </a:extLst>
          </p:cNvPr>
          <p:cNvPicPr>
            <a:picLocks noChangeAspect="1"/>
          </p:cNvPicPr>
          <p:nvPr/>
        </p:nvPicPr>
        <p:blipFill>
          <a:blip r:embed="rId3"/>
          <a:stretch>
            <a:fillRect/>
          </a:stretch>
        </p:blipFill>
        <p:spPr>
          <a:xfrm>
            <a:off x="1087851" y="3147590"/>
            <a:ext cx="3953427" cy="3029373"/>
          </a:xfrm>
          <a:prstGeom prst="rect">
            <a:avLst/>
          </a:prstGeom>
        </p:spPr>
      </p:pic>
    </p:spTree>
    <p:extLst>
      <p:ext uri="{BB962C8B-B14F-4D97-AF65-F5344CB8AC3E}">
        <p14:creationId xmlns:p14="http://schemas.microsoft.com/office/powerpoint/2010/main" val="3586095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3978-E218-3939-E046-A22F5C5BFDA2}"/>
              </a:ext>
            </a:extLst>
          </p:cNvPr>
          <p:cNvSpPr>
            <a:spLocks noGrp="1"/>
          </p:cNvSpPr>
          <p:nvPr>
            <p:ph type="title"/>
          </p:nvPr>
        </p:nvSpPr>
        <p:spPr/>
        <p:txBody>
          <a:bodyPr/>
          <a:lstStyle/>
          <a:p>
            <a:r>
              <a:rPr lang="en-IN" dirty="0"/>
              <a:t>if-else Statements</a:t>
            </a:r>
          </a:p>
        </p:txBody>
      </p:sp>
      <p:sp>
        <p:nvSpPr>
          <p:cNvPr id="3" name="Content Placeholder 2">
            <a:extLst>
              <a:ext uri="{FF2B5EF4-FFF2-40B4-BE49-F238E27FC236}">
                <a16:creationId xmlns:a16="http://schemas.microsoft.com/office/drawing/2014/main" id="{5119B733-755B-B600-42E6-CE4386FE65DB}"/>
              </a:ext>
            </a:extLst>
          </p:cNvPr>
          <p:cNvSpPr>
            <a:spLocks noGrp="1"/>
          </p:cNvSpPr>
          <p:nvPr>
            <p:ph idx="1"/>
          </p:nvPr>
        </p:nvSpPr>
        <p:spPr/>
        <p:txBody>
          <a:bodyPr>
            <a:normAutofit/>
          </a:bodyPr>
          <a:lstStyle/>
          <a:p>
            <a:r>
              <a:rPr lang="en-US" sz="2400" dirty="0"/>
              <a:t>If more than one Boolean condition is required, additional if-else statements can be embedded within the </a:t>
            </a:r>
            <a:r>
              <a:rPr lang="en-US" sz="2400" i="1" dirty="0"/>
              <a:t>else </a:t>
            </a:r>
            <a:r>
              <a:rPr lang="en-US" sz="2400" dirty="0"/>
              <a:t>clause of the preceding if statement. The following shows an example of if-else statements implementing two Boolean conditions.</a:t>
            </a:r>
            <a:endParaRPr lang="en-IN" sz="2400" dirty="0"/>
          </a:p>
        </p:txBody>
      </p:sp>
      <p:pic>
        <p:nvPicPr>
          <p:cNvPr id="5" name="Picture 4">
            <a:extLst>
              <a:ext uri="{FF2B5EF4-FFF2-40B4-BE49-F238E27FC236}">
                <a16:creationId xmlns:a16="http://schemas.microsoft.com/office/drawing/2014/main" id="{2599D976-1643-102B-DAB6-6255906E56E9}"/>
              </a:ext>
            </a:extLst>
          </p:cNvPr>
          <p:cNvPicPr>
            <a:picLocks noChangeAspect="1"/>
          </p:cNvPicPr>
          <p:nvPr/>
        </p:nvPicPr>
        <p:blipFill>
          <a:blip r:embed="rId2"/>
          <a:stretch>
            <a:fillRect/>
          </a:stretch>
        </p:blipFill>
        <p:spPr>
          <a:xfrm>
            <a:off x="1362337" y="3039134"/>
            <a:ext cx="5153744" cy="1924319"/>
          </a:xfrm>
          <a:prstGeom prst="rect">
            <a:avLst/>
          </a:prstGeom>
        </p:spPr>
      </p:pic>
    </p:spTree>
    <p:extLst>
      <p:ext uri="{BB962C8B-B14F-4D97-AF65-F5344CB8AC3E}">
        <p14:creationId xmlns:p14="http://schemas.microsoft.com/office/powerpoint/2010/main" val="3505767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EF60F3-C5EB-8248-0F18-E0A5F08BFB46}"/>
              </a:ext>
            </a:extLst>
          </p:cNvPr>
          <p:cNvPicPr>
            <a:picLocks noChangeAspect="1"/>
          </p:cNvPicPr>
          <p:nvPr/>
        </p:nvPicPr>
        <p:blipFill>
          <a:blip r:embed="rId2"/>
          <a:stretch>
            <a:fillRect/>
          </a:stretch>
        </p:blipFill>
        <p:spPr>
          <a:xfrm>
            <a:off x="799965" y="229455"/>
            <a:ext cx="10043626" cy="6222364"/>
          </a:xfrm>
          <a:prstGeom prst="rect">
            <a:avLst/>
          </a:prstGeom>
        </p:spPr>
      </p:pic>
    </p:spTree>
    <p:extLst>
      <p:ext uri="{BB962C8B-B14F-4D97-AF65-F5344CB8AC3E}">
        <p14:creationId xmlns:p14="http://schemas.microsoft.com/office/powerpoint/2010/main" val="384366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32D5C-9FE7-9646-8EAF-4E15FE4AD7C8}"/>
              </a:ext>
            </a:extLst>
          </p:cNvPr>
          <p:cNvSpPr>
            <a:spLocks noGrp="1"/>
          </p:cNvSpPr>
          <p:nvPr>
            <p:ph type="title"/>
          </p:nvPr>
        </p:nvSpPr>
        <p:spPr/>
        <p:txBody>
          <a:bodyPr/>
          <a:lstStyle/>
          <a:p>
            <a:r>
              <a:rPr lang="en-IN" dirty="0"/>
              <a:t>case Statements</a:t>
            </a:r>
          </a:p>
        </p:txBody>
      </p:sp>
      <p:sp>
        <p:nvSpPr>
          <p:cNvPr id="3" name="Content Placeholder 2">
            <a:extLst>
              <a:ext uri="{FF2B5EF4-FFF2-40B4-BE49-F238E27FC236}">
                <a16:creationId xmlns:a16="http://schemas.microsoft.com/office/drawing/2014/main" id="{F86B8470-40BE-C404-304F-1F5218CEA1EB}"/>
              </a:ext>
            </a:extLst>
          </p:cNvPr>
          <p:cNvSpPr>
            <a:spLocks noGrp="1"/>
          </p:cNvSpPr>
          <p:nvPr>
            <p:ph idx="1"/>
          </p:nvPr>
        </p:nvSpPr>
        <p:spPr/>
        <p:txBody>
          <a:bodyPr>
            <a:normAutofit/>
          </a:bodyPr>
          <a:lstStyle/>
          <a:p>
            <a:r>
              <a:rPr lang="en-US" sz="2000" dirty="0"/>
              <a:t>A </a:t>
            </a:r>
            <a:r>
              <a:rPr lang="en-US" sz="2000" i="1" dirty="0"/>
              <a:t>case </a:t>
            </a:r>
            <a:r>
              <a:rPr lang="en-US" sz="2000" dirty="0"/>
              <a:t>statement is another technique to model signal assignments based on Boolean conditions. </a:t>
            </a:r>
          </a:p>
          <a:p>
            <a:r>
              <a:rPr lang="en-US" sz="2000" dirty="0"/>
              <a:t>A case statement can only be used inside of a procedural block. </a:t>
            </a:r>
          </a:p>
          <a:p>
            <a:r>
              <a:rPr lang="en-US" sz="2000" dirty="0"/>
              <a:t>The statement begins with the keyword </a:t>
            </a:r>
            <a:r>
              <a:rPr lang="en-US" sz="2000" b="1" dirty="0"/>
              <a:t>case </a:t>
            </a:r>
            <a:r>
              <a:rPr lang="en-US" sz="2000" dirty="0"/>
              <a:t>followed by the input signal name that assignments will be based off of enclosed within parenthesis.</a:t>
            </a:r>
          </a:p>
          <a:p>
            <a:r>
              <a:rPr lang="en-US" sz="2000" dirty="0"/>
              <a:t>The case statement can be based on multiple input signal names by concatenating the signals within the parenthesis. </a:t>
            </a:r>
          </a:p>
          <a:p>
            <a:r>
              <a:rPr lang="en-US" sz="2000" dirty="0"/>
              <a:t>Then a series of input codes followed by the corresponding assignment is listed. </a:t>
            </a:r>
          </a:p>
          <a:p>
            <a:r>
              <a:rPr lang="en-US" sz="2000" dirty="0"/>
              <a:t>The keyword </a:t>
            </a:r>
            <a:r>
              <a:rPr lang="en-US" sz="2000" b="1" dirty="0"/>
              <a:t>default </a:t>
            </a:r>
            <a:r>
              <a:rPr lang="en-US" sz="2000" dirty="0"/>
              <a:t>can be used to provide the desired signal assignment for any input codes not explicitly listed. </a:t>
            </a:r>
          </a:p>
          <a:p>
            <a:r>
              <a:rPr lang="en-US" sz="2000" dirty="0"/>
              <a:t>When multiple input conditions have the same assignment statement, they can be listed on the same line comma-delimited to save space. </a:t>
            </a:r>
          </a:p>
          <a:p>
            <a:r>
              <a:rPr lang="en-US" sz="2000" dirty="0"/>
              <a:t>The keyword </a:t>
            </a:r>
            <a:r>
              <a:rPr lang="en-US" sz="2000" b="1" dirty="0" err="1"/>
              <a:t>endcase</a:t>
            </a:r>
            <a:r>
              <a:rPr lang="en-US" sz="2000" b="1" dirty="0"/>
              <a:t> </a:t>
            </a:r>
            <a:r>
              <a:rPr lang="en-US" sz="2000" dirty="0"/>
              <a:t>is used to denote the end </a:t>
            </a:r>
            <a:r>
              <a:rPr lang="en-IN" sz="2000" dirty="0"/>
              <a:t>of the case statement.</a:t>
            </a:r>
          </a:p>
        </p:txBody>
      </p:sp>
    </p:spTree>
    <p:extLst>
      <p:ext uri="{BB962C8B-B14F-4D97-AF65-F5344CB8AC3E}">
        <p14:creationId xmlns:p14="http://schemas.microsoft.com/office/powerpoint/2010/main" val="115350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3CE50-44AF-A01C-A91E-D4A7B1CCAF6B}"/>
              </a:ext>
            </a:extLst>
          </p:cNvPr>
          <p:cNvSpPr>
            <a:spLocks noGrp="1"/>
          </p:cNvSpPr>
          <p:nvPr>
            <p:ph type="title"/>
          </p:nvPr>
        </p:nvSpPr>
        <p:spPr/>
        <p:txBody>
          <a:bodyPr/>
          <a:lstStyle/>
          <a:p>
            <a:r>
              <a:rPr lang="en-IN" dirty="0"/>
              <a:t>case Statements</a:t>
            </a:r>
          </a:p>
        </p:txBody>
      </p:sp>
      <p:sp>
        <p:nvSpPr>
          <p:cNvPr id="3" name="Content Placeholder 2">
            <a:extLst>
              <a:ext uri="{FF2B5EF4-FFF2-40B4-BE49-F238E27FC236}">
                <a16:creationId xmlns:a16="http://schemas.microsoft.com/office/drawing/2014/main" id="{BF585670-B5B5-CB74-5F73-F8B67502CE98}"/>
              </a:ext>
            </a:extLst>
          </p:cNvPr>
          <p:cNvSpPr>
            <a:spLocks noGrp="1"/>
          </p:cNvSpPr>
          <p:nvPr>
            <p:ph idx="1"/>
          </p:nvPr>
        </p:nvSpPr>
        <p:spPr/>
        <p:txBody>
          <a:bodyPr>
            <a:normAutofit/>
          </a:bodyPr>
          <a:lstStyle/>
          <a:p>
            <a:r>
              <a:rPr lang="en-US" sz="2400" dirty="0"/>
              <a:t>The following is the syntax for a case statement.</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If-else statements can be embedded within a case statement and, conversely, case statements can be embedded within an if-else statement.</a:t>
            </a:r>
            <a:endParaRPr lang="en-IN" sz="2000" dirty="0"/>
          </a:p>
        </p:txBody>
      </p:sp>
      <p:pic>
        <p:nvPicPr>
          <p:cNvPr id="5" name="Picture 4">
            <a:extLst>
              <a:ext uri="{FF2B5EF4-FFF2-40B4-BE49-F238E27FC236}">
                <a16:creationId xmlns:a16="http://schemas.microsoft.com/office/drawing/2014/main" id="{DA231D80-8FF0-8904-6E11-7E5F355076EC}"/>
              </a:ext>
            </a:extLst>
          </p:cNvPr>
          <p:cNvPicPr>
            <a:picLocks noChangeAspect="1"/>
          </p:cNvPicPr>
          <p:nvPr/>
        </p:nvPicPr>
        <p:blipFill>
          <a:blip r:embed="rId2"/>
          <a:stretch>
            <a:fillRect/>
          </a:stretch>
        </p:blipFill>
        <p:spPr>
          <a:xfrm>
            <a:off x="1936774" y="2340744"/>
            <a:ext cx="4601217" cy="1838582"/>
          </a:xfrm>
          <a:prstGeom prst="rect">
            <a:avLst/>
          </a:prstGeom>
        </p:spPr>
      </p:pic>
      <p:pic>
        <p:nvPicPr>
          <p:cNvPr id="7" name="Picture 6">
            <a:extLst>
              <a:ext uri="{FF2B5EF4-FFF2-40B4-BE49-F238E27FC236}">
                <a16:creationId xmlns:a16="http://schemas.microsoft.com/office/drawing/2014/main" id="{1BD030EC-E302-0278-2B54-CD7CFD29EB9D}"/>
              </a:ext>
            </a:extLst>
          </p:cNvPr>
          <p:cNvPicPr>
            <a:picLocks noChangeAspect="1"/>
          </p:cNvPicPr>
          <p:nvPr/>
        </p:nvPicPr>
        <p:blipFill>
          <a:blip r:embed="rId3"/>
          <a:stretch>
            <a:fillRect/>
          </a:stretch>
        </p:blipFill>
        <p:spPr>
          <a:xfrm>
            <a:off x="1936774" y="4179326"/>
            <a:ext cx="1438476" cy="314369"/>
          </a:xfrm>
          <a:prstGeom prst="rect">
            <a:avLst/>
          </a:prstGeom>
        </p:spPr>
      </p:pic>
    </p:spTree>
    <p:extLst>
      <p:ext uri="{BB962C8B-B14F-4D97-AF65-F5344CB8AC3E}">
        <p14:creationId xmlns:p14="http://schemas.microsoft.com/office/powerpoint/2010/main" val="1021820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C89E25-0C7E-B108-FE97-F640A4166921}"/>
              </a:ext>
            </a:extLst>
          </p:cNvPr>
          <p:cNvPicPr>
            <a:picLocks noChangeAspect="1"/>
          </p:cNvPicPr>
          <p:nvPr/>
        </p:nvPicPr>
        <p:blipFill>
          <a:blip r:embed="rId2"/>
          <a:stretch>
            <a:fillRect/>
          </a:stretch>
        </p:blipFill>
        <p:spPr>
          <a:xfrm>
            <a:off x="625823" y="363045"/>
            <a:ext cx="10655089" cy="6071149"/>
          </a:xfrm>
          <a:prstGeom prst="rect">
            <a:avLst/>
          </a:prstGeom>
        </p:spPr>
      </p:pic>
    </p:spTree>
    <p:extLst>
      <p:ext uri="{BB962C8B-B14F-4D97-AF65-F5344CB8AC3E}">
        <p14:creationId xmlns:p14="http://schemas.microsoft.com/office/powerpoint/2010/main" val="272511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3A4D0-2FE5-51BA-EDEF-521AC1C15362}"/>
              </a:ext>
            </a:extLst>
          </p:cNvPr>
          <p:cNvPicPr>
            <a:picLocks noChangeAspect="1"/>
          </p:cNvPicPr>
          <p:nvPr/>
        </p:nvPicPr>
        <p:blipFill>
          <a:blip r:embed="rId2"/>
          <a:stretch>
            <a:fillRect/>
          </a:stretch>
        </p:blipFill>
        <p:spPr>
          <a:xfrm>
            <a:off x="384175" y="1063707"/>
            <a:ext cx="11423650" cy="4492267"/>
          </a:xfrm>
          <a:prstGeom prst="rect">
            <a:avLst/>
          </a:prstGeom>
        </p:spPr>
      </p:pic>
    </p:spTree>
    <p:extLst>
      <p:ext uri="{BB962C8B-B14F-4D97-AF65-F5344CB8AC3E}">
        <p14:creationId xmlns:p14="http://schemas.microsoft.com/office/powerpoint/2010/main" val="2456366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36F80-28AF-D4CC-5E58-C5A3CEC7FED2}"/>
              </a:ext>
            </a:extLst>
          </p:cNvPr>
          <p:cNvSpPr>
            <a:spLocks noGrp="1"/>
          </p:cNvSpPr>
          <p:nvPr>
            <p:ph type="title"/>
          </p:nvPr>
        </p:nvSpPr>
        <p:spPr/>
        <p:txBody>
          <a:bodyPr/>
          <a:lstStyle/>
          <a:p>
            <a:r>
              <a:rPr lang="en-IN" dirty="0" err="1"/>
              <a:t>casez</a:t>
            </a:r>
            <a:r>
              <a:rPr lang="en-IN" dirty="0"/>
              <a:t> and </a:t>
            </a:r>
            <a:r>
              <a:rPr lang="en-IN" dirty="0" err="1"/>
              <a:t>casex</a:t>
            </a:r>
            <a:r>
              <a:rPr lang="en-IN" dirty="0"/>
              <a:t> Statements</a:t>
            </a:r>
          </a:p>
        </p:txBody>
      </p:sp>
      <p:sp>
        <p:nvSpPr>
          <p:cNvPr id="3" name="Content Placeholder 2">
            <a:extLst>
              <a:ext uri="{FF2B5EF4-FFF2-40B4-BE49-F238E27FC236}">
                <a16:creationId xmlns:a16="http://schemas.microsoft.com/office/drawing/2014/main" id="{3AD9307E-1407-F1D3-39E3-70EAF8FE73D9}"/>
              </a:ext>
            </a:extLst>
          </p:cNvPr>
          <p:cNvSpPr>
            <a:spLocks noGrp="1"/>
          </p:cNvSpPr>
          <p:nvPr>
            <p:ph idx="1"/>
          </p:nvPr>
        </p:nvSpPr>
        <p:spPr/>
        <p:txBody>
          <a:bodyPr>
            <a:normAutofit/>
          </a:bodyPr>
          <a:lstStyle/>
          <a:p>
            <a:r>
              <a:rPr lang="en-US" sz="2400" dirty="0"/>
              <a:t>Verilog provides two additional case statements that support don’t cares in the input conditions. </a:t>
            </a:r>
          </a:p>
          <a:p>
            <a:r>
              <a:rPr lang="en-US" sz="2400" dirty="0"/>
              <a:t>The </a:t>
            </a:r>
            <a:r>
              <a:rPr lang="en-US" sz="2400" b="1" dirty="0" err="1"/>
              <a:t>casez</a:t>
            </a:r>
            <a:r>
              <a:rPr lang="en-US" sz="2400" b="1" dirty="0"/>
              <a:t> </a:t>
            </a:r>
            <a:r>
              <a:rPr lang="en-US" sz="2400" dirty="0"/>
              <a:t>statement allows the symbols? and </a:t>
            </a:r>
            <a:r>
              <a:rPr lang="en-US" sz="2400" b="1" dirty="0"/>
              <a:t>Z </a:t>
            </a:r>
            <a:r>
              <a:rPr lang="en-US" sz="2400" dirty="0"/>
              <a:t>to represent a don’t care. </a:t>
            </a:r>
          </a:p>
          <a:p>
            <a:r>
              <a:rPr lang="en-US" sz="2400" dirty="0"/>
              <a:t>The </a:t>
            </a:r>
            <a:r>
              <a:rPr lang="en-US" sz="2400" b="1" dirty="0" err="1"/>
              <a:t>casex</a:t>
            </a:r>
            <a:r>
              <a:rPr lang="en-US" sz="2400" b="1" dirty="0"/>
              <a:t> </a:t>
            </a:r>
            <a:r>
              <a:rPr lang="en-US" sz="2400" dirty="0"/>
              <a:t>statement extends the </a:t>
            </a:r>
            <a:r>
              <a:rPr lang="en-US" sz="2400" dirty="0" err="1"/>
              <a:t>casez</a:t>
            </a:r>
            <a:r>
              <a:rPr lang="en-US" sz="2400" dirty="0"/>
              <a:t> statement by also interpreting </a:t>
            </a:r>
            <a:r>
              <a:rPr lang="en-US" sz="2400" b="1" dirty="0"/>
              <a:t>X </a:t>
            </a:r>
            <a:r>
              <a:rPr lang="en-US" sz="2400" dirty="0"/>
              <a:t>as a don’t care. </a:t>
            </a:r>
          </a:p>
          <a:p>
            <a:r>
              <a:rPr lang="en-US" sz="2400" dirty="0"/>
              <a:t>Care should be taken when using the </a:t>
            </a:r>
            <a:r>
              <a:rPr lang="en-US" sz="2400" dirty="0" err="1"/>
              <a:t>casez</a:t>
            </a:r>
            <a:r>
              <a:rPr lang="en-US" sz="2400" dirty="0"/>
              <a:t> and </a:t>
            </a:r>
            <a:r>
              <a:rPr lang="en-US" sz="2400" dirty="0" err="1"/>
              <a:t>casex</a:t>
            </a:r>
            <a:r>
              <a:rPr lang="en-US" sz="2400" dirty="0"/>
              <a:t> statement as it is easy to create unintended logic when using don’t cares in the input codes.</a:t>
            </a:r>
            <a:endParaRPr lang="en-IN" sz="2400" dirty="0"/>
          </a:p>
        </p:txBody>
      </p:sp>
    </p:spTree>
    <p:extLst>
      <p:ext uri="{BB962C8B-B14F-4D97-AF65-F5344CB8AC3E}">
        <p14:creationId xmlns:p14="http://schemas.microsoft.com/office/powerpoint/2010/main" val="2848543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D5EC-CAD0-2C3D-9521-372782D9794B}"/>
              </a:ext>
            </a:extLst>
          </p:cNvPr>
          <p:cNvSpPr>
            <a:spLocks noGrp="1"/>
          </p:cNvSpPr>
          <p:nvPr>
            <p:ph type="title"/>
          </p:nvPr>
        </p:nvSpPr>
        <p:spPr/>
        <p:txBody>
          <a:bodyPr/>
          <a:lstStyle/>
          <a:p>
            <a:r>
              <a:rPr lang="en-IN" dirty="0"/>
              <a:t>forever Loops</a:t>
            </a:r>
          </a:p>
        </p:txBody>
      </p:sp>
      <p:sp>
        <p:nvSpPr>
          <p:cNvPr id="3" name="Content Placeholder 2">
            <a:extLst>
              <a:ext uri="{FF2B5EF4-FFF2-40B4-BE49-F238E27FC236}">
                <a16:creationId xmlns:a16="http://schemas.microsoft.com/office/drawing/2014/main" id="{5B5AD6D5-633D-E33C-E444-B6D5BCC9E0BB}"/>
              </a:ext>
            </a:extLst>
          </p:cNvPr>
          <p:cNvSpPr>
            <a:spLocks noGrp="1"/>
          </p:cNvSpPr>
          <p:nvPr>
            <p:ph idx="1"/>
          </p:nvPr>
        </p:nvSpPr>
        <p:spPr/>
        <p:txBody>
          <a:bodyPr>
            <a:normAutofit lnSpcReduction="10000"/>
          </a:bodyPr>
          <a:lstStyle/>
          <a:p>
            <a:r>
              <a:rPr lang="en-US" sz="2400" dirty="0"/>
              <a:t>A </a:t>
            </a:r>
            <a:r>
              <a:rPr lang="en-US" sz="2400" i="1" dirty="0"/>
              <a:t>loop </a:t>
            </a:r>
            <a:r>
              <a:rPr lang="en-US" sz="2400" dirty="0"/>
              <a:t>within Verilog provides a mechanism to perform repetitive assignments infinitely. This is useful in test benches for creating stimulus such as clocks or other periodic signals. </a:t>
            </a:r>
          </a:p>
          <a:p>
            <a:r>
              <a:rPr lang="en-US" sz="2400" dirty="0"/>
              <a:t>All looping constructs must reside with a procedural block. The simplest looping construct is the </a:t>
            </a:r>
            <a:r>
              <a:rPr lang="en-US" sz="2400" b="1" dirty="0"/>
              <a:t>forever </a:t>
            </a:r>
            <a:r>
              <a:rPr lang="en-US" sz="2400" dirty="0"/>
              <a:t>loop. </a:t>
            </a:r>
          </a:p>
          <a:p>
            <a:r>
              <a:rPr lang="en-US" sz="2400" dirty="0"/>
              <a:t>As with other conditional programming constructs, if multiple statements are associated with the forever loop they must be enclosed within a statement group. If only one statement is used the statement group is not needed. </a:t>
            </a:r>
          </a:p>
          <a:p>
            <a:r>
              <a:rPr lang="en-US" sz="2400" dirty="0"/>
              <a:t>A forever loop within an initial block provides identical behavior as an always loop without a sensitivity loop. </a:t>
            </a:r>
          </a:p>
          <a:p>
            <a:r>
              <a:rPr lang="en-US" sz="2400" dirty="0"/>
              <a:t>It is important to provide a time step event or delay within a forever loop or it will cause a simulation </a:t>
            </a:r>
            <a:r>
              <a:rPr lang="en-IN" sz="2400" dirty="0"/>
              <a:t>to hang.</a:t>
            </a:r>
          </a:p>
        </p:txBody>
      </p:sp>
    </p:spTree>
    <p:extLst>
      <p:ext uri="{BB962C8B-B14F-4D97-AF65-F5344CB8AC3E}">
        <p14:creationId xmlns:p14="http://schemas.microsoft.com/office/powerpoint/2010/main" val="908147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13AA-51F3-7474-EB84-65E3EC4B538D}"/>
              </a:ext>
            </a:extLst>
          </p:cNvPr>
          <p:cNvSpPr>
            <a:spLocks noGrp="1"/>
          </p:cNvSpPr>
          <p:nvPr>
            <p:ph type="title"/>
          </p:nvPr>
        </p:nvSpPr>
        <p:spPr/>
        <p:txBody>
          <a:bodyPr/>
          <a:lstStyle/>
          <a:p>
            <a:r>
              <a:rPr lang="en-IN" dirty="0"/>
              <a:t>forever Loops</a:t>
            </a:r>
          </a:p>
        </p:txBody>
      </p:sp>
      <p:sp>
        <p:nvSpPr>
          <p:cNvPr id="3" name="Content Placeholder 2">
            <a:extLst>
              <a:ext uri="{FF2B5EF4-FFF2-40B4-BE49-F238E27FC236}">
                <a16:creationId xmlns:a16="http://schemas.microsoft.com/office/drawing/2014/main" id="{737D42FA-6050-7DC3-CFD9-FD417B5F1770}"/>
              </a:ext>
            </a:extLst>
          </p:cNvPr>
          <p:cNvSpPr>
            <a:spLocks noGrp="1"/>
          </p:cNvSpPr>
          <p:nvPr>
            <p:ph idx="1"/>
          </p:nvPr>
        </p:nvSpPr>
        <p:spPr/>
        <p:txBody>
          <a:bodyPr>
            <a:normAutofit/>
          </a:bodyPr>
          <a:lstStyle/>
          <a:p>
            <a:r>
              <a:rPr lang="en-US" sz="2400" dirty="0"/>
              <a:t>The following is the syntax for a forever loop in Verilog.</a:t>
            </a:r>
          </a:p>
          <a:p>
            <a:r>
              <a:rPr lang="en-US" sz="2400" dirty="0"/>
              <a:t>Consider the following example of a forever loop that generates a clock signal (CLK) with a period of 10 time units. In this example, the forever loop is embedded within an initial block. This allows the initial value of CLK to be set to zero upon the beginning of the simulation. Once the forever loop is entered, it will execute indefinitely. </a:t>
            </a:r>
          </a:p>
          <a:p>
            <a:r>
              <a:rPr lang="en-US" sz="2400" dirty="0"/>
              <a:t>Notice that since there is only one statement after the forever keyword, a statement group (i.e., begin/end) is not needed.</a:t>
            </a:r>
            <a:endParaRPr lang="en-IN" sz="2000" dirty="0"/>
          </a:p>
        </p:txBody>
      </p:sp>
      <p:pic>
        <p:nvPicPr>
          <p:cNvPr id="5" name="Picture 4">
            <a:extLst>
              <a:ext uri="{FF2B5EF4-FFF2-40B4-BE49-F238E27FC236}">
                <a16:creationId xmlns:a16="http://schemas.microsoft.com/office/drawing/2014/main" id="{1105AD50-1D41-7D12-5D6D-92443B0199EE}"/>
              </a:ext>
            </a:extLst>
          </p:cNvPr>
          <p:cNvPicPr>
            <a:picLocks noChangeAspect="1"/>
          </p:cNvPicPr>
          <p:nvPr/>
        </p:nvPicPr>
        <p:blipFill>
          <a:blip r:embed="rId2"/>
          <a:stretch>
            <a:fillRect/>
          </a:stretch>
        </p:blipFill>
        <p:spPr>
          <a:xfrm>
            <a:off x="8091339" y="150795"/>
            <a:ext cx="3766043" cy="2155083"/>
          </a:xfrm>
          <a:prstGeom prst="rect">
            <a:avLst/>
          </a:prstGeom>
        </p:spPr>
      </p:pic>
      <p:sp>
        <p:nvSpPr>
          <p:cNvPr id="7" name="TextBox 6">
            <a:extLst>
              <a:ext uri="{FF2B5EF4-FFF2-40B4-BE49-F238E27FC236}">
                <a16:creationId xmlns:a16="http://schemas.microsoft.com/office/drawing/2014/main" id="{C546A609-AF48-B40E-6B7D-F00AE82C7197}"/>
              </a:ext>
            </a:extLst>
          </p:cNvPr>
          <p:cNvSpPr txBox="1"/>
          <p:nvPr/>
        </p:nvSpPr>
        <p:spPr>
          <a:xfrm>
            <a:off x="3876704" y="4952879"/>
            <a:ext cx="6097656" cy="1938992"/>
          </a:xfrm>
          <a:prstGeom prst="rect">
            <a:avLst/>
          </a:prstGeom>
          <a:noFill/>
        </p:spPr>
        <p:txBody>
          <a:bodyPr wrap="square">
            <a:spAutoFit/>
          </a:bodyPr>
          <a:lstStyle/>
          <a:p>
            <a:pPr algn="l"/>
            <a:r>
              <a:rPr lang="en-IN" sz="2000" b="1" i="0" u="none" strike="noStrike" baseline="0" dirty="0"/>
              <a:t>initial</a:t>
            </a:r>
          </a:p>
          <a:p>
            <a:pPr algn="l"/>
            <a:r>
              <a:rPr lang="en-IN" sz="2000" b="1" i="0" u="none" strike="noStrike" baseline="0" dirty="0"/>
              <a:t>begin</a:t>
            </a:r>
          </a:p>
          <a:p>
            <a:pPr algn="l"/>
            <a:r>
              <a:rPr lang="en-IN" sz="2000" b="1" i="0" u="none" strike="noStrike" baseline="0" dirty="0"/>
              <a:t>CLK = 0;</a:t>
            </a:r>
          </a:p>
          <a:p>
            <a:pPr algn="l"/>
            <a:r>
              <a:rPr lang="en-IN" sz="2000" b="1" i="0" u="none" strike="noStrike" baseline="0" dirty="0"/>
              <a:t>forever</a:t>
            </a:r>
          </a:p>
          <a:p>
            <a:pPr algn="l"/>
            <a:r>
              <a:rPr lang="en-IN" sz="2000" b="1" i="0" u="none" strike="noStrike" baseline="0" dirty="0"/>
              <a:t>#10 CLK = ~CLK;</a:t>
            </a:r>
          </a:p>
          <a:p>
            <a:pPr algn="l"/>
            <a:r>
              <a:rPr lang="en-IN" sz="2000" b="1" i="0" u="none" strike="noStrike" baseline="0" dirty="0"/>
              <a:t>end</a:t>
            </a:r>
            <a:endParaRPr lang="en-IN" sz="2000" b="1" dirty="0"/>
          </a:p>
        </p:txBody>
      </p:sp>
    </p:spTree>
    <p:extLst>
      <p:ext uri="{BB962C8B-B14F-4D97-AF65-F5344CB8AC3E}">
        <p14:creationId xmlns:p14="http://schemas.microsoft.com/office/powerpoint/2010/main" val="2249711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8112-106B-A2A5-90B2-A053DE3909EE}"/>
              </a:ext>
            </a:extLst>
          </p:cNvPr>
          <p:cNvSpPr>
            <a:spLocks noGrp="1"/>
          </p:cNvSpPr>
          <p:nvPr>
            <p:ph type="title"/>
          </p:nvPr>
        </p:nvSpPr>
        <p:spPr/>
        <p:txBody>
          <a:bodyPr/>
          <a:lstStyle/>
          <a:p>
            <a:r>
              <a:rPr lang="en-IN" dirty="0"/>
              <a:t>while Loops</a:t>
            </a:r>
          </a:p>
        </p:txBody>
      </p:sp>
      <p:sp>
        <p:nvSpPr>
          <p:cNvPr id="3" name="Content Placeholder 2">
            <a:extLst>
              <a:ext uri="{FF2B5EF4-FFF2-40B4-BE49-F238E27FC236}">
                <a16:creationId xmlns:a16="http://schemas.microsoft.com/office/drawing/2014/main" id="{1DE5DCCE-9953-3881-7C58-4B38FC0BCE6B}"/>
              </a:ext>
            </a:extLst>
          </p:cNvPr>
          <p:cNvSpPr>
            <a:spLocks noGrp="1"/>
          </p:cNvSpPr>
          <p:nvPr>
            <p:ph idx="1"/>
          </p:nvPr>
        </p:nvSpPr>
        <p:spPr>
          <a:xfrm>
            <a:off x="838200" y="1470991"/>
            <a:ext cx="10515600" cy="5128592"/>
          </a:xfrm>
        </p:spPr>
        <p:txBody>
          <a:bodyPr>
            <a:noAutofit/>
          </a:bodyPr>
          <a:lstStyle/>
          <a:p>
            <a:r>
              <a:rPr lang="en-US" sz="2400" dirty="0"/>
              <a:t>A </a:t>
            </a:r>
            <a:r>
              <a:rPr lang="en-US" sz="2400" b="1" dirty="0"/>
              <a:t>while </a:t>
            </a:r>
            <a:r>
              <a:rPr lang="en-US" sz="2400" dirty="0"/>
              <a:t>loop provides a looping structure with a Boolean condition that controls its execution. The loop will only execute as long as the Boolean condition is evaluated true. The following is the syntax for a Verilog while loop.</a:t>
            </a:r>
          </a:p>
          <a:p>
            <a:endParaRPr lang="en-US" sz="2400" dirty="0"/>
          </a:p>
          <a:p>
            <a:endParaRPr lang="en-US" sz="2400" dirty="0"/>
          </a:p>
          <a:p>
            <a:endParaRPr lang="en-US" sz="2400" dirty="0"/>
          </a:p>
          <a:p>
            <a:endParaRPr lang="en-US" sz="2400" dirty="0"/>
          </a:p>
          <a:p>
            <a:endParaRPr lang="en-US" sz="2400" dirty="0"/>
          </a:p>
          <a:p>
            <a:endParaRPr lang="en-US" sz="800" dirty="0"/>
          </a:p>
          <a:p>
            <a:r>
              <a:rPr lang="en-IN" sz="2400" dirty="0"/>
              <a:t>The given example generates a clock signal </a:t>
            </a:r>
            <a:r>
              <a:rPr lang="en-US" sz="2400" dirty="0"/>
              <a:t>(CLK) with a period of 10 time units as long as EN = 1. The TRUE Boolean condition for the while loop is EN = 1. When EN = 0, the while loop will be skipped. When the loop becomes inactive, CLK will hold its last assigned value.</a:t>
            </a:r>
            <a:endParaRPr lang="en-IN" sz="2400" dirty="0"/>
          </a:p>
        </p:txBody>
      </p:sp>
      <p:pic>
        <p:nvPicPr>
          <p:cNvPr id="5" name="Picture 4">
            <a:extLst>
              <a:ext uri="{FF2B5EF4-FFF2-40B4-BE49-F238E27FC236}">
                <a16:creationId xmlns:a16="http://schemas.microsoft.com/office/drawing/2014/main" id="{2D585585-80D7-ABDB-B3ED-8649EB3DF5D0}"/>
              </a:ext>
            </a:extLst>
          </p:cNvPr>
          <p:cNvPicPr>
            <a:picLocks noChangeAspect="1"/>
          </p:cNvPicPr>
          <p:nvPr/>
        </p:nvPicPr>
        <p:blipFill>
          <a:blip r:embed="rId2"/>
          <a:stretch>
            <a:fillRect/>
          </a:stretch>
        </p:blipFill>
        <p:spPr>
          <a:xfrm>
            <a:off x="1162760" y="2654223"/>
            <a:ext cx="4658375" cy="2086266"/>
          </a:xfrm>
          <a:prstGeom prst="rect">
            <a:avLst/>
          </a:prstGeom>
        </p:spPr>
      </p:pic>
      <p:sp>
        <p:nvSpPr>
          <p:cNvPr id="7" name="TextBox 6">
            <a:extLst>
              <a:ext uri="{FF2B5EF4-FFF2-40B4-BE49-F238E27FC236}">
                <a16:creationId xmlns:a16="http://schemas.microsoft.com/office/drawing/2014/main" id="{720AB4E2-9FC8-BE08-5B5A-685AB7593B84}"/>
              </a:ext>
            </a:extLst>
          </p:cNvPr>
          <p:cNvSpPr txBox="1"/>
          <p:nvPr/>
        </p:nvSpPr>
        <p:spPr>
          <a:xfrm>
            <a:off x="6094344" y="2654223"/>
            <a:ext cx="6097656" cy="2308324"/>
          </a:xfrm>
          <a:prstGeom prst="rect">
            <a:avLst/>
          </a:prstGeom>
          <a:noFill/>
        </p:spPr>
        <p:txBody>
          <a:bodyPr wrap="square">
            <a:spAutoFit/>
          </a:bodyPr>
          <a:lstStyle/>
          <a:p>
            <a:pPr algn="l"/>
            <a:r>
              <a:rPr lang="en-IN" sz="2400" b="1" i="0" u="none" strike="noStrike" baseline="0" dirty="0"/>
              <a:t>Example </a:t>
            </a:r>
          </a:p>
          <a:p>
            <a:pPr algn="l"/>
            <a:r>
              <a:rPr lang="en-IN" sz="2000" b="0" i="0" u="none" strike="noStrike" baseline="0" dirty="0"/>
              <a:t>initial</a:t>
            </a:r>
          </a:p>
          <a:p>
            <a:pPr algn="l"/>
            <a:r>
              <a:rPr lang="en-IN" sz="2000" b="0" i="0" u="none" strike="noStrike" baseline="0" dirty="0"/>
              <a:t>begin</a:t>
            </a:r>
          </a:p>
          <a:p>
            <a:pPr algn="l"/>
            <a:r>
              <a:rPr lang="en-IN" sz="2000" b="0" i="0" u="none" strike="noStrike" baseline="0" dirty="0"/>
              <a:t>CLK = 0;</a:t>
            </a:r>
          </a:p>
          <a:p>
            <a:pPr algn="l"/>
            <a:r>
              <a:rPr lang="en-IN" sz="2000" b="0" i="0" u="none" strike="noStrike" baseline="0" dirty="0"/>
              <a:t>while (EN == 1)</a:t>
            </a:r>
          </a:p>
          <a:p>
            <a:pPr algn="l"/>
            <a:r>
              <a:rPr lang="en-IN" sz="2000" b="0" i="0" u="none" strike="noStrike" baseline="0" dirty="0"/>
              <a:t>#10 CLK = ~CLK;</a:t>
            </a:r>
          </a:p>
          <a:p>
            <a:pPr algn="l"/>
            <a:r>
              <a:rPr lang="en-IN" sz="2000" b="0" i="0" u="none" strike="noStrike" baseline="0" dirty="0"/>
              <a:t>end</a:t>
            </a:r>
            <a:endParaRPr lang="en-IN" sz="2000" dirty="0"/>
          </a:p>
        </p:txBody>
      </p:sp>
    </p:spTree>
    <p:extLst>
      <p:ext uri="{BB962C8B-B14F-4D97-AF65-F5344CB8AC3E}">
        <p14:creationId xmlns:p14="http://schemas.microsoft.com/office/powerpoint/2010/main" val="2230923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6CB2-7EB2-E91D-2A65-57F0447C3894}"/>
              </a:ext>
            </a:extLst>
          </p:cNvPr>
          <p:cNvSpPr>
            <a:spLocks noGrp="1"/>
          </p:cNvSpPr>
          <p:nvPr>
            <p:ph type="title"/>
          </p:nvPr>
        </p:nvSpPr>
        <p:spPr/>
        <p:txBody>
          <a:bodyPr/>
          <a:lstStyle/>
          <a:p>
            <a:r>
              <a:rPr lang="en-IN"/>
              <a:t>repeat Loops</a:t>
            </a:r>
            <a:endParaRPr lang="en-IN" dirty="0"/>
          </a:p>
        </p:txBody>
      </p:sp>
      <p:sp>
        <p:nvSpPr>
          <p:cNvPr id="3" name="Content Placeholder 2">
            <a:extLst>
              <a:ext uri="{FF2B5EF4-FFF2-40B4-BE49-F238E27FC236}">
                <a16:creationId xmlns:a16="http://schemas.microsoft.com/office/drawing/2014/main" id="{CDD44B12-76DF-0918-EC40-D5261711BDFD}"/>
              </a:ext>
            </a:extLst>
          </p:cNvPr>
          <p:cNvSpPr>
            <a:spLocks noGrp="1"/>
          </p:cNvSpPr>
          <p:nvPr>
            <p:ph idx="1"/>
          </p:nvPr>
        </p:nvSpPr>
        <p:spPr>
          <a:xfrm>
            <a:off x="838200" y="1825625"/>
            <a:ext cx="10515600" cy="4932984"/>
          </a:xfrm>
        </p:spPr>
        <p:txBody>
          <a:bodyPr>
            <a:noAutofit/>
          </a:bodyPr>
          <a:lstStyle/>
          <a:p>
            <a:r>
              <a:rPr lang="en-US" sz="2400" dirty="0"/>
              <a:t>A </a:t>
            </a:r>
            <a:r>
              <a:rPr lang="en-US" sz="2400" b="1" dirty="0"/>
              <a:t>repeat </a:t>
            </a:r>
            <a:r>
              <a:rPr lang="en-US" sz="2400" dirty="0"/>
              <a:t>loop provides a looping structure that will execute a fixed number of times. The following is the syntax for a Verilog repeat loop.</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800" dirty="0"/>
          </a:p>
          <a:p>
            <a:r>
              <a:rPr lang="en-US" sz="2400" dirty="0"/>
              <a:t>Example generates a clock signal (CLK) with a period of 10 time units to only produce 10 clock transitions, or 5 full periods of CLK.</a:t>
            </a:r>
          </a:p>
        </p:txBody>
      </p:sp>
      <p:pic>
        <p:nvPicPr>
          <p:cNvPr id="5" name="Picture 4">
            <a:extLst>
              <a:ext uri="{FF2B5EF4-FFF2-40B4-BE49-F238E27FC236}">
                <a16:creationId xmlns:a16="http://schemas.microsoft.com/office/drawing/2014/main" id="{8C40CEE5-AA8F-7DD6-0B5D-84E457F32899}"/>
              </a:ext>
            </a:extLst>
          </p:cNvPr>
          <p:cNvPicPr>
            <a:picLocks noChangeAspect="1"/>
          </p:cNvPicPr>
          <p:nvPr/>
        </p:nvPicPr>
        <p:blipFill>
          <a:blip r:embed="rId2"/>
          <a:stretch>
            <a:fillRect/>
          </a:stretch>
        </p:blipFill>
        <p:spPr>
          <a:xfrm>
            <a:off x="1167968" y="2684262"/>
            <a:ext cx="4210638" cy="1867161"/>
          </a:xfrm>
          <a:prstGeom prst="rect">
            <a:avLst/>
          </a:prstGeom>
        </p:spPr>
      </p:pic>
      <p:pic>
        <p:nvPicPr>
          <p:cNvPr id="7" name="Picture 6">
            <a:extLst>
              <a:ext uri="{FF2B5EF4-FFF2-40B4-BE49-F238E27FC236}">
                <a16:creationId xmlns:a16="http://schemas.microsoft.com/office/drawing/2014/main" id="{804966C8-FED4-06F0-031D-230E5ABE214D}"/>
              </a:ext>
            </a:extLst>
          </p:cNvPr>
          <p:cNvPicPr>
            <a:picLocks noChangeAspect="1"/>
          </p:cNvPicPr>
          <p:nvPr/>
        </p:nvPicPr>
        <p:blipFill>
          <a:blip r:embed="rId3"/>
          <a:stretch>
            <a:fillRect/>
          </a:stretch>
        </p:blipFill>
        <p:spPr>
          <a:xfrm>
            <a:off x="1068576" y="4524412"/>
            <a:ext cx="743054" cy="323895"/>
          </a:xfrm>
          <a:prstGeom prst="rect">
            <a:avLst/>
          </a:prstGeom>
        </p:spPr>
      </p:pic>
      <p:pic>
        <p:nvPicPr>
          <p:cNvPr id="9" name="Picture 8">
            <a:extLst>
              <a:ext uri="{FF2B5EF4-FFF2-40B4-BE49-F238E27FC236}">
                <a16:creationId xmlns:a16="http://schemas.microsoft.com/office/drawing/2014/main" id="{92CBC4B3-3AF0-59D4-1415-1F2097110579}"/>
              </a:ext>
            </a:extLst>
          </p:cNvPr>
          <p:cNvPicPr>
            <a:picLocks noChangeAspect="1"/>
          </p:cNvPicPr>
          <p:nvPr/>
        </p:nvPicPr>
        <p:blipFill>
          <a:blip r:embed="rId4"/>
          <a:stretch>
            <a:fillRect/>
          </a:stretch>
        </p:blipFill>
        <p:spPr>
          <a:xfrm>
            <a:off x="5886864" y="2623928"/>
            <a:ext cx="3436040" cy="2905720"/>
          </a:xfrm>
          <a:prstGeom prst="rect">
            <a:avLst/>
          </a:prstGeom>
        </p:spPr>
      </p:pic>
    </p:spTree>
    <p:extLst>
      <p:ext uri="{BB962C8B-B14F-4D97-AF65-F5344CB8AC3E}">
        <p14:creationId xmlns:p14="http://schemas.microsoft.com/office/powerpoint/2010/main" val="231832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63E5-AF32-5C0B-1723-9424B92004BD}"/>
              </a:ext>
            </a:extLst>
          </p:cNvPr>
          <p:cNvSpPr>
            <a:spLocks noGrp="1"/>
          </p:cNvSpPr>
          <p:nvPr>
            <p:ph type="title"/>
          </p:nvPr>
        </p:nvSpPr>
        <p:spPr>
          <a:xfrm>
            <a:off x="838200" y="365125"/>
            <a:ext cx="10515600" cy="956779"/>
          </a:xfrm>
        </p:spPr>
        <p:txBody>
          <a:bodyPr/>
          <a:lstStyle/>
          <a:p>
            <a:r>
              <a:rPr lang="en-IN" dirty="0"/>
              <a:t>for Loops</a:t>
            </a:r>
          </a:p>
        </p:txBody>
      </p:sp>
      <p:sp>
        <p:nvSpPr>
          <p:cNvPr id="3" name="Content Placeholder 2">
            <a:extLst>
              <a:ext uri="{FF2B5EF4-FFF2-40B4-BE49-F238E27FC236}">
                <a16:creationId xmlns:a16="http://schemas.microsoft.com/office/drawing/2014/main" id="{D2C8A42A-3AC7-CD84-DB1B-84988E0658B3}"/>
              </a:ext>
            </a:extLst>
          </p:cNvPr>
          <p:cNvSpPr>
            <a:spLocks noGrp="1"/>
          </p:cNvSpPr>
          <p:nvPr>
            <p:ph idx="1"/>
          </p:nvPr>
        </p:nvSpPr>
        <p:spPr>
          <a:xfrm>
            <a:off x="838200" y="1321904"/>
            <a:ext cx="10515600" cy="4855059"/>
          </a:xfrm>
        </p:spPr>
        <p:txBody>
          <a:bodyPr>
            <a:normAutofit/>
          </a:bodyPr>
          <a:lstStyle/>
          <a:p>
            <a:r>
              <a:rPr lang="en-US" sz="2400" dirty="0"/>
              <a:t>A </a:t>
            </a:r>
            <a:r>
              <a:rPr lang="en-US" sz="2400" b="1" dirty="0"/>
              <a:t>for </a:t>
            </a:r>
            <a:r>
              <a:rPr lang="en-US" sz="2400" dirty="0"/>
              <a:t>loop provides the ability to create a loop that can automatically update an internal variable. </a:t>
            </a:r>
          </a:p>
          <a:p>
            <a:r>
              <a:rPr lang="en-US" sz="2400" dirty="0"/>
              <a:t>A loop variable within a for loop is altered each time through the loop according to a step assignment. The starting value of the loop variable is provided using an initial assignment. The loop will execute as long as a Boolean condition associated with the loop variable is TRUE. </a:t>
            </a:r>
          </a:p>
          <a:p>
            <a:r>
              <a:rPr lang="en-US" sz="2400" dirty="0"/>
              <a:t>The following is the syntax for </a:t>
            </a:r>
            <a:r>
              <a:rPr lang="en-IN" sz="2400" dirty="0"/>
              <a:t>a Verilog for loop:</a:t>
            </a:r>
          </a:p>
        </p:txBody>
      </p:sp>
      <p:pic>
        <p:nvPicPr>
          <p:cNvPr id="5" name="Picture 4">
            <a:extLst>
              <a:ext uri="{FF2B5EF4-FFF2-40B4-BE49-F238E27FC236}">
                <a16:creationId xmlns:a16="http://schemas.microsoft.com/office/drawing/2014/main" id="{6AAF73D2-5BF8-E990-A69A-C4E88F31AD73}"/>
              </a:ext>
            </a:extLst>
          </p:cNvPr>
          <p:cNvPicPr>
            <a:picLocks noChangeAspect="1"/>
          </p:cNvPicPr>
          <p:nvPr/>
        </p:nvPicPr>
        <p:blipFill>
          <a:blip r:embed="rId2"/>
          <a:stretch>
            <a:fillRect/>
          </a:stretch>
        </p:blipFill>
        <p:spPr>
          <a:xfrm>
            <a:off x="2246727" y="4089777"/>
            <a:ext cx="7897327" cy="2514951"/>
          </a:xfrm>
          <a:prstGeom prst="rect">
            <a:avLst/>
          </a:prstGeom>
        </p:spPr>
      </p:pic>
    </p:spTree>
    <p:extLst>
      <p:ext uri="{BB962C8B-B14F-4D97-AF65-F5344CB8AC3E}">
        <p14:creationId xmlns:p14="http://schemas.microsoft.com/office/powerpoint/2010/main" val="805999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2AE2F-C9AF-F473-FC80-4D8EE8FC4694}"/>
              </a:ext>
            </a:extLst>
          </p:cNvPr>
          <p:cNvSpPr>
            <a:spLocks noGrp="1"/>
          </p:cNvSpPr>
          <p:nvPr>
            <p:ph type="title"/>
          </p:nvPr>
        </p:nvSpPr>
        <p:spPr/>
        <p:txBody>
          <a:bodyPr/>
          <a:lstStyle/>
          <a:p>
            <a:r>
              <a:rPr lang="en-IN" dirty="0"/>
              <a:t>for Loops</a:t>
            </a:r>
          </a:p>
        </p:txBody>
      </p:sp>
      <p:sp>
        <p:nvSpPr>
          <p:cNvPr id="3" name="Content Placeholder 2">
            <a:extLst>
              <a:ext uri="{FF2B5EF4-FFF2-40B4-BE49-F238E27FC236}">
                <a16:creationId xmlns:a16="http://schemas.microsoft.com/office/drawing/2014/main" id="{25505F55-9CFE-4231-7A72-2A819E7934C4}"/>
              </a:ext>
            </a:extLst>
          </p:cNvPr>
          <p:cNvSpPr>
            <a:spLocks noGrp="1"/>
          </p:cNvSpPr>
          <p:nvPr>
            <p:ph idx="1"/>
          </p:nvPr>
        </p:nvSpPr>
        <p:spPr/>
        <p:txBody>
          <a:bodyPr>
            <a:normAutofit/>
          </a:bodyPr>
          <a:lstStyle/>
          <a:p>
            <a:r>
              <a:rPr lang="en-US" sz="2400" dirty="0"/>
              <a:t>The following is an example of creating a simple counter using the loop variable. </a:t>
            </a:r>
          </a:p>
          <a:p>
            <a:r>
              <a:rPr lang="en-US" sz="2400" dirty="0"/>
              <a:t>The loop variable </a:t>
            </a:r>
            <a:r>
              <a:rPr lang="en-US" sz="2400" i="1" dirty="0" err="1"/>
              <a:t>i</a:t>
            </a:r>
            <a:r>
              <a:rPr lang="en-US" sz="2400" i="1" dirty="0"/>
              <a:t> </a:t>
            </a:r>
            <a:r>
              <a:rPr lang="en-US" sz="2400" dirty="0"/>
              <a:t>was declared as an integer prior to this block. The signal Count is also of type integer. The loop variable will start at 0 and increment by 1 each time through the loop. The loop will execute as long as </a:t>
            </a:r>
            <a:r>
              <a:rPr lang="en-US" sz="2400" dirty="0" err="1"/>
              <a:t>i</a:t>
            </a:r>
            <a:r>
              <a:rPr lang="en-US" sz="2400" dirty="0"/>
              <a:t> &lt; 15, or 16 times total. For loops allow the loop variable to be used in signal assignments within the block.</a:t>
            </a:r>
            <a:endParaRPr lang="en-IN" sz="2400" dirty="0"/>
          </a:p>
        </p:txBody>
      </p:sp>
      <p:pic>
        <p:nvPicPr>
          <p:cNvPr id="5" name="Picture 4">
            <a:extLst>
              <a:ext uri="{FF2B5EF4-FFF2-40B4-BE49-F238E27FC236}">
                <a16:creationId xmlns:a16="http://schemas.microsoft.com/office/drawing/2014/main" id="{60CF7C60-8A1B-A416-9116-8020886107F6}"/>
              </a:ext>
            </a:extLst>
          </p:cNvPr>
          <p:cNvPicPr>
            <a:picLocks noChangeAspect="1"/>
          </p:cNvPicPr>
          <p:nvPr/>
        </p:nvPicPr>
        <p:blipFill>
          <a:blip r:embed="rId2"/>
          <a:stretch>
            <a:fillRect/>
          </a:stretch>
        </p:blipFill>
        <p:spPr>
          <a:xfrm>
            <a:off x="2013428" y="4217811"/>
            <a:ext cx="4725302" cy="1818287"/>
          </a:xfrm>
          <a:prstGeom prst="rect">
            <a:avLst/>
          </a:prstGeom>
        </p:spPr>
      </p:pic>
    </p:spTree>
    <p:extLst>
      <p:ext uri="{BB962C8B-B14F-4D97-AF65-F5344CB8AC3E}">
        <p14:creationId xmlns:p14="http://schemas.microsoft.com/office/powerpoint/2010/main" val="1310005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B219E-378B-BD3A-DA8B-3671243ED7C1}"/>
              </a:ext>
            </a:extLst>
          </p:cNvPr>
          <p:cNvSpPr>
            <a:spLocks noGrp="1"/>
          </p:cNvSpPr>
          <p:nvPr>
            <p:ph type="title"/>
          </p:nvPr>
        </p:nvSpPr>
        <p:spPr>
          <a:xfrm>
            <a:off x="838200" y="169067"/>
            <a:ext cx="10515600" cy="787814"/>
          </a:xfrm>
        </p:spPr>
        <p:txBody>
          <a:bodyPr/>
          <a:lstStyle/>
          <a:p>
            <a:r>
              <a:rPr lang="en-IN" dirty="0"/>
              <a:t>disable</a:t>
            </a:r>
          </a:p>
        </p:txBody>
      </p:sp>
      <p:sp>
        <p:nvSpPr>
          <p:cNvPr id="3" name="Content Placeholder 2">
            <a:extLst>
              <a:ext uri="{FF2B5EF4-FFF2-40B4-BE49-F238E27FC236}">
                <a16:creationId xmlns:a16="http://schemas.microsoft.com/office/drawing/2014/main" id="{D32A9DED-E8E7-EED2-C926-0847F2C31933}"/>
              </a:ext>
            </a:extLst>
          </p:cNvPr>
          <p:cNvSpPr>
            <a:spLocks noGrp="1"/>
          </p:cNvSpPr>
          <p:nvPr>
            <p:ph idx="1"/>
          </p:nvPr>
        </p:nvSpPr>
        <p:spPr>
          <a:xfrm>
            <a:off x="838200" y="956882"/>
            <a:ext cx="10515600" cy="5220082"/>
          </a:xfrm>
        </p:spPr>
        <p:txBody>
          <a:bodyPr>
            <a:normAutofit/>
          </a:bodyPr>
          <a:lstStyle/>
          <a:p>
            <a:r>
              <a:rPr lang="en-US" sz="2400" dirty="0"/>
              <a:t>Verilog provides the ability to stop a loop using the keyword </a:t>
            </a:r>
            <a:r>
              <a:rPr lang="en-US" sz="2400" b="1" dirty="0"/>
              <a:t>disable</a:t>
            </a:r>
            <a:r>
              <a:rPr lang="en-US" sz="2400" dirty="0"/>
              <a:t>. The disable function only works on named statement groups. The disable function is typically used after a certain fixed amount of time or within a conditional construct such as an if-else or case statement that is triggered by a control signal. </a:t>
            </a:r>
          </a:p>
          <a:p>
            <a:r>
              <a:rPr lang="en-US" sz="2400" dirty="0"/>
              <a:t>In given loop example that will generate a clock signal (CLK), but only when an enable (EN) is asserted. When EN = 0, the loop will disable and the simulation will </a:t>
            </a:r>
            <a:r>
              <a:rPr lang="en-IN" sz="2400" dirty="0"/>
              <a:t>end.</a:t>
            </a:r>
          </a:p>
        </p:txBody>
      </p:sp>
      <p:pic>
        <p:nvPicPr>
          <p:cNvPr id="5" name="Picture 4">
            <a:extLst>
              <a:ext uri="{FF2B5EF4-FFF2-40B4-BE49-F238E27FC236}">
                <a16:creationId xmlns:a16="http://schemas.microsoft.com/office/drawing/2014/main" id="{DD1DB1D3-3DB4-F3B6-E052-A44A1AC8F270}"/>
              </a:ext>
            </a:extLst>
          </p:cNvPr>
          <p:cNvPicPr>
            <a:picLocks noChangeAspect="1"/>
          </p:cNvPicPr>
          <p:nvPr/>
        </p:nvPicPr>
        <p:blipFill>
          <a:blip r:embed="rId2"/>
          <a:stretch>
            <a:fillRect/>
          </a:stretch>
        </p:blipFill>
        <p:spPr>
          <a:xfrm>
            <a:off x="3780251" y="3251713"/>
            <a:ext cx="8411749" cy="3515216"/>
          </a:xfrm>
          <a:prstGeom prst="rect">
            <a:avLst/>
          </a:prstGeom>
        </p:spPr>
      </p:pic>
    </p:spTree>
    <p:extLst>
      <p:ext uri="{BB962C8B-B14F-4D97-AF65-F5344CB8AC3E}">
        <p14:creationId xmlns:p14="http://schemas.microsoft.com/office/powerpoint/2010/main" val="1169142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1227</Words>
  <Application>Microsoft Office PowerPoint</Application>
  <PresentationFormat>Widescreen</PresentationFormat>
  <Paragraphs>90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Conditional Programming constructs</vt:lpstr>
      <vt:lpstr>if-else Statements</vt:lpstr>
      <vt:lpstr>if-else Statements</vt:lpstr>
      <vt:lpstr>if-else Statements</vt:lpstr>
      <vt:lpstr>PowerPoint Presentation</vt:lpstr>
      <vt:lpstr>case Statements</vt:lpstr>
      <vt:lpstr>case Statements</vt:lpstr>
      <vt:lpstr>PowerPoint Presentation</vt:lpstr>
      <vt:lpstr>PowerPoint Presentation</vt:lpstr>
      <vt:lpstr>casez and casex Statements</vt:lpstr>
      <vt:lpstr>forever Loops</vt:lpstr>
      <vt:lpstr>forever Loops</vt:lpstr>
      <vt:lpstr>while Loops</vt:lpstr>
      <vt:lpstr>repeat Loops</vt:lpstr>
      <vt:lpstr>for Loops</vt:lpstr>
      <vt:lpstr>for Loops</vt:lpstr>
      <vt:lpstr>disable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2026-05-09T03:18:20Z</dcterms:created>
  <dcterms:modified xsi:type="dcterms:W3CDTF">2026-05-09T03:19:38Z</dcterms:modified>
</cp:coreProperties>
</file>