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4" r:id="rId2"/>
    <p:sldId id="448" r:id="rId3"/>
    <p:sldId id="465" r:id="rId4"/>
    <p:sldId id="466" r:id="rId5"/>
    <p:sldId id="451" r:id="rId6"/>
    <p:sldId id="452" r:id="rId7"/>
    <p:sldId id="453" r:id="rId8"/>
    <p:sldId id="454" r:id="rId9"/>
    <p:sldId id="45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BC63-359C-F134-E9AC-97CBDB6B6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0C8E2-8C09-E539-C81B-FABB586D2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4FDD-4ECF-B2EF-7BDA-E173CE14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1184F-79E8-45A1-422F-040B7D1E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2866E-E97C-ED93-45A3-A7B10FF22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1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00D0-4610-6B1E-96A2-D417ACD3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6CD1-EFB5-B78C-ECA4-536F5F5E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068B0-CBC5-39DC-D93A-8F6B244A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42B1-2DF3-1788-0213-7C591682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FA9-0287-3EBC-37CC-1CD90E62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65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87B2-F92C-5263-44D5-728A2828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8C4EE-AB48-8540-D4A4-F9BF8A9E9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D408A-7152-EB92-C5C5-E10DFF80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59288-B551-0B10-140F-6677625C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D3D26-762B-0958-2D72-C5654304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26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27BB-D47A-767A-5F79-247AAFA6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CF99F-F4BF-333A-D798-179358134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B8F58-6D35-FF0B-CD32-D2ADC0931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ED47C-BCA1-97F5-346F-3DEA832B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0A6E6-7695-FADD-3FAD-4C1A2493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1D088-C3A2-D9B1-A03E-70E5B508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2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0212-78F6-6EA3-D193-FD25C4AE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DB71-C8F2-E253-088A-A3FE65CD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45A08-10CF-FCCB-5008-FB420ADDF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6BAB2-D740-00B4-58BF-EE596F16E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274BC-594A-E613-2FF5-17099C295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218982-A57D-9AFA-FE73-4FCE0073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893B8-6399-F349-6EA3-18FC4E87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9315D-7EDE-362F-B482-B4647C97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24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C4F1-9FD6-25E6-D4B5-BB7F37E2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AB12C-0D34-FABE-DC0B-AF0F0AAF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2EFB2-8663-67B6-9F60-0CFF6DB9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7CB7C-34C7-7B45-89CB-FBE5E684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25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B38EE-D06B-CBE7-6C84-41EA84BE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ED492-EC64-65CB-923A-82C8563A3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8448-C776-81DB-367A-76556A18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8731-73E0-D679-D2E0-8993128B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00DDF-86D9-78CD-4FA3-05C32906E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7767C-9378-B130-2418-F5806A37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55DC5-1175-8284-CCFA-5FBD5829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E45D-8565-4C7F-6848-B613DC88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23A37-1A3E-436D-5A85-DF94D7BE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6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7718-089E-ADB5-6695-E3BB90E7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08F51-9F75-3259-3497-2A71F6972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A84BE-B417-FD1F-FCF9-13F9D49B9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04432-5FE2-46B0-3EB3-00441071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071FB-0537-E69E-8A9B-3AA11E0A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CB817-E252-491A-2374-0956D04D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63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D666-3438-2DE4-4548-7E9AECC9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B0510-1717-383F-1E94-AEC0DFC9E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E4E3C-AB37-587C-C143-E9EF720D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62A71-02AE-BDA7-9071-0F8C739C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496B-C492-82A0-FA73-102796C5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54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11095-B87E-4DC9-B285-BA1F27718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D2849-B909-6D84-CCEA-6184C86DA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3CF42-7D1B-14D4-9258-71BB18F4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9F061-5FAC-BEF9-C782-8B261A5C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E4AE-ADF8-77DC-598F-D20BB0C3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329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603F5-1DBB-4788-BAF0-18CD957885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‹#›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800B2-9749-4A21-8028-76A18A391A1B}"/>
              </a:ext>
            </a:extLst>
          </p:cNvPr>
          <p:cNvSpPr txBox="1"/>
          <p:nvPr userDrawn="1"/>
        </p:nvSpPr>
        <p:spPr>
          <a:xfrm>
            <a:off x="9364277" y="6074635"/>
            <a:ext cx="2725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Walter Turncoat" panose="020B0604020202020204" charset="0"/>
              </a:rPr>
              <a:t>Namitha</a:t>
            </a:r>
            <a:r>
              <a:rPr lang="en-US" sz="1600" dirty="0">
                <a:solidFill>
                  <a:schemeClr val="bg1"/>
                </a:solidFill>
                <a:latin typeface="Walter Turncoat" panose="020B0604020202020204" charset="0"/>
              </a:rPr>
              <a:t> Ramachandran</a:t>
            </a:r>
          </a:p>
        </p:txBody>
      </p:sp>
    </p:spTree>
    <p:extLst>
      <p:ext uri="{BB962C8B-B14F-4D97-AF65-F5344CB8AC3E}">
        <p14:creationId xmlns:p14="http://schemas.microsoft.com/office/powerpoint/2010/main" val="296037304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3BF3C-98B3-2874-B879-FBFE1DA2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763CC-4AED-E885-8216-4CE8AAD62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FFEE-D320-2437-603B-3F60683DC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8742-5777-49CB-AF12-E6D128CC169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8B832-CBF3-8A91-B640-1322B62B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876D-7457-FF8E-60EB-51F611D6B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2E7BA-0D5F-427E-BB1F-821AABC73D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4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0995-ED84-BC3D-40F6-F87C534E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MASTERSLAVE J K FLIPFLOP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65DB-5088-6B87-8B17-2A35E8D7C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cs typeface="Times New Roman" panose="02020603050405020304" pitchFamily="18" charset="0"/>
              </a:rPr>
              <a:t>The Master-Slave Flip-Flop is basically a combination of two JK flip-flops connected in a series configuration. Out of these, one acts as the </a:t>
            </a:r>
            <a:r>
              <a:rPr lang="en-US" sz="2400" b="1" dirty="0">
                <a:cs typeface="Times New Roman" panose="02020603050405020304" pitchFamily="18" charset="0"/>
              </a:rPr>
              <a:t>“master”</a:t>
            </a:r>
            <a:r>
              <a:rPr lang="en-US" sz="2400" dirty="0">
                <a:cs typeface="Times New Roman" panose="02020603050405020304" pitchFamily="18" charset="0"/>
              </a:rPr>
              <a:t> and the other as a </a:t>
            </a:r>
            <a:r>
              <a:rPr lang="en-US" sz="2400" b="1" dirty="0">
                <a:cs typeface="Times New Roman" panose="02020603050405020304" pitchFamily="18" charset="0"/>
              </a:rPr>
              <a:t>“slave”</a:t>
            </a:r>
            <a:r>
              <a:rPr lang="en-US" sz="2400" dirty="0">
                <a:cs typeface="Times New Roman" panose="02020603050405020304" pitchFamily="18" charset="0"/>
              </a:rPr>
              <a:t>. The output from the master flip flop is connected to the two inputs of the slave flip flop whose output is fed back to inputs of the master flip flop 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cs typeface="Times New Roman" panose="02020603050405020304" pitchFamily="18" charset="0"/>
              </a:rPr>
              <a:t>inverter</a:t>
            </a:r>
            <a:r>
              <a:rPr lang="en-US" sz="2400" dirty="0">
                <a:cs typeface="Times New Roman" panose="02020603050405020304" pitchFamily="18" charset="0"/>
              </a:rPr>
              <a:t> is connected to clock pulse in such a way that the inverted clock pulse is given to the slave flip-flop. In other words, if CP=0 for a master flip-flop, then CP=1 for a slave flip-flop and if CP=1 for master flip flop then it becomes 0 for slave flip flop.</a:t>
            </a:r>
            <a:endParaRPr lang="en-IN" sz="2400" dirty="0"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398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BC8408-59E5-4A16-A63B-9C3966A83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443" y="2"/>
            <a:ext cx="9341371" cy="3747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0503C9-638B-4305-97F1-68227F2B9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442" y="3677588"/>
            <a:ext cx="9704257" cy="3110456"/>
          </a:xfrm>
          <a:prstGeom prst="rect">
            <a:avLst/>
          </a:prstGeom>
        </p:spPr>
      </p:pic>
      <p:pic>
        <p:nvPicPr>
          <p:cNvPr id="2" name="Picture 1" descr="J-K Flip-Flop">
            <a:extLst>
              <a:ext uri="{FF2B5EF4-FFF2-40B4-BE49-F238E27FC236}">
                <a16:creationId xmlns:a16="http://schemas.microsoft.com/office/drawing/2014/main" id="{B0FD5EAC-740C-275A-CDB9-93DA45E9A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"/>
            <a:ext cx="3048000" cy="297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9C883-3A0D-639A-6230-37F47ADD64EB}"/>
              </a:ext>
            </a:extLst>
          </p:cNvPr>
          <p:cNvSpPr txBox="1"/>
          <p:nvPr/>
        </p:nvSpPr>
        <p:spPr>
          <a:xfrm>
            <a:off x="10465153" y="1048071"/>
            <a:ext cx="4873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67" b="1" dirty="0"/>
              <a:t>Q(t)</a:t>
            </a:r>
          </a:p>
          <a:p>
            <a:endParaRPr lang="en-IN" sz="1333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75436-88D7-CDFC-0F36-DD36A5606BF1}"/>
              </a:ext>
            </a:extLst>
          </p:cNvPr>
          <p:cNvSpPr txBox="1"/>
          <p:nvPr/>
        </p:nvSpPr>
        <p:spPr>
          <a:xfrm>
            <a:off x="10322560" y="2244536"/>
            <a:ext cx="629921" cy="482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200" b="1" dirty="0"/>
              <a:t>Q(t)’</a:t>
            </a:r>
          </a:p>
          <a:p>
            <a:endParaRPr lang="en-IN" sz="1333" b="1" dirty="0"/>
          </a:p>
        </p:txBody>
      </p:sp>
    </p:spTree>
    <p:extLst>
      <p:ext uri="{BB962C8B-B14F-4D97-AF65-F5344CB8AC3E}">
        <p14:creationId xmlns:p14="http://schemas.microsoft.com/office/powerpoint/2010/main" val="255868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49B8-3FF2-EDD8-807B-387EA2E7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cs typeface="Times New Roman" panose="02020603050405020304" pitchFamily="18" charset="0"/>
              </a:rPr>
              <a:t>MASTERSLAVE J K FLIPFLOP - working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5D95-6706-3E85-3600-14DA2A536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When the clock pulse is true, the slave flip flop will be in the isolated state, and the system's state may be affected by the J and K inputs. The "slave" remains isolated until the CP is 1. When the CP set to 0, the master flip-flop passes the information to the slave flip flop to obtain the output.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master flip flop responds first from the slave because the master flip flop is the positive level trigger, and the slave flip flop is the negative level trigger.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output Q'=1 of the master flip flop is passed to the slave flip flop as an input K when the input J set to 0 and K set to 1. The clock forces the slave flip flop to work as reset, and then the slave copies the master flip flop.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52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9D5D-0782-A2EB-CF59-34A906D3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MASTERSLAVE J K FLIPFLOP - working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AB49-0B75-CD4C-68B5-41DB32232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J=1, and K=0, the output Q=1 is passed to the J input of the slave. The clock's negative transition sets the slave and copies the master.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 flip flop toggles on the clock's positive transition when the inputs J and K set to 1. At that time, the slave flip flop toggles on the clock's negative transition.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flip flop will be disabled, and Q remains unchanged when both the inputs of the JK flip flop set to 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13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BC12C7-7FCE-47C8-BCEB-0BC9F5DE1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09" y="1"/>
            <a:ext cx="7784891" cy="56762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40CB40-8206-4EDC-BFEE-AEBE523E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442" y="2"/>
            <a:ext cx="4494551" cy="374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6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FDDA6-D7DA-490D-B940-AFD60DA9D223}"/>
              </a:ext>
            </a:extLst>
          </p:cNvPr>
          <p:cNvSpPr txBox="1"/>
          <p:nvPr/>
        </p:nvSpPr>
        <p:spPr>
          <a:xfrm>
            <a:off x="189873" y="189875"/>
            <a:ext cx="1214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CHARATERISTIC TABLE &amp; EXCITATION TABLE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2E509-0256-4158-B235-5EEDEA49DFDA}"/>
              </a:ext>
            </a:extLst>
          </p:cNvPr>
          <p:cNvSpPr txBox="1"/>
          <p:nvPr/>
        </p:nvSpPr>
        <p:spPr>
          <a:xfrm>
            <a:off x="0" y="1183905"/>
            <a:ext cx="6165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 flip flop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45F84-6315-4CA9-A859-F316D89E5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99" y="805429"/>
            <a:ext cx="6855500" cy="5940145"/>
          </a:xfrm>
          <a:prstGeom prst="rect">
            <a:avLst/>
          </a:prstGeom>
        </p:spPr>
      </p:pic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20A473BC-2D9B-407C-93E5-CC437F2CEDB7}"/>
              </a:ext>
            </a:extLst>
          </p:cNvPr>
          <p:cNvGraphicFramePr>
            <a:graphicFrameLocks noGrp="1"/>
          </p:cNvGraphicFramePr>
          <p:nvPr/>
        </p:nvGraphicFramePr>
        <p:xfrm>
          <a:off x="1" y="1878178"/>
          <a:ext cx="3677585" cy="3562772"/>
        </p:xfrm>
        <a:graphic>
          <a:graphicData uri="http://schemas.openxmlformats.org/drawingml/2006/table">
            <a:tbl>
              <a:tblPr firstRow="1" bandRow="1"/>
              <a:tblGrid>
                <a:gridCol w="596131">
                  <a:extLst>
                    <a:ext uri="{9D8B030D-6E8A-4147-A177-3AD203B41FA5}">
                      <a16:colId xmlns:a16="http://schemas.microsoft.com/office/drawing/2014/main" val="3012712500"/>
                    </a:ext>
                  </a:extLst>
                </a:gridCol>
                <a:gridCol w="501096">
                  <a:extLst>
                    <a:ext uri="{9D8B030D-6E8A-4147-A177-3AD203B41FA5}">
                      <a16:colId xmlns:a16="http://schemas.microsoft.com/office/drawing/2014/main" val="3878309345"/>
                    </a:ext>
                  </a:extLst>
                </a:gridCol>
                <a:gridCol w="1408253">
                  <a:extLst>
                    <a:ext uri="{9D8B030D-6E8A-4147-A177-3AD203B41FA5}">
                      <a16:colId xmlns:a16="http://schemas.microsoft.com/office/drawing/2014/main" val="1787904053"/>
                    </a:ext>
                  </a:extLst>
                </a:gridCol>
                <a:gridCol w="1172105">
                  <a:extLst>
                    <a:ext uri="{9D8B030D-6E8A-4147-A177-3AD203B41FA5}">
                      <a16:colId xmlns:a16="http://schemas.microsoft.com/office/drawing/2014/main" val="890354070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IN" sz="2400" dirty="0"/>
                        <a:t>S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Q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Q’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12023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Hold previous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/>
                        <a:t>Hold previous</a:t>
                      </a:r>
                    </a:p>
                    <a:p>
                      <a:endParaRPr lang="en-IN" sz="2400" dirty="0"/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973357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398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1172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invalid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invalid</a:t>
                      </a:r>
                    </a:p>
                  </a:txBody>
                  <a:tcPr marL="121920" marR="121920" marT="60960" marB="609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634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25FAAE-FDA9-01F8-67E2-A8F37A575486}"/>
              </a:ext>
            </a:extLst>
          </p:cNvPr>
          <p:cNvSpPr txBox="1"/>
          <p:nvPr/>
        </p:nvSpPr>
        <p:spPr>
          <a:xfrm>
            <a:off x="5821680" y="6248401"/>
            <a:ext cx="24180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Characteristics table</a:t>
            </a:r>
          </a:p>
        </p:txBody>
      </p:sp>
    </p:spTree>
    <p:extLst>
      <p:ext uri="{BB962C8B-B14F-4D97-AF65-F5344CB8AC3E}">
        <p14:creationId xmlns:p14="http://schemas.microsoft.com/office/powerpoint/2010/main" val="218203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A57C0-8DBD-453A-AF88-284A013772B5}"/>
              </a:ext>
            </a:extLst>
          </p:cNvPr>
          <p:cNvSpPr txBox="1"/>
          <p:nvPr/>
        </p:nvSpPr>
        <p:spPr>
          <a:xfrm>
            <a:off x="0" y="194554"/>
            <a:ext cx="6165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flip flop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715CD-A4DD-4409-86FF-147E2EED1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477" y="74775"/>
            <a:ext cx="8344524" cy="4102484"/>
          </a:xfrm>
          <a:prstGeom prst="rect">
            <a:avLst/>
          </a:prstGeom>
        </p:spPr>
      </p:pic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5807CE13-AF60-4B95-AF78-9B4F9D8FE250}"/>
              </a:ext>
            </a:extLst>
          </p:cNvPr>
          <p:cNvGraphicFramePr>
            <a:graphicFrameLocks noGrp="1"/>
          </p:cNvGraphicFramePr>
          <p:nvPr/>
        </p:nvGraphicFramePr>
        <p:xfrm>
          <a:off x="119920" y="756559"/>
          <a:ext cx="3537681" cy="3240820"/>
        </p:xfrm>
        <a:graphic>
          <a:graphicData uri="http://schemas.openxmlformats.org/drawingml/2006/table">
            <a:tbl>
              <a:tblPr firstRow="1" bandRow="1"/>
              <a:tblGrid>
                <a:gridCol w="1179227">
                  <a:extLst>
                    <a:ext uri="{9D8B030D-6E8A-4147-A177-3AD203B41FA5}">
                      <a16:colId xmlns:a16="http://schemas.microsoft.com/office/drawing/2014/main" val="3418002576"/>
                    </a:ext>
                  </a:extLst>
                </a:gridCol>
                <a:gridCol w="1179227">
                  <a:extLst>
                    <a:ext uri="{9D8B030D-6E8A-4147-A177-3AD203B41FA5}">
                      <a16:colId xmlns:a16="http://schemas.microsoft.com/office/drawing/2014/main" val="1279825049"/>
                    </a:ext>
                  </a:extLst>
                </a:gridCol>
                <a:gridCol w="1179227">
                  <a:extLst>
                    <a:ext uri="{9D8B030D-6E8A-4147-A177-3AD203B41FA5}">
                      <a16:colId xmlns:a16="http://schemas.microsoft.com/office/drawing/2014/main" val="2201553642"/>
                    </a:ext>
                  </a:extLst>
                </a:gridCol>
              </a:tblGrid>
              <a:tr h="599615">
                <a:tc>
                  <a:txBody>
                    <a:bodyPr/>
                    <a:lstStyle/>
                    <a:p>
                      <a:r>
                        <a:rPr lang="en-IN" sz="2400" dirty="0"/>
                        <a:t>Q(t)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Q(t+1)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6129"/>
                  </a:ext>
                </a:extLst>
              </a:tr>
              <a:tr h="842360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63319"/>
                  </a:ext>
                </a:extLst>
              </a:tr>
              <a:tr h="599615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818938"/>
                  </a:ext>
                </a:extLst>
              </a:tr>
              <a:tr h="599615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785183"/>
                  </a:ext>
                </a:extLst>
              </a:tr>
              <a:tr h="599615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2507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A37405D-4EB1-0117-04BE-3FC303052CE4}"/>
              </a:ext>
            </a:extLst>
          </p:cNvPr>
          <p:cNvSpPr txBox="1"/>
          <p:nvPr/>
        </p:nvSpPr>
        <p:spPr>
          <a:xfrm>
            <a:off x="4622800" y="3757534"/>
            <a:ext cx="24180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Characteristics table</a:t>
            </a:r>
          </a:p>
        </p:txBody>
      </p:sp>
    </p:spTree>
    <p:extLst>
      <p:ext uri="{BB962C8B-B14F-4D97-AF65-F5344CB8AC3E}">
        <p14:creationId xmlns:p14="http://schemas.microsoft.com/office/powerpoint/2010/main" val="2300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C22B5-68C8-4B6B-BCF2-9AB3C865749E}"/>
              </a:ext>
            </a:extLst>
          </p:cNvPr>
          <p:cNvSpPr txBox="1"/>
          <p:nvPr/>
        </p:nvSpPr>
        <p:spPr>
          <a:xfrm>
            <a:off x="279816" y="1"/>
            <a:ext cx="6165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 flip flop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C4ECE-8C84-4D94-BB96-2CFB14AFE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78" y="0"/>
            <a:ext cx="8194623" cy="4416464"/>
          </a:xfrm>
          <a:prstGeom prst="rect">
            <a:avLst/>
          </a:prstGeom>
        </p:spPr>
      </p:pic>
      <p:pic>
        <p:nvPicPr>
          <p:cNvPr id="5" name="Picture 4" descr="J-K Flip-Flop">
            <a:extLst>
              <a:ext uri="{FF2B5EF4-FFF2-40B4-BE49-F238E27FC236}">
                <a16:creationId xmlns:a16="http://schemas.microsoft.com/office/drawing/2014/main" id="{BA7755D3-4F75-4F6A-A795-DB4355D11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04" y="587274"/>
            <a:ext cx="3217888" cy="324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E30E3-E14C-6EEC-1959-1742358184FC}"/>
              </a:ext>
            </a:extLst>
          </p:cNvPr>
          <p:cNvSpPr txBox="1"/>
          <p:nvPr/>
        </p:nvSpPr>
        <p:spPr>
          <a:xfrm>
            <a:off x="5069840" y="3996739"/>
            <a:ext cx="24180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 err="1"/>
              <a:t>Charateristic</a:t>
            </a:r>
            <a:r>
              <a:rPr lang="en-IN" sz="2400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244829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79BDD-9F94-4DF3-93EF-425AD6C6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880" y="1"/>
            <a:ext cx="7435121" cy="4257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9462B8-AFA7-4E30-B0BF-8407C5BF5B1B}"/>
              </a:ext>
            </a:extLst>
          </p:cNvPr>
          <p:cNvSpPr txBox="1"/>
          <p:nvPr/>
        </p:nvSpPr>
        <p:spPr>
          <a:xfrm>
            <a:off x="279816" y="1"/>
            <a:ext cx="6165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flip flop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1297C11-77EE-4D65-A9BA-99D4EBEE69CC}"/>
              </a:ext>
            </a:extLst>
          </p:cNvPr>
          <p:cNvGraphicFramePr>
            <a:graphicFrameLocks noGrp="1"/>
          </p:cNvGraphicFramePr>
          <p:nvPr/>
        </p:nvGraphicFramePr>
        <p:xfrm>
          <a:off x="218395" y="669702"/>
          <a:ext cx="3878916" cy="2658115"/>
        </p:xfrm>
        <a:graphic>
          <a:graphicData uri="http://schemas.openxmlformats.org/drawingml/2006/table">
            <a:tbl>
              <a:tblPr firstRow="1" bandRow="1"/>
              <a:tblGrid>
                <a:gridCol w="1292972">
                  <a:extLst>
                    <a:ext uri="{9D8B030D-6E8A-4147-A177-3AD203B41FA5}">
                      <a16:colId xmlns:a16="http://schemas.microsoft.com/office/drawing/2014/main" val="174658255"/>
                    </a:ext>
                  </a:extLst>
                </a:gridCol>
                <a:gridCol w="1292972">
                  <a:extLst>
                    <a:ext uri="{9D8B030D-6E8A-4147-A177-3AD203B41FA5}">
                      <a16:colId xmlns:a16="http://schemas.microsoft.com/office/drawing/2014/main" val="809103654"/>
                    </a:ext>
                  </a:extLst>
                </a:gridCol>
                <a:gridCol w="1292972">
                  <a:extLst>
                    <a:ext uri="{9D8B030D-6E8A-4147-A177-3AD203B41FA5}">
                      <a16:colId xmlns:a16="http://schemas.microsoft.com/office/drawing/2014/main" val="374661783"/>
                    </a:ext>
                  </a:extLst>
                </a:gridCol>
              </a:tblGrid>
              <a:tr h="531623">
                <a:tc>
                  <a:txBody>
                    <a:bodyPr/>
                    <a:lstStyle/>
                    <a:p>
                      <a:r>
                        <a:rPr lang="en-IN" sz="2400" dirty="0"/>
                        <a:t>Q(t)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Q(t+1)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588764"/>
                  </a:ext>
                </a:extLst>
              </a:tr>
              <a:tr h="531623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039963"/>
                  </a:ext>
                </a:extLst>
              </a:tr>
              <a:tr h="531623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447004"/>
                  </a:ext>
                </a:extLst>
              </a:tr>
              <a:tr h="531623"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40396"/>
                  </a:ext>
                </a:extLst>
              </a:tr>
              <a:tr h="531623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32342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942967F-74BA-5CBF-9133-FD1D253FAFB1}"/>
              </a:ext>
            </a:extLst>
          </p:cNvPr>
          <p:cNvSpPr txBox="1"/>
          <p:nvPr/>
        </p:nvSpPr>
        <p:spPr>
          <a:xfrm>
            <a:off x="5445760" y="3837482"/>
            <a:ext cx="241808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Characteristics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AF729-6A3D-9A97-805E-93CA6E053067}"/>
              </a:ext>
            </a:extLst>
          </p:cNvPr>
          <p:cNvSpPr txBox="1"/>
          <p:nvPr/>
        </p:nvSpPr>
        <p:spPr>
          <a:xfrm>
            <a:off x="520991" y="3530188"/>
            <a:ext cx="357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Truth table</a:t>
            </a:r>
          </a:p>
        </p:txBody>
      </p:sp>
    </p:spTree>
    <p:extLst>
      <p:ext uri="{BB962C8B-B14F-4D97-AF65-F5344CB8AC3E}">
        <p14:creationId xmlns:p14="http://schemas.microsoft.com/office/powerpoint/2010/main" val="35465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Walter Turncoat</vt:lpstr>
      <vt:lpstr>Office Theme</vt:lpstr>
      <vt:lpstr>MASTERSLAVE J K FLIPFLOP</vt:lpstr>
      <vt:lpstr>PowerPoint Presentation</vt:lpstr>
      <vt:lpstr>MASTERSLAVE J K FLIPFLOP - working</vt:lpstr>
      <vt:lpstr>MASTERSLAVE J K FLIPFLOP - working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2026-05-07T03:54:45Z</dcterms:created>
  <dcterms:modified xsi:type="dcterms:W3CDTF">2026-05-07T03:54:56Z</dcterms:modified>
</cp:coreProperties>
</file>