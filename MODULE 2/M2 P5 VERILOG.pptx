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66" r:id="rId6"/>
    <p:sldId id="259" r:id="rId7"/>
    <p:sldId id="267" r:id="rId8"/>
    <p:sldId id="268" r:id="rId9"/>
    <p:sldId id="269" r:id="rId10"/>
    <p:sldId id="260" r:id="rId11"/>
    <p:sldId id="270" r:id="rId12"/>
    <p:sldId id="271" r:id="rId13"/>
    <p:sldId id="272" r:id="rId14"/>
    <p:sldId id="273" r:id="rId15"/>
    <p:sldId id="261" r:id="rId16"/>
    <p:sldId id="262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9DCB-D492-ED01-07A9-79CF97396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22BB2-DE23-21C6-4951-6529E0E99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047EC-75A7-FA22-B38D-C1A8C244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2C705-66FD-E8E3-5A70-FC4253595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08D33-A7A5-3096-6E8C-F3262A61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690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9B939-A621-BF81-FA87-2F55E970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A88F-0119-D52E-36CD-642E43A2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29292-39B6-9F7D-796F-C2ED56BF7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4B6BC-5012-5C5D-E774-0882EEE3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C9157-F365-BA27-24FB-A029B754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68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DD55-B942-573F-34C6-91CCCA3F0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0A367-66BC-4B04-7FF0-BBD2AAA3E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96E2B-CA31-07FB-BB2C-AE0F8466B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6BE9-CBBB-A824-CEE4-A879EBD0B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36DEB-40D1-74D9-2D15-5EC5F49C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9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55D0D-EF3E-3BC1-15A8-3E26E40F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A14A5-B22E-7B9C-EF8E-D6FA1BEFD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E646D7-7A04-662A-D314-C99969593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2C269-7AE4-DF86-BDE5-C4827313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2946C-1187-1B1A-04C0-868B9422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3461E-9A1C-7248-26CB-0D2DFA16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55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3FCD-A74D-0C51-940B-AA7A7D61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BB3D2-7866-2BEF-4D6C-D29008D83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D8303-5C68-2AB7-12F7-E120E88BE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910492-4D0E-8299-250F-0F794EB88E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1F98B-FC1A-D0BF-894C-C6D4443088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4DCA43-15A3-1024-CF3F-BBB1FE59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2BABB-94F4-977E-7010-6066254C4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E1B63A-9A1C-FC4C-18C2-00DCE14F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81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AAB38-A1A0-B661-B217-C1329052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BE287-8952-BD88-0A90-992DDCA5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7F2A73-EF44-5DAF-C2F3-A90C38083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2F967-3CA5-D85B-1F26-62DE6D10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1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D69E59-4CC3-8F7E-FC99-F67438A36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7A28A-473D-56AE-AC3B-6D9CB9FC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1AFEC-9551-4018-879F-969BC1637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61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41B3-C066-1C87-ABFE-113CD7179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14084-AF9B-3678-A6D0-51CA5FAFD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94F1F-1CCA-A45B-7D2D-55E407A9BF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1C78A-ADCE-BDD7-F4B4-078CCD327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515F8-F184-52DA-F019-B999FF26B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CF79C-33C5-6AC0-31EF-32FBEA4B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289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99E1-7048-21A8-717A-030AC491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DC007D-E757-4E57-87FA-6194A70550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3C9AF2-EAC7-EED6-CF9B-C30D994A8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D3BB-0ACD-B312-3288-8BBDD2CC1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A6546-D0B1-23D1-D079-45B540C04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159D6-2A34-5F09-CACD-970D152A5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69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C98CD-9915-56DB-F374-EFE5BB44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AF545-7456-B097-00A9-C6DA5FA6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4468-E671-2E32-339B-AA03BB444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8534F-03AF-3CD1-4423-849A44B86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56B3A-CC93-AB40-BDDA-601CF4F6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350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E87DF8-E1CC-69EB-8ED5-880F39746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07912-C160-852E-C684-79B53DB226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139F-39A2-2707-6B19-24D1D1A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9204D-5838-E36A-50DF-31366E169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8D25C-6875-D261-810B-F72BF62C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98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C976E5-158D-E920-4E69-134E1FA4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08806-B616-FE52-943B-A85E726B8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BA39E-6F3C-E9DD-D65C-B76C21CAD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836F0-2C18-4649-A46D-25BC52CCD29A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8056E-D9F4-F076-503F-45A41CF3E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82F96-ECF3-269F-0BAE-DB5CD4F0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895BC-CA8E-4542-8BD9-AD53CE2B7E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05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77A26-8F86-482E-DFE0-12BFD0A7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concurrent functionality in Verilog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12A2D-A652-4FFA-A3F1-2E1B9CA62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Verilog is a hardware description language, not a </a:t>
            </a:r>
            <a:r>
              <a:rPr lang="en-IN" dirty="0"/>
              <a:t>programming language.</a:t>
            </a:r>
          </a:p>
          <a:p>
            <a:pPr lvl="1"/>
            <a:r>
              <a:rPr lang="en-IN" dirty="0"/>
              <a:t>Lines of code represent </a:t>
            </a:r>
            <a:r>
              <a:rPr lang="en-US" dirty="0"/>
              <a:t>the behavior of real hardware.</a:t>
            </a:r>
          </a:p>
          <a:p>
            <a:pPr lvl="1"/>
            <a:r>
              <a:rPr lang="en-US" dirty="0"/>
              <a:t>Assignments are executed concurrently </a:t>
            </a:r>
            <a:r>
              <a:rPr lang="en-IN" dirty="0"/>
              <a:t>unless specifically noted otherwise.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Continuous assignment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Continuous Assignment with logical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Continuous assignment with conditional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Continuous assignment with delay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065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0F335-E250-E9DF-709D-1696C3E0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assignment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D32B0-50DC-3E29-AE8A-889621AD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Verilog uses the keyword </a:t>
            </a:r>
            <a:r>
              <a:rPr lang="en-US" sz="2400" b="1" dirty="0"/>
              <a:t>assign </a:t>
            </a:r>
            <a:r>
              <a:rPr lang="en-US" sz="2400" dirty="0"/>
              <a:t>to denote a continuous signal assignment. </a:t>
            </a:r>
          </a:p>
          <a:p>
            <a:pPr lvl="1"/>
            <a:r>
              <a:rPr lang="en-US" sz="2000" dirty="0"/>
              <a:t>After this keyword, an assignment is made using the </a:t>
            </a:r>
            <a:r>
              <a:rPr lang="en-US" sz="2000" b="1" dirty="0"/>
              <a:t>= </a:t>
            </a:r>
            <a:r>
              <a:rPr lang="en-US" sz="2000" dirty="0"/>
              <a:t>symbol. </a:t>
            </a:r>
          </a:p>
          <a:p>
            <a:pPr lvl="1"/>
            <a:r>
              <a:rPr lang="en-US" sz="2000" dirty="0"/>
              <a:t>The left-hand side (LHS) of the assignment is the target signal and must be a net type. </a:t>
            </a:r>
          </a:p>
          <a:p>
            <a:pPr lvl="1"/>
            <a:r>
              <a:rPr lang="en-US" sz="2000" dirty="0"/>
              <a:t>The right-hand side (RHS) contains the input arguments and can contain nets, regs, constants, and operators.</a:t>
            </a:r>
          </a:p>
          <a:p>
            <a:pPr lvl="1"/>
            <a:r>
              <a:rPr lang="en-IN" sz="2000" dirty="0"/>
              <a:t>A </a:t>
            </a:r>
            <a:r>
              <a:rPr lang="en-US" sz="2000" dirty="0"/>
              <a:t>continuous assignment models combinational logic. </a:t>
            </a:r>
          </a:p>
          <a:p>
            <a:pPr lvl="1"/>
            <a:r>
              <a:rPr lang="en-US" sz="2000" dirty="0"/>
              <a:t>Any change to the RHS of the expression will result in an update to the LHS target net.</a:t>
            </a:r>
          </a:p>
          <a:p>
            <a:r>
              <a:rPr lang="en-US" sz="2400" dirty="0"/>
              <a:t>Each assignment will be executed concurrently and synthesized as separate logic circuits. Consider the following example.</a:t>
            </a:r>
          </a:p>
          <a:p>
            <a:pPr lvl="1"/>
            <a:r>
              <a:rPr lang="en-IN" dirty="0"/>
              <a:t>assign X = A;</a:t>
            </a:r>
          </a:p>
          <a:p>
            <a:pPr lvl="1"/>
            <a:r>
              <a:rPr lang="en-IN" dirty="0"/>
              <a:t>assign Y = B;</a:t>
            </a:r>
          </a:p>
          <a:p>
            <a:pPr lvl="1"/>
            <a:r>
              <a:rPr lang="en-IN" dirty="0"/>
              <a:t>assign Z = C;</a:t>
            </a:r>
          </a:p>
        </p:txBody>
      </p:sp>
    </p:spTree>
    <p:extLst>
      <p:ext uri="{BB962C8B-B14F-4D97-AF65-F5344CB8AC3E}">
        <p14:creationId xmlns:p14="http://schemas.microsoft.com/office/powerpoint/2010/main" val="89348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507C4-F2E2-5B47-AEEA-CAF0BF1F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F107-6E50-3D75-634E-871443694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simulated, these three lines of Verilog will make three separate signal assignments at the same time. </a:t>
            </a:r>
          </a:p>
          <a:p>
            <a:r>
              <a:rPr lang="en-US" sz="2400" dirty="0"/>
              <a:t>In Verilog, this functionality is identical to three separate wires. This description will be directly synthesized into three separate wires.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61874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29DD-05F3-B95F-8B4A-7FDA0940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Assignment with logical operators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885D0-19F2-0CBA-F03C-8F6BE1BDC6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0380" y="1523464"/>
            <a:ext cx="9306924" cy="468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681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E7110-3BB2-9AE1-6F47-8F6B1609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logical operators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EB769A-E1CB-71FC-DE1C-A5F7FC3D8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016" y="1587086"/>
            <a:ext cx="8366009" cy="505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56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FEE29-8163-DA8E-00FA-7D64502CF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Continuous assignment with conditional operators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A4CFC-30AF-2C04-B2C1-73620FF7D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Logical operators are good for describing the behavior of small circuits; however, in the prior example, we still needed to create the canonical sum of products logic expression by hand before describing the functionality in Verilog</a:t>
            </a:r>
          </a:p>
          <a:p>
            <a:r>
              <a:rPr lang="en-US" sz="2400" dirty="0"/>
              <a:t>The true power of an HDL is when the behavior of the system can be described fully without requiring any hand design</a:t>
            </a:r>
          </a:p>
          <a:p>
            <a:r>
              <a:rPr lang="en-US" sz="2400" dirty="0"/>
              <a:t>The conditional operator allows us to describe a continuous assignment using Boolean conditions that affect the values of the result</a:t>
            </a:r>
          </a:p>
          <a:p>
            <a:r>
              <a:rPr lang="en-US" sz="2400" dirty="0"/>
              <a:t>In this approach, we use the conditional operator (</a:t>
            </a:r>
            <a:r>
              <a:rPr lang="en-US" sz="2400" b="1" dirty="0"/>
              <a:t>?</a:t>
            </a:r>
            <a:r>
              <a:rPr lang="en-US" sz="2400" dirty="0"/>
              <a:t>) in conjunction with the continuous </a:t>
            </a:r>
            <a:r>
              <a:rPr lang="en-IN" sz="2400" dirty="0"/>
              <a:t>assignment keyword </a:t>
            </a:r>
            <a:r>
              <a:rPr lang="en-IN" sz="2400" b="1" dirty="0"/>
              <a:t>assign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677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D80F-9168-4096-D2E5-C85F1184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conditional operators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3E9CBF-1798-165D-75E2-EA229CAA84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0716" y="1027906"/>
            <a:ext cx="7973084" cy="577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7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7DF6-DB7A-EF93-87B5-A8286130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conditional operators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70C66D-5EC5-26CC-8097-E530A5D985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924" y="1876828"/>
            <a:ext cx="10667761" cy="338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096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6E473-8A52-BCAD-090D-6613244A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conditional operators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3DD7EE-4E83-9A57-FC96-110973FD3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39239" y="1027905"/>
            <a:ext cx="8877529" cy="513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75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C2A7-6F3F-7A24-79C5-D7046AC5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delay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CB02A-F068-28A5-C255-C9F8EE108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Verilog provides the ability to model gate delays when using a continuous assignment. The </a:t>
            </a:r>
            <a:r>
              <a:rPr lang="en-US" sz="2400" b="1" dirty="0"/>
              <a:t># </a:t>
            </a:r>
            <a:r>
              <a:rPr lang="en-US" sz="2400" dirty="0"/>
              <a:t>is used to indicate a delayed assignment. </a:t>
            </a:r>
          </a:p>
          <a:p>
            <a:r>
              <a:rPr lang="en-US" sz="2400" dirty="0"/>
              <a:t>For combinational logic circuits, the delay can be specified for all transitions, for rising and falling transitions separately, and for rising, falling, and transitions to the value </a:t>
            </a:r>
            <a:r>
              <a:rPr lang="en-US" sz="2400" i="1" dirty="0"/>
              <a:t>off </a:t>
            </a:r>
            <a:r>
              <a:rPr lang="en-US" sz="2400" dirty="0"/>
              <a:t>separately. A transition to </a:t>
            </a:r>
            <a:r>
              <a:rPr lang="en-US" sz="2400" i="1" dirty="0"/>
              <a:t>off </a:t>
            </a:r>
            <a:r>
              <a:rPr lang="en-US" sz="2400" dirty="0"/>
              <a:t>refers to a transition to Z. </a:t>
            </a:r>
          </a:p>
          <a:p>
            <a:pPr lvl="1"/>
            <a:r>
              <a:rPr lang="en-US" sz="2000" dirty="0"/>
              <a:t>If only one delay parameter is specified, it is used to model all delays. </a:t>
            </a:r>
          </a:p>
          <a:p>
            <a:pPr lvl="1"/>
            <a:r>
              <a:rPr lang="en-US" sz="2000" dirty="0"/>
              <a:t>If two delay parameters are specified, the first parameter is used for the rise time delay while the second is used to model the fall time delay. </a:t>
            </a:r>
          </a:p>
          <a:p>
            <a:pPr lvl="1"/>
            <a:r>
              <a:rPr lang="en-US" sz="2000" dirty="0"/>
              <a:t>If three parameters are specified, the third parameter is used to model the transition to off. </a:t>
            </a:r>
          </a:p>
          <a:p>
            <a:pPr lvl="1"/>
            <a:r>
              <a:rPr lang="en-US" sz="2000" dirty="0"/>
              <a:t>Parenthesis are optional but recommended when using multiple delay parameters.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9437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700A-2F94-5FE6-8DE1-FDA104B6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delay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DB701E-CFC1-1A6C-6A30-B726D3F6A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13489"/>
            <a:ext cx="9278645" cy="1952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E104A-B777-8ABC-4A3E-F15C112CE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12332"/>
            <a:ext cx="9307224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080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C282-A0C7-176A-2BE8-A9D552393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delay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4E2683-1B27-524D-6618-7C67EE8EFE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8503" y="1825625"/>
            <a:ext cx="73549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864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A08C-FBDC-30B3-1A7F-2FB4341FD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assignment with delay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FAC867-0F96-9B71-B49D-A72A9D37C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1512" y="1825625"/>
            <a:ext cx="748897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792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2CF96-2FB3-047A-FC69-00F405E0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9651"/>
          </a:xfrm>
        </p:spPr>
        <p:txBody>
          <a:bodyPr/>
          <a:lstStyle/>
          <a:p>
            <a:r>
              <a:rPr lang="en-US" dirty="0"/>
              <a:t>Continuous assignment with delay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7CD8-5487-2E79-79F2-A6CDBDF73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4776"/>
            <a:ext cx="10515600" cy="4922187"/>
          </a:xfrm>
        </p:spPr>
        <p:txBody>
          <a:bodyPr>
            <a:normAutofit/>
          </a:bodyPr>
          <a:lstStyle/>
          <a:p>
            <a:r>
              <a:rPr lang="en-US" sz="2400" dirty="0"/>
              <a:t>Verilog also provides a mechanism to model a range of delays that are selected by a switch set in the CAD compiler. </a:t>
            </a:r>
          </a:p>
          <a:p>
            <a:r>
              <a:rPr lang="en-US" sz="2400" dirty="0"/>
              <a:t> Three delay categories can be specified: </a:t>
            </a:r>
            <a:r>
              <a:rPr lang="en-US" sz="2400" i="1" dirty="0"/>
              <a:t>minimum</a:t>
            </a:r>
            <a:r>
              <a:rPr lang="en-US" sz="2400" dirty="0"/>
              <a:t>, </a:t>
            </a:r>
            <a:r>
              <a:rPr lang="en-US" sz="2400" i="1" dirty="0"/>
              <a:t>typical</a:t>
            </a:r>
            <a:r>
              <a:rPr lang="en-US" sz="2400" dirty="0"/>
              <a:t>, and </a:t>
            </a:r>
            <a:r>
              <a:rPr lang="en-US" sz="2400" i="1" dirty="0"/>
              <a:t>maximum</a:t>
            </a:r>
            <a:r>
              <a:rPr lang="en-US" sz="2400" dirty="0"/>
              <a:t>. The delays are separated by a “:”. </a:t>
            </a:r>
          </a:p>
          <a:p>
            <a:r>
              <a:rPr lang="en-US" sz="2400" dirty="0"/>
              <a:t>The following is the syntax of how to use the delay range capability.</a:t>
            </a:r>
          </a:p>
          <a:p>
            <a:r>
              <a:rPr lang="en-IN" b="1" dirty="0"/>
              <a:t>assign #(</a:t>
            </a:r>
            <a:r>
              <a:rPr lang="en-IN" dirty="0"/>
              <a:t>&lt;min&gt;:&lt;typ&gt;:&lt;max&gt;</a:t>
            </a:r>
            <a:r>
              <a:rPr lang="en-IN" b="1" dirty="0"/>
              <a:t>) </a:t>
            </a:r>
            <a:r>
              <a:rPr lang="en-IN" dirty="0"/>
              <a:t>&lt;</a:t>
            </a:r>
            <a:r>
              <a:rPr lang="en-IN" dirty="0" err="1"/>
              <a:t>target_net</a:t>
            </a:r>
            <a:r>
              <a:rPr lang="en-IN" dirty="0"/>
              <a:t>&gt; </a:t>
            </a:r>
            <a:r>
              <a:rPr lang="en-IN" b="1" dirty="0"/>
              <a:t>= </a:t>
            </a:r>
            <a:r>
              <a:rPr lang="en-IN" dirty="0"/>
              <a:t>&lt;</a:t>
            </a:r>
            <a:r>
              <a:rPr lang="en-IN" dirty="0" err="1"/>
              <a:t>RHS_nets</a:t>
            </a:r>
            <a:r>
              <a:rPr lang="en-IN" dirty="0"/>
              <a:t>, operators, etc.…&gt;;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542A91-A885-AF1C-E7E0-1B15AC672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01" y="4185229"/>
            <a:ext cx="9307224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191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F95B4-9BAB-39E5-F3FD-08AFE6FB0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618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Continuous Assignment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altLang="en-US" sz="3600" dirty="0">
              <a:latin typeface="Arial Unicode MS"/>
            </a:endParaRPr>
          </a:p>
          <a:p>
            <a:endParaRPr lang="en-US" altLang="en-US" sz="3600" dirty="0">
              <a:latin typeface="Arial Unicode MS"/>
            </a:endParaRPr>
          </a:p>
          <a:p>
            <a:endParaRPr lang="en-US" altLang="en-US" sz="3600" dirty="0">
              <a:latin typeface="Arial Unicode MS"/>
            </a:endParaRPr>
          </a:p>
          <a:p>
            <a:r>
              <a:rPr lang="en-US" altLang="en-US" sz="2400" dirty="0">
                <a:latin typeface="Arial Unicode MS"/>
              </a:rPr>
              <a:t>^</a:t>
            </a:r>
            <a:r>
              <a:rPr lang="en-US" altLang="en-US" sz="2400" dirty="0"/>
              <a:t> is the bitwise XOR operator.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B63049-1BFF-D63D-0CB3-DA0C9956A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199" y="366187"/>
            <a:ext cx="1074088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2-input XOR gate using different types of 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continuous assignment (assign) statements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9F3E4B-0B87-9FB4-780D-71112AADB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363" y="2264120"/>
            <a:ext cx="5102031" cy="333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21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2C7D3-A6C1-7F8C-777B-31EECA57A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2-input XOR gate using different types of </a:t>
            </a:r>
            <a:br>
              <a:rPr lang="en-US" altLang="en-US" b="1" dirty="0"/>
            </a:br>
            <a:r>
              <a:rPr lang="en-US" altLang="en-US" b="1" dirty="0"/>
              <a:t>continuous assignment (assign)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7957-87C5-6D1B-15FE-F26A1FFA1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Continuous Assignment with Logical Operators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00865-79EF-E42E-62C7-AB0812679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86" y="2480081"/>
            <a:ext cx="5415610" cy="336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55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4BAE-B372-0445-309B-258EEE460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2-input XOR gate using different types of </a:t>
            </a:r>
            <a:br>
              <a:rPr lang="en-US" altLang="en-US" b="1" dirty="0"/>
            </a:br>
            <a:r>
              <a:rPr lang="en-US" altLang="en-US" b="1" dirty="0"/>
              <a:t>continuous assignment (assign)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E6173-E70E-4BA9-2DF8-778FFFA80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Continuous Assignment with Conditional Operator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825A87-9675-6283-3769-4A6CB8414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65" y="2448006"/>
            <a:ext cx="6079435" cy="372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166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C7CE-E39C-3BF6-739B-988F69B96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2-input XOR gate using different types of </a:t>
            </a:r>
            <a:br>
              <a:rPr lang="en-US" altLang="en-US" b="1" dirty="0"/>
            </a:br>
            <a:r>
              <a:rPr lang="en-US" altLang="en-US" b="1" dirty="0"/>
              <a:t>continuous assignment (assign) statements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D492-95A5-ABBD-0168-01CFCFE94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4. Continuous Assignment with Delay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1E205-C4F4-0A21-2859-DB727F20C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75" y="2578803"/>
            <a:ext cx="4643607" cy="373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35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685</Words>
  <Application>Microsoft Office PowerPoint</Application>
  <PresentationFormat>Widescreen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Unicode MS</vt:lpstr>
      <vt:lpstr>Calibri</vt:lpstr>
      <vt:lpstr>Calibri Light</vt:lpstr>
      <vt:lpstr>Office Theme</vt:lpstr>
      <vt:lpstr>Modeling concurrent functionality in Verilog</vt:lpstr>
      <vt:lpstr>Continuous assignment </vt:lpstr>
      <vt:lpstr>Continuous assignment </vt:lpstr>
      <vt:lpstr>Continuous Assignment with logical operators</vt:lpstr>
      <vt:lpstr>Continuous Assignment with logical operators</vt:lpstr>
      <vt:lpstr>Continuous assignment with conditional operators</vt:lpstr>
      <vt:lpstr>Continuous assignment with conditional operators</vt:lpstr>
      <vt:lpstr>Continuous assignment with conditional operators</vt:lpstr>
      <vt:lpstr>Continuous assignment with conditional operators</vt:lpstr>
      <vt:lpstr>Continuous assignment with delay</vt:lpstr>
      <vt:lpstr>Continuous assignment with delay</vt:lpstr>
      <vt:lpstr>Continuous assignment with delay</vt:lpstr>
      <vt:lpstr>Continuous assignment with delay</vt:lpstr>
      <vt:lpstr>Continuous assignment with delay</vt:lpstr>
      <vt:lpstr>2-input XOR gate using different types of  continuous assignment (assign) statements</vt:lpstr>
      <vt:lpstr>2-input XOR gate using different types of  continuous assignment (assign) statements</vt:lpstr>
      <vt:lpstr>2-input XOR gate using different types of  continuous assignment (assign) statements</vt:lpstr>
      <vt:lpstr>2-input XOR gate using different types of  continuous assignment (assign) statements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2</cp:revision>
  <dcterms:created xsi:type="dcterms:W3CDTF">2025-08-19T16:30:48Z</dcterms:created>
  <dcterms:modified xsi:type="dcterms:W3CDTF">2025-08-20T05:17:24Z</dcterms:modified>
</cp:coreProperties>
</file>