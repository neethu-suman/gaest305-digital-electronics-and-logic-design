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332" r:id="rId4"/>
    <p:sldId id="333" r:id="rId5"/>
    <p:sldId id="334" r:id="rId6"/>
    <p:sldId id="335" r:id="rId7"/>
    <p:sldId id="288" r:id="rId8"/>
    <p:sldId id="336" r:id="rId9"/>
    <p:sldId id="337" r:id="rId10"/>
    <p:sldId id="289" r:id="rId11"/>
    <p:sldId id="338" r:id="rId12"/>
    <p:sldId id="339" r:id="rId13"/>
    <p:sldId id="340" r:id="rId14"/>
    <p:sldId id="290" r:id="rId15"/>
    <p:sldId id="328" r:id="rId16"/>
    <p:sldId id="331" r:id="rId17"/>
    <p:sldId id="341" r:id="rId18"/>
    <p:sldId id="342" r:id="rId19"/>
    <p:sldId id="34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200D-74C3-7612-8F8F-02759BFAF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7C21-11B6-EB8E-0722-8065C2E67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1EF22-47D9-CCD1-6005-A57C68BD6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B896-88DE-EDDA-ECC0-F39D49BF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B5B8-CDC8-5D03-B950-59DFB85D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51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8BB6-CC17-338A-4495-6CD849E9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DC0F-669F-67CA-C0BB-FABF690F7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08D7C-D749-AF67-2D1B-72ABFA3C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B8E6C-6F1C-8C55-2BAE-7CC181A8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129C-8A90-FBAC-FCFA-25436995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49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D024-F3B6-DB5A-D5F5-769B8E66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FFA25-48D5-7FF8-53EC-147A5D1AA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33A4B-DDD2-EC19-165B-4242088C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91E4-1B6A-4EA6-BF87-247AF4D9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705A-221E-0AB0-8C01-0A123F26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15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EB79-CDEB-4E7E-A612-8EEC9452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D828-03D8-F5EF-68A9-A2659C474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662F3-CD68-D7FD-9604-57EC6ED0C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7226A-6F5A-C9B3-611D-F2931DD6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1AC58-C5B3-EB3C-B566-F725C97F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8A53D-12A9-C616-13A3-C90D9C88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45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0E1B-4A8C-F85A-4E9C-2CEF239A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321BC-5C81-5CD6-6896-16461D630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9565A-AC1B-DB06-BE40-DA32F6BCB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A4A8E-D6B9-A83F-ED51-DEA66DDEE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1E1A30-3974-9D21-D324-A46C5D725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37009-2093-2B41-3373-EC150657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BEDD9-EB91-265F-6634-647B9BAF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87AA9-0FA2-3B64-0A68-71A9B477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016A-E9F6-2723-8843-BB012B01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EBD95-9C6A-5685-A669-BB097456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BEDD-FD7E-4761-E16C-C45E6EA8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FE40D-0987-8484-A9E8-2C413F50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6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5AD14-4E04-AA01-14AE-5F2D397F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3E9DA-E47A-8D8C-A57B-3E3742D5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8A2B8-87C5-E139-333E-17FEDBAD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7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83CB-1428-3867-CAEF-A795EDF8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AAB0-A694-5C43-6D71-36814F28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08C86-8349-DE34-B1AA-52446A056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EA4B6-DD8A-8292-6AB8-FA2D1B09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5C3A8-CEA9-C980-3473-8B482F4A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BEB0-0C97-B642-6FA8-71893845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1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EDE9-14A6-2ADD-AF10-28BEAFEC2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468B4-E45C-4CDE-BF83-42EAE1329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6A73E-F151-1286-58C7-A56F229CB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D687A-8407-7ADE-F0CA-8CAADAB0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ABDEA-5A48-C1F4-CBCC-E1BF7C09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DFAF-5B22-30CA-21ED-B4A1008E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81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9052-2288-82E2-3B1D-C3940B0F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3D661-EE49-55E2-72CA-B798BA481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183CF-8E75-B599-09CE-BAC753F2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34640-7CB3-AA7E-C467-54A0C1B0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56872-43E9-92DC-D323-D7E5E941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0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644572-1F84-B2A1-0F6C-B2F113D14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8D9A7-FD68-FD0A-FE79-78155F623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0071A-F5F0-FD92-FDEC-CCE1692F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C641-3A63-6A3E-7EBF-D2C04DD5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A51A3-D271-FE40-6C05-785DA432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32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92848-3CE1-1268-3B54-ABEC3BA30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9E0DE-CE99-28C8-C1CD-0401FDF17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B30E5-5921-5FF4-27AB-A895E4773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8568B-703A-48EA-A61E-5B57D9FBDB7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2633B-71C9-D9C9-5CDE-0DDFA37E4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A03C1-58E9-0EF8-891E-8A485BC2A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92E5-F59F-4FD4-A754-97843BAF6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2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CFF0-2FF7-E270-ADE0-1A4A17B0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design and hierarchy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D656A-6A42-B7D6-49EB-112A28875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Structural design in Verilog</a:t>
            </a:r>
          </a:p>
          <a:p>
            <a:pPr lvl="1"/>
            <a:r>
              <a:rPr lang="en-US" b="1" dirty="0"/>
              <a:t>Hierarchy</a:t>
            </a:r>
            <a:r>
              <a:rPr lang="en-US" i="1" dirty="0"/>
              <a:t> - </a:t>
            </a:r>
            <a:r>
              <a:rPr lang="en-US" dirty="0"/>
              <a:t>Including lower-level sub-systems within a higher-level module to produce the desired functionality</a:t>
            </a:r>
          </a:p>
          <a:p>
            <a:pPr lvl="1"/>
            <a:r>
              <a:rPr lang="en-US" dirty="0"/>
              <a:t>Good design practice because it enables design partitioning</a:t>
            </a:r>
          </a:p>
          <a:p>
            <a:pPr lvl="1"/>
            <a:r>
              <a:rPr lang="en-US" dirty="0"/>
              <a:t>contain the instantiation and interconnections of other sub-systems</a:t>
            </a:r>
          </a:p>
          <a:p>
            <a:pPr lvl="1"/>
            <a:r>
              <a:rPr lang="en-US" dirty="0"/>
              <a:t>Each lower-level module that is called is executed concurrently by the calling module.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87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390C-B556-4728-8C2C-C120F63C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Lower-level module instantiation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10B9-CD9F-9851-9A7A-CC47B99D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Verilog, the syntax for instantiating a lower-level module is as follows.</a:t>
            </a:r>
          </a:p>
          <a:p>
            <a:pPr marL="0" indent="0">
              <a:buNone/>
            </a:pPr>
            <a:r>
              <a:rPr lang="en-IN" sz="2400" i="1" dirty="0"/>
              <a:t>	</a:t>
            </a:r>
            <a:r>
              <a:rPr lang="en-IN" sz="2400" b="1" i="1" dirty="0" err="1"/>
              <a:t>module_name</a:t>
            </a:r>
            <a:r>
              <a:rPr lang="en-IN" sz="2400" b="1" i="1" dirty="0"/>
              <a:t> &lt;</a:t>
            </a:r>
            <a:r>
              <a:rPr lang="en-IN" sz="2400" b="1" i="1" dirty="0" err="1"/>
              <a:t>instance_identifier</a:t>
            </a:r>
            <a:r>
              <a:rPr lang="en-IN" sz="2400" b="1" i="1" dirty="0"/>
              <a:t>&gt; </a:t>
            </a:r>
            <a:r>
              <a:rPr lang="en-IN" sz="2400" b="1" dirty="0"/>
              <a:t>( </a:t>
            </a:r>
            <a:r>
              <a:rPr lang="en-IN" sz="2400" b="1" i="1" dirty="0"/>
              <a:t>port mapping… </a:t>
            </a:r>
            <a:r>
              <a:rPr lang="en-IN" sz="2400" b="1" dirty="0"/>
              <a:t>);</a:t>
            </a:r>
          </a:p>
          <a:p>
            <a:pPr marL="0" indent="0">
              <a:buNone/>
            </a:pPr>
            <a:endParaRPr lang="en-IN" sz="2400" b="1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Module name that is being called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must match the lower-level module name exactly, including case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Optional instance identifier </a:t>
            </a:r>
            <a:r>
              <a:rPr lang="en-US" dirty="0">
                <a:sym typeface="Wingdings" panose="05000000000000000000" pitchFamily="2" charset="2"/>
              </a:rPr>
              <a:t> U</a:t>
            </a:r>
            <a:r>
              <a:rPr lang="en-US" dirty="0"/>
              <a:t>seful when instantiating multiple instances of the same lower-level module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Port mapping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Two techniques to connect signals to the ports of the lower-level module, </a:t>
            </a:r>
            <a:r>
              <a:rPr lang="en-US" i="1" dirty="0"/>
              <a:t>explicit </a:t>
            </a:r>
            <a:r>
              <a:rPr lang="en-US" dirty="0"/>
              <a:t>and </a:t>
            </a:r>
            <a:r>
              <a:rPr lang="en-US" i="1" dirty="0"/>
              <a:t>positional</a:t>
            </a:r>
            <a:r>
              <a:rPr lang="en-US" dirty="0"/>
              <a:t>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35811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8BDF-DE58-D68F-1DDB-C65D4064E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Explicit Port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519A-778E-68DE-87EA-AFBF64FB1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Names of the ports of the lower-level sub-system are provided along with the signals they are connected to. </a:t>
            </a:r>
          </a:p>
          <a:p>
            <a:r>
              <a:rPr lang="en-US" sz="2400" dirty="0"/>
              <a:t>The lower-level port name is preceded by a period (</a:t>
            </a:r>
            <a:r>
              <a:rPr lang="en-US" sz="2400" b="1" dirty="0"/>
              <a:t>.</a:t>
            </a:r>
            <a:r>
              <a:rPr lang="en-US" sz="2400" dirty="0"/>
              <a:t>) while the signal it is being connected to is enclosed within parentheses. </a:t>
            </a:r>
          </a:p>
          <a:p>
            <a:r>
              <a:rPr lang="en-US" sz="2400" dirty="0"/>
              <a:t>The port connections can be listed in any order since the details of the connection (i.e., port name to signal name) are explicit. Each connection is separated by a comma. </a:t>
            </a:r>
          </a:p>
          <a:p>
            <a:r>
              <a:rPr lang="en-US" sz="2400" dirty="0"/>
              <a:t>The syntax for explicit port mapping is as follows:</a:t>
            </a:r>
          </a:p>
          <a:p>
            <a:r>
              <a:rPr lang="en-IN" sz="2400" i="1" dirty="0" err="1"/>
              <a:t>module_name</a:t>
            </a:r>
            <a:r>
              <a:rPr lang="en-IN" sz="2400" i="1" dirty="0"/>
              <a:t> </a:t>
            </a:r>
            <a:r>
              <a:rPr lang="en-IN" sz="2400" dirty="0"/>
              <a:t>&lt;instance identifier&gt; </a:t>
            </a:r>
            <a:r>
              <a:rPr lang="en-IN" sz="2400" b="1" dirty="0"/>
              <a:t>(</a:t>
            </a:r>
            <a:r>
              <a:rPr lang="en-IN" sz="2400" dirty="0"/>
              <a:t>.</a:t>
            </a:r>
            <a:r>
              <a:rPr lang="en-IN" sz="2400" i="1" dirty="0"/>
              <a:t>port_name1 </a:t>
            </a:r>
            <a:r>
              <a:rPr lang="en-IN" sz="2400" b="1" dirty="0"/>
              <a:t>( </a:t>
            </a:r>
            <a:r>
              <a:rPr lang="en-IN" sz="2400" i="1" dirty="0"/>
              <a:t>signal1</a:t>
            </a:r>
            <a:r>
              <a:rPr lang="en-IN" sz="2400" b="1" dirty="0"/>
              <a:t>)</a:t>
            </a:r>
            <a:r>
              <a:rPr lang="en-IN" sz="2400" dirty="0"/>
              <a:t>, </a:t>
            </a:r>
            <a:r>
              <a:rPr lang="en-IN" sz="2400" b="1" dirty="0"/>
              <a:t>. </a:t>
            </a:r>
            <a:r>
              <a:rPr lang="en-IN" sz="2400" i="1" dirty="0"/>
              <a:t>port_name2 </a:t>
            </a:r>
            <a:r>
              <a:rPr lang="en-IN" sz="2400" b="1" dirty="0"/>
              <a:t>( </a:t>
            </a:r>
            <a:r>
              <a:rPr lang="en-IN" sz="2400" i="1" dirty="0"/>
              <a:t>signal2 </a:t>
            </a:r>
            <a:r>
              <a:rPr lang="en-IN" sz="2400" b="1" dirty="0"/>
              <a:t>), </a:t>
            </a:r>
            <a:r>
              <a:rPr lang="en-IN" sz="2400" dirty="0"/>
              <a:t>etc</a:t>
            </a:r>
            <a:r>
              <a:rPr lang="en-IN" sz="2400" b="1" dirty="0"/>
              <a:t>.);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8030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13B261-D794-EBF2-E005-B122069F9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57" y="47153"/>
            <a:ext cx="8316486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1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6984-ED90-0413-8390-99050484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Positional Port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F4D4F-1819-566D-E560-781A0E691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Names of the ports of the lower-level modules are not explicitly listed. </a:t>
            </a:r>
          </a:p>
          <a:p>
            <a:r>
              <a:rPr lang="en-US" sz="2400" dirty="0"/>
              <a:t>Instead, the signals to be connected to the lower-level system are listed in the same order in which the ports were defined in the sub-system. Each signal name is separated by a comma. </a:t>
            </a:r>
          </a:p>
          <a:p>
            <a:r>
              <a:rPr lang="en-US" sz="2400" dirty="0"/>
              <a:t>This approach requires less text to describe the connection, but can also lead to misconnections due to inadvertent mistakes in the signal order. </a:t>
            </a:r>
          </a:p>
          <a:p>
            <a:r>
              <a:rPr lang="en-US" sz="2400" dirty="0"/>
              <a:t>The syntax for positional port mapping is as follows:</a:t>
            </a:r>
          </a:p>
          <a:p>
            <a:r>
              <a:rPr lang="en-IN" sz="2400" i="1" dirty="0" err="1"/>
              <a:t>module_name</a:t>
            </a:r>
            <a:r>
              <a:rPr lang="en-IN" sz="2400" i="1" dirty="0"/>
              <a:t> </a:t>
            </a:r>
            <a:r>
              <a:rPr lang="en-IN" sz="2400" dirty="0"/>
              <a:t>: &lt;</a:t>
            </a:r>
            <a:r>
              <a:rPr lang="en-IN" sz="2400" dirty="0" err="1"/>
              <a:t>instance_identifier</a:t>
            </a:r>
            <a:r>
              <a:rPr lang="en-IN" sz="2400" dirty="0"/>
              <a:t>&gt; </a:t>
            </a:r>
            <a:r>
              <a:rPr lang="en-IN" sz="2400" b="1" dirty="0"/>
              <a:t>( </a:t>
            </a:r>
            <a:r>
              <a:rPr lang="en-IN" sz="2400" i="1" dirty="0"/>
              <a:t>signal1</a:t>
            </a:r>
            <a:r>
              <a:rPr lang="en-IN" sz="2400" dirty="0"/>
              <a:t>, </a:t>
            </a:r>
            <a:r>
              <a:rPr lang="en-IN" sz="2400" i="1" dirty="0"/>
              <a:t>signal2 </a:t>
            </a:r>
            <a:r>
              <a:rPr lang="en-IN" sz="2400" b="1" dirty="0"/>
              <a:t>, </a:t>
            </a:r>
            <a:r>
              <a:rPr lang="en-IN" sz="2400" dirty="0"/>
              <a:t>etc.</a:t>
            </a:r>
            <a:r>
              <a:rPr lang="en-IN" sz="2400" b="1" dirty="0"/>
              <a:t>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2079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AFC1E-E731-FB3A-81E7-414EC2C5F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25" y="90021"/>
            <a:ext cx="8411749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6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2E72-8ABE-A32E-737A-283BBE0E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level primitives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7556E-21DE-5122-0455-CFADE196A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Verilog provides the ability to model basic logic functionality through the use of </a:t>
            </a:r>
            <a:r>
              <a:rPr lang="en-US" sz="2400" i="1" dirty="0"/>
              <a:t>primitives</a:t>
            </a:r>
            <a:r>
              <a:rPr lang="en-US" sz="2400" dirty="0"/>
              <a:t>. </a:t>
            </a:r>
          </a:p>
          <a:p>
            <a:pPr lvl="1"/>
            <a:r>
              <a:rPr lang="en-US" sz="2000" dirty="0"/>
              <a:t>A primitive is a logic operation that is simple enough that it doesn’t require explicit modeling. </a:t>
            </a:r>
          </a:p>
          <a:p>
            <a:r>
              <a:rPr lang="en-US" sz="2400" dirty="0"/>
              <a:t>Verilog provides a set of </a:t>
            </a:r>
            <a:r>
              <a:rPr lang="en-US" sz="2400" i="1" dirty="0"/>
              <a:t>gate level primitives </a:t>
            </a:r>
            <a:r>
              <a:rPr lang="en-US" sz="2400" dirty="0"/>
              <a:t>to model simple logic operations. </a:t>
            </a:r>
          </a:p>
          <a:p>
            <a:pPr lvl="1"/>
            <a:r>
              <a:rPr lang="en-US" sz="2000" b="1" dirty="0"/>
              <a:t>not()</a:t>
            </a:r>
            <a:r>
              <a:rPr lang="en-US" sz="2000" dirty="0"/>
              <a:t>, </a:t>
            </a:r>
            <a:r>
              <a:rPr lang="en-US" sz="2000" b="1" dirty="0"/>
              <a:t>and()</a:t>
            </a:r>
            <a:r>
              <a:rPr lang="en-US" sz="2000" dirty="0"/>
              <a:t>, </a:t>
            </a:r>
            <a:r>
              <a:rPr lang="en-US" sz="2000" b="1" dirty="0" err="1"/>
              <a:t>nand</a:t>
            </a:r>
            <a:r>
              <a:rPr lang="en-US" sz="2000" b="1" dirty="0"/>
              <a:t>()</a:t>
            </a:r>
            <a:r>
              <a:rPr lang="en-US" sz="2000" dirty="0"/>
              <a:t>, </a:t>
            </a:r>
            <a:r>
              <a:rPr lang="en-US" sz="2000" b="1" dirty="0"/>
              <a:t>or()</a:t>
            </a:r>
            <a:r>
              <a:rPr lang="en-US" sz="2000" dirty="0"/>
              <a:t>, </a:t>
            </a:r>
            <a:r>
              <a:rPr lang="en-US" sz="2000" b="1" dirty="0"/>
              <a:t>nor()</a:t>
            </a:r>
            <a:r>
              <a:rPr lang="en-US" sz="2000" dirty="0"/>
              <a:t>, </a:t>
            </a:r>
            <a:r>
              <a:rPr lang="en-US" sz="2000" b="1" dirty="0" err="1"/>
              <a:t>xor</a:t>
            </a:r>
            <a:r>
              <a:rPr lang="en-US" sz="2000" b="1" dirty="0"/>
              <a:t>()</a:t>
            </a:r>
            <a:r>
              <a:rPr lang="en-US" sz="2000" dirty="0"/>
              <a:t>, and </a:t>
            </a:r>
            <a:r>
              <a:rPr lang="en-US" sz="2000" b="1" dirty="0" err="1"/>
              <a:t>xnor</a:t>
            </a:r>
            <a:r>
              <a:rPr lang="en-US" sz="2000" b="1" dirty="0"/>
              <a:t>()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Each of these primitives are instantiated as lower-level subsystems with positional port mapping. </a:t>
            </a:r>
          </a:p>
          <a:p>
            <a:pPr lvl="1"/>
            <a:r>
              <a:rPr lang="en-US" sz="2000" dirty="0"/>
              <a:t>The port order for each primitive has the output listed first followed by the input(s). </a:t>
            </a:r>
          </a:p>
          <a:p>
            <a:pPr lvl="1"/>
            <a:r>
              <a:rPr lang="en-US" sz="2000" dirty="0"/>
              <a:t>The output and each of the inputs are scalars.</a:t>
            </a:r>
          </a:p>
          <a:p>
            <a:pPr lvl="1"/>
            <a:r>
              <a:rPr lang="en-US" sz="2000" dirty="0"/>
              <a:t>Gate level primitives do not need to explicitly created as they are provided as part of the Verilog standard. 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743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2E72-8ABE-A32E-737A-283BBE0E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level primitives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7556E-21DE-5122-0455-CFADE196A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benefits of using gate-level primitives is that the number of inputs is easily scaled as each primitive can accommodate an increasing number of inputs automatically. </a:t>
            </a:r>
          </a:p>
          <a:p>
            <a:r>
              <a:rPr lang="en-US" dirty="0"/>
              <a:t>Modeling using this approach essentially provides a gate-level netlist, so it represents a very low-level, detailed gate level implementation that is ready for technology mapping.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105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3CAFB4-BCF2-DECD-5EC8-321B8C954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108" y="0"/>
            <a:ext cx="8199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3F98-F42B-3251-CE88-E3CA00A3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primitives(UDP)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6F1D-6161-B753-464F-CE5BB0DC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877"/>
            <a:ext cx="1105893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system that describes the behavior of a low-level component using a logic table. </a:t>
            </a:r>
          </a:p>
          <a:p>
            <a:r>
              <a:rPr lang="en-US" sz="2400" dirty="0"/>
              <a:t>Useful for large truth tables where it is more convenient to list the functionality in table form. </a:t>
            </a:r>
          </a:p>
          <a:p>
            <a:r>
              <a:rPr lang="en-US" sz="2400" dirty="0"/>
              <a:t>UDPs are lower-level sub-systems that are intended to be instantiated in higher-level modules just like gate-level primitives, with the exception that the UPD needs to be created in its own file. </a:t>
            </a:r>
          </a:p>
          <a:p>
            <a:r>
              <a:rPr lang="en-US" sz="2400" dirty="0"/>
              <a:t>The syntax for a UDP is as follows: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CB2C2-8465-0769-AB5B-54E185BF3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921" y="4244970"/>
            <a:ext cx="7826218" cy="261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2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E650-6447-2F51-C739-8EBA116B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primitives(UDP)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7995-9AE0-8D94-0C8B-AA81CBA1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UDP must list its output(s) first in the port definition. </a:t>
            </a:r>
          </a:p>
          <a:p>
            <a:r>
              <a:rPr lang="en-US" dirty="0"/>
              <a:t>It also does not require types to be defined for the ports. </a:t>
            </a:r>
          </a:p>
          <a:p>
            <a:r>
              <a:rPr lang="en-US" dirty="0"/>
              <a:t>For combinational logic UDPs, all ports are assumed to be of type wire.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129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2B989-AE91-E79E-F924-0C6E8C64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6" y="525242"/>
            <a:ext cx="11569148" cy="509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5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CB334-34B8-7227-9C0B-DF432D94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1" y="0"/>
            <a:ext cx="11692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98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AF94-9021-DCDE-7D05-0E3E3364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delay to primitives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F7F62-6D64-61CD-D6CA-7390734C9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70113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delay is inserted after the primitive name but before the instance name.</a:t>
            </a:r>
          </a:p>
          <a:p>
            <a:pPr marL="0" indent="0">
              <a:buNone/>
            </a:pPr>
            <a:r>
              <a:rPr lang="en-IN" sz="2400" dirty="0"/>
              <a:t>Example:</a:t>
            </a:r>
          </a:p>
          <a:p>
            <a:r>
              <a:rPr lang="en-US" sz="2400" dirty="0"/>
              <a:t>not #2 U0 (An, A); // Gate level primitive for an inverter with delay of 2</a:t>
            </a:r>
          </a:p>
          <a:p>
            <a:r>
              <a:rPr lang="en-US" sz="2400" dirty="0"/>
              <a:t>and #3 U3 (m0, An, Bn, Cn); // Gate level primitive for an AND gate with delay of 3</a:t>
            </a:r>
          </a:p>
          <a:p>
            <a:r>
              <a:rPr lang="en-US" sz="2400" dirty="0" err="1"/>
              <a:t>SystemX_UDP</a:t>
            </a:r>
            <a:r>
              <a:rPr lang="en-US" sz="2400" dirty="0"/>
              <a:t> #1 U0 (F, A, B, C); // UDP with a delay of 1.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85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EC3A-AA91-AA84-0315-C8DE6702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</a:t>
            </a:r>
            <a:r>
              <a:rPr lang="en-IN" b="1" dirty="0" err="1"/>
              <a:t>Modeling</a:t>
            </a:r>
            <a:r>
              <a:rPr lang="en-IN" b="1" dirty="0"/>
              <a:t> in Verilog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0385E-9211-A0EA-33AB-4F54C87F1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Behavioral Modeling </a:t>
            </a:r>
          </a:p>
          <a:p>
            <a:pPr lvl="1"/>
            <a:r>
              <a:rPr lang="en-US" sz="2000" dirty="0"/>
              <a:t>Describes the circuit’s functionality using procedural blocks (always, if, case) without focusing on hardware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Dataflow Modeling </a:t>
            </a:r>
          </a:p>
          <a:p>
            <a:pPr lvl="1"/>
            <a:r>
              <a:rPr lang="en-US" sz="2000" dirty="0"/>
              <a:t>Describes the movement of data in the system and determines the logic functions between different signals. Describes the circuit using Boolean expressions and continuous assignments (assign).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Gate-Level Modeling </a:t>
            </a:r>
          </a:p>
          <a:p>
            <a:pPr lvl="1"/>
            <a:r>
              <a:rPr lang="en-US" sz="2000" dirty="0"/>
              <a:t>Represents the circuit as a direct netlist of built-in logic gate primitives (and, or, </a:t>
            </a:r>
            <a:r>
              <a:rPr lang="en-US" sz="2000" dirty="0" err="1"/>
              <a:t>xor</a:t>
            </a:r>
            <a:r>
              <a:rPr lang="en-US" sz="2000" dirty="0"/>
              <a:t>, etc.).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Structural Modeling </a:t>
            </a:r>
          </a:p>
          <a:p>
            <a:pPr lvl="1"/>
            <a:r>
              <a:rPr lang="en-US" sz="2000" dirty="0"/>
              <a:t>Builds the circuit by hierarchically interconnecting submodules or components.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250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2428-5B87-B112-D818-E4DF3AC5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Half Adder</a:t>
            </a:r>
            <a:r>
              <a:rPr lang="en-US" sz="4000" dirty="0"/>
              <a:t> (HA) in </a:t>
            </a:r>
            <a:r>
              <a:rPr lang="en-US" sz="4000" b="1" dirty="0"/>
              <a:t>all four modeling styles</a:t>
            </a:r>
            <a:r>
              <a:rPr lang="en-US" sz="4000" dirty="0"/>
              <a:t> — </a:t>
            </a:r>
            <a:r>
              <a:rPr lang="en-US" sz="4000" b="1" dirty="0"/>
              <a:t>Dataflow, Behavioral, Gate and Structural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19FD-8647-6D85-E9E7-D2221077F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Dataflow 			             </a:t>
            </a:r>
            <a:r>
              <a:rPr lang="en-US" b="1" dirty="0"/>
              <a:t>Behavioral			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3CF44-40F7-EB06-3681-D4E0DFB9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1322"/>
            <a:ext cx="4091609" cy="3572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B4C37F-5326-2B1B-DBC7-44D71C8A0445}"/>
              </a:ext>
            </a:extLst>
          </p:cNvPr>
          <p:cNvSpPr txBox="1"/>
          <p:nvPr/>
        </p:nvSpPr>
        <p:spPr>
          <a:xfrm>
            <a:off x="5570768" y="5576798"/>
            <a:ext cx="63661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 reg → required because values are assigned inside an always block</a:t>
            </a:r>
          </a:p>
          <a:p>
            <a:r>
              <a:rPr lang="en-US" dirty="0"/>
              <a:t>always @(A or B) → block executes whenever A or B changes.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9F298-656B-C9A8-E1B8-0ADB409ED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769" y="2321322"/>
            <a:ext cx="5411969" cy="316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46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154A-7893-5EEC-42AF-317505A6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Half Adder</a:t>
            </a:r>
            <a:r>
              <a:rPr lang="en-US" dirty="0"/>
              <a:t> (HA) in </a:t>
            </a:r>
            <a:r>
              <a:rPr lang="en-US" b="1" dirty="0"/>
              <a:t>all four modeling styles</a:t>
            </a:r>
            <a:r>
              <a:rPr lang="en-US" dirty="0"/>
              <a:t> — </a:t>
            </a:r>
            <a:r>
              <a:rPr lang="en-US" b="1" dirty="0"/>
              <a:t>Dataflow, Behavioral, and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C4FE0-607D-3337-A390-FBE8C861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45202"/>
          </a:xfrm>
        </p:spPr>
        <p:txBody>
          <a:bodyPr>
            <a:normAutofit/>
          </a:bodyPr>
          <a:lstStyle/>
          <a:p>
            <a:r>
              <a:rPr lang="en-US" sz="2800" dirty="0"/>
              <a:t>Gate</a:t>
            </a:r>
            <a:endParaRPr lang="en-IN" sz="2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F237723-97FE-BEAB-9F3B-ADD185B752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43773" y="2226364"/>
            <a:ext cx="4264331" cy="282271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BD2C4E-EE0D-0219-899B-D8DBCA555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13783" y="1681163"/>
            <a:ext cx="5441605" cy="445811"/>
          </a:xfrm>
        </p:spPr>
        <p:txBody>
          <a:bodyPr/>
          <a:lstStyle/>
          <a:p>
            <a:r>
              <a:rPr lang="en-US" dirty="0"/>
              <a:t>Structural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BAC9F9-809C-2433-5214-0C826059DEB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595048" y="2126974"/>
            <a:ext cx="5757163" cy="44527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DDAE31-3425-BF22-BEF5-4817C538D194}"/>
              </a:ext>
            </a:extLst>
          </p:cNvPr>
          <p:cNvSpPr txBox="1"/>
          <p:nvPr/>
        </p:nvSpPr>
        <p:spPr>
          <a:xfrm>
            <a:off x="298175" y="5176837"/>
            <a:ext cx="48329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Uses built-in gate primitives:</a:t>
            </a:r>
          </a:p>
          <a:p>
            <a:r>
              <a:rPr lang="en-US" sz="2000" dirty="0" err="1"/>
              <a:t>xor</a:t>
            </a:r>
            <a:r>
              <a:rPr lang="en-US" sz="2000" dirty="0"/>
              <a:t> g1(Sum, A, B); → XOR gate instance g1.</a:t>
            </a:r>
          </a:p>
          <a:p>
            <a:r>
              <a:rPr lang="en-US" sz="2000" dirty="0"/>
              <a:t>and g2(Carry, A, B); → AND gate instance g2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4538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6AA4-A130-5FEE-16FE-84D46B88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Verilog HDL - Modelling of the basic gates using </a:t>
            </a:r>
            <a:br>
              <a:rPr lang="en-IN" dirty="0"/>
            </a:br>
            <a:r>
              <a:rPr lang="en-IN" dirty="0"/>
              <a:t>Gate level, </a:t>
            </a:r>
            <a:r>
              <a:rPr lang="en-IN" dirty="0" err="1"/>
              <a:t>Behavioral</a:t>
            </a:r>
            <a:r>
              <a:rPr lang="en-IN" dirty="0"/>
              <a:t>, Structural, Dataflow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84372A-ACD2-54ED-8724-CEEE75132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85567"/>
          </a:xfrm>
        </p:spPr>
        <p:txBody>
          <a:bodyPr/>
          <a:lstStyle/>
          <a:p>
            <a:r>
              <a:rPr lang="en-IN" dirty="0" err="1"/>
              <a:t>Behavioral</a:t>
            </a:r>
            <a:r>
              <a:rPr lang="en-IN" dirty="0"/>
              <a:t> </a:t>
            </a:r>
            <a:r>
              <a:rPr lang="en-IN" dirty="0" err="1"/>
              <a:t>Modeling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D6C8290-6521-C8A5-1F70-259B4E4CB9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94427" y="2152472"/>
            <a:ext cx="5335586" cy="360185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899FC-76FD-B743-F6AC-0A6AE5442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71309"/>
          </a:xfrm>
        </p:spPr>
        <p:txBody>
          <a:bodyPr/>
          <a:lstStyle/>
          <a:p>
            <a:r>
              <a:rPr lang="en-IN" dirty="0"/>
              <a:t>Dataflow </a:t>
            </a:r>
            <a:r>
              <a:rPr lang="en-IN" dirty="0" err="1"/>
              <a:t>Modeling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2101799-545B-B9B1-3122-4288AA5F77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27451" y="2259388"/>
            <a:ext cx="4983276" cy="32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66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E9C2-A9A0-9B67-BA6A-7095367F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6D10-880B-CAD8-14D1-E6990257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Verilog HDL - Modelling of the basic gates using </a:t>
            </a:r>
            <a:br>
              <a:rPr lang="en-IN" dirty="0"/>
            </a:br>
            <a:r>
              <a:rPr lang="en-IN" dirty="0"/>
              <a:t>Gate level, </a:t>
            </a:r>
            <a:r>
              <a:rPr lang="en-IN" dirty="0" err="1"/>
              <a:t>Behavioral</a:t>
            </a:r>
            <a:r>
              <a:rPr lang="en-IN" dirty="0"/>
              <a:t>, Structural, Dataflow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B4311-1C26-74D1-F5C7-89C33FB4F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85567"/>
          </a:xfrm>
        </p:spPr>
        <p:txBody>
          <a:bodyPr/>
          <a:lstStyle/>
          <a:p>
            <a:r>
              <a:rPr lang="en-IN" dirty="0"/>
              <a:t>Gate-Level </a:t>
            </a:r>
            <a:r>
              <a:rPr lang="en-IN" dirty="0" err="1"/>
              <a:t>Modeling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4DF4ECE-0D9C-BE2A-F377-16A6A6D13A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1" y="2214528"/>
            <a:ext cx="5228287" cy="28643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B17DDF-C809-4B24-5897-6311B3EEE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85567"/>
          </a:xfrm>
        </p:spPr>
        <p:txBody>
          <a:bodyPr/>
          <a:lstStyle/>
          <a:p>
            <a:r>
              <a:rPr lang="en-IN" dirty="0"/>
              <a:t>Structural </a:t>
            </a:r>
            <a:r>
              <a:rPr lang="en-IN" dirty="0" err="1"/>
              <a:t>Modeling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8A8C4A-432B-80D4-262F-C901703CA29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26509" y="2166729"/>
            <a:ext cx="5590507" cy="450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9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1000</Words>
  <Application>Microsoft Office PowerPoint</Application>
  <PresentationFormat>Widescreen</PresentationFormat>
  <Paragraphs>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Structural design and hierarchy</vt:lpstr>
      <vt:lpstr>Lower-level module instantiation</vt:lpstr>
      <vt:lpstr>Explicit Port Mapping</vt:lpstr>
      <vt:lpstr>PowerPoint Presentation</vt:lpstr>
      <vt:lpstr>Positional Port Mapping</vt:lpstr>
      <vt:lpstr>PowerPoint Presentation</vt:lpstr>
      <vt:lpstr>Gate level primitives</vt:lpstr>
      <vt:lpstr>Gate level primitives</vt:lpstr>
      <vt:lpstr>PowerPoint Presentation</vt:lpstr>
      <vt:lpstr>User defined primitives(UDP)</vt:lpstr>
      <vt:lpstr>User defined primitives(UDP)</vt:lpstr>
      <vt:lpstr>PowerPoint Presentation</vt:lpstr>
      <vt:lpstr>PowerPoint Presentation</vt:lpstr>
      <vt:lpstr>Adding delay to primitives</vt:lpstr>
      <vt:lpstr>Types of Modeling in Verilog</vt:lpstr>
      <vt:lpstr>Half Adder (HA) in all four modeling styles — Dataflow, Behavioral, Gate and Structural</vt:lpstr>
      <vt:lpstr>Half Adder (HA) in all four modeling styles — Dataflow, Behavioral, and</vt:lpstr>
      <vt:lpstr>Verilog HDL - Modelling of the basic gates using  Gate level, Behavioral, Structural, Dataflow</vt:lpstr>
      <vt:lpstr>Verilog HDL - Modelling of the basic gates using  Gate level, Behavioral, Structural, Dataflow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2025-09-11T06:28:21Z</dcterms:created>
  <dcterms:modified xsi:type="dcterms:W3CDTF">2025-09-11T06:29:06Z</dcterms:modified>
</cp:coreProperties>
</file>