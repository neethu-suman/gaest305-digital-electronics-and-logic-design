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318" r:id="rId3"/>
    <p:sldId id="282" r:id="rId4"/>
    <p:sldId id="309" r:id="rId5"/>
    <p:sldId id="310" r:id="rId6"/>
    <p:sldId id="311" r:id="rId7"/>
    <p:sldId id="319" r:id="rId8"/>
    <p:sldId id="283" r:id="rId9"/>
    <p:sldId id="312" r:id="rId10"/>
    <p:sldId id="320" r:id="rId11"/>
    <p:sldId id="284" r:id="rId12"/>
    <p:sldId id="313" r:id="rId13"/>
    <p:sldId id="314" r:id="rId14"/>
    <p:sldId id="315" r:id="rId15"/>
    <p:sldId id="316" r:id="rId16"/>
    <p:sldId id="317" r:id="rId17"/>
    <p:sldId id="323" r:id="rId18"/>
    <p:sldId id="285" r:id="rId19"/>
    <p:sldId id="324" r:id="rId20"/>
    <p:sldId id="327" r:id="rId21"/>
    <p:sldId id="32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207C-34EA-A5C0-F527-167108458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18ED1-C2B5-9085-4FFF-3140C0041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E40E4-22B2-750A-6E80-877B14C5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E9B8-D727-43A2-854D-EB8FFEF5783F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E9EBA-26CE-9314-CA2F-22A9216C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68AFC-0441-BB5A-A61E-1F3C9970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2FB7-B92D-4B09-BBBD-0297D4AB6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459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9212D-C24F-F8AF-8B9F-E0DD4641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0827F-53D7-58CE-E3B4-77B169A77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E56E2-F169-DECD-FD8B-BAD828171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E9B8-D727-43A2-854D-EB8FFEF5783F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3C2EF-7231-E669-4F5C-1586640E5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9BC21-030B-295F-5DC1-7510C7C9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2FB7-B92D-4B09-BBBD-0297D4AB6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8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AE75-0A0F-16CB-DA57-7146AA6E7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2CAD6-CEBA-3A28-56B1-288C89F76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14206-14CD-94B6-6306-A2A8B5535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E9B8-D727-43A2-854D-EB8FFEF5783F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5B917-7ADC-4849-20AF-69A4E9A17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8D256-7638-257D-609E-B96B0061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2FB7-B92D-4B09-BBBD-0297D4AB6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920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D0BD3-0E62-D8BC-71F7-12C2E7C0E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58A2A-9D54-FED5-DB8D-024D8AFDB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D1598-6FFD-7685-28F9-47948F912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346C4-D8E9-1553-6C38-FF3E2F0B8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E9B8-D727-43A2-854D-EB8FFEF5783F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8A7D5-57E4-23EC-93B7-69F3DE47A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8B716-16D3-8C10-E4D2-34148EAE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2FB7-B92D-4B09-BBBD-0297D4AB6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035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3D602-C91D-AB38-63BD-5B3934940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984A6-45D2-93FE-F2B2-DE3491508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0A1E5-721C-91CC-08B7-746E33B99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CC7922-9647-1809-E777-185099F6C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465571-FE52-DDB3-169D-9C8D34883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48596A-2A64-484B-7B1C-4D8931408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E9B8-D727-43A2-854D-EB8FFEF5783F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2A5A-8967-E92C-E646-D475D308C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69E0DB-1DEF-2A9D-BDD0-5FF7D4ED6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2FB7-B92D-4B09-BBBD-0297D4AB6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3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24E7-4A04-B7CE-0800-8E16CB54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7079E-930E-377C-118E-CD84ADEE7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E9B8-D727-43A2-854D-EB8FFEF5783F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6290F-2F6F-C5FC-FA14-709FD0FEF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5270C-65A8-35DD-3C77-5B227B91C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2FB7-B92D-4B09-BBBD-0297D4AB6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1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08E191-BD0A-1771-2606-46F95EA1E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E9B8-D727-43A2-854D-EB8FFEF5783F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DA954D-5981-559E-5684-25779D43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30A95-5912-211D-EA88-58A389117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2FB7-B92D-4B09-BBBD-0297D4AB6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015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981F-81F2-3890-92F7-1DD08608B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0711E-F79A-2A42-0885-E2189FA4B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0E85C-6386-3A6C-9D87-088216C79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26B79-3C9C-3B1A-B982-1DCEE9E0B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E9B8-D727-43A2-854D-EB8FFEF5783F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890D-EF0B-C101-F7A1-536D300A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E23F6-9AC1-4D50-F15F-123651A8D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2FB7-B92D-4B09-BBBD-0297D4AB6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801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980F-4259-C376-EA4B-342F7FD85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FD329F-FE47-B35F-D155-EB955683D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E464B-FD11-64E6-0F01-9E370D439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A90BF-8D6D-3BA6-630E-CB72E344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E9B8-D727-43A2-854D-EB8FFEF5783F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CCB08-8940-2765-1B80-4B214B66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B0733-868F-A6B7-F1FA-11232B6F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2FB7-B92D-4B09-BBBD-0297D4AB6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068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F0FDC-C38A-358A-8673-120163B30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2FD0F-1191-C936-6E0A-9D9770419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E662-AB6E-7C09-1456-4BE854431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E9B8-D727-43A2-854D-EB8FFEF5783F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D7910-40EC-F3F2-0B01-EBCCBA9F7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206BD-3A05-F029-D82F-3825375F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2FB7-B92D-4B09-BBBD-0297D4AB6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76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B2CD3A-9693-B1DD-AE6C-4A78F4F7FE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E3C5B-0299-49A6-6591-A49E22C0C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CB992-F2C4-7BC2-6372-9C2AC334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E9B8-D727-43A2-854D-EB8FFEF5783F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03451-1F30-B35B-90D0-E6FB51C9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8E322-C775-7B73-9C5B-71BCA8617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22FB7-B92D-4B09-BBBD-0297D4AB6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60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4AF90C-9B25-5547-64FA-45FF6FCF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A9DE5-D263-AA38-DA8E-9269133CF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59619-DBF4-4A04-8CE3-6C4D2B8C5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3E9B8-D727-43A2-854D-EB8FFEF5783F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ED7A0-9DB6-3F6F-3FFD-CF8D376F9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45801-8FF2-5908-6BE4-AEE27A002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22FB7-B92D-4B09-BBBD-0297D4AB6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187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C970-DBCC-D14D-36C2-2C794334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Half adder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A20B6-1BF9-EDAD-3C48-4B3304404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half-adder accepts two binary digits on its inputs and produces two binary digits on its outputs—a sum bit and a carry bit.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258E1-3294-FD6C-CB37-7BFBF0F2E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7" y="3246979"/>
            <a:ext cx="4235626" cy="22493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1AC12F-81EB-14E1-05DA-63F650EF2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568" y="2637836"/>
            <a:ext cx="7849695" cy="42201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42508C-8EBA-0412-1ADD-71BDC276F720}"/>
              </a:ext>
            </a:extLst>
          </p:cNvPr>
          <p:cNvSpPr txBox="1"/>
          <p:nvPr/>
        </p:nvSpPr>
        <p:spPr>
          <a:xfrm>
            <a:off x="921854" y="5963277"/>
            <a:ext cx="3023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-Roman"/>
              </a:rPr>
              <a:t>L</a:t>
            </a:r>
            <a:r>
              <a:rPr lang="en-US" sz="1800" b="0" i="0" u="none" strike="noStrike" baseline="0" dirty="0">
                <a:latin typeface="Times-Roman"/>
              </a:rPr>
              <a:t>ogic symbol for a half-adder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4316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47FF-99BC-2E01-6DFF-3DB9E5D43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Verilog Code for Half adder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FB917-0BB7-DE17-ABA0-328BBAE66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module Half(A,B,SUM,COUT);</a:t>
            </a:r>
          </a:p>
          <a:p>
            <a:pPr marL="457200" lvl="1" indent="0">
              <a:buNone/>
            </a:pPr>
            <a:r>
              <a:rPr lang="en-IN" sz="2800" dirty="0"/>
              <a:t>input A,B;</a:t>
            </a:r>
          </a:p>
          <a:p>
            <a:pPr marL="457200" lvl="1" indent="0">
              <a:buNone/>
            </a:pPr>
            <a:r>
              <a:rPr lang="en-IN" sz="2800" dirty="0"/>
              <a:t>output SUM,COUT;</a:t>
            </a:r>
          </a:p>
          <a:p>
            <a:pPr marL="457200" lvl="1" indent="0">
              <a:buNone/>
            </a:pPr>
            <a:r>
              <a:rPr lang="en-IN" sz="2800" dirty="0"/>
              <a:t>assign SUM = A ^ B;</a:t>
            </a:r>
          </a:p>
          <a:p>
            <a:pPr marL="457200" lvl="1" indent="0">
              <a:buNone/>
            </a:pPr>
            <a:r>
              <a:rPr lang="en-IN" sz="2800" dirty="0"/>
              <a:t>assign COUT = A &amp; B;</a:t>
            </a:r>
          </a:p>
          <a:p>
            <a:pPr marL="0" indent="0">
              <a:buNone/>
            </a:pPr>
            <a:r>
              <a:rPr lang="en-IN" dirty="0" err="1"/>
              <a:t>endmodule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3A1800-78AD-AEC8-B0E2-8493BBF2D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853" y="1988862"/>
            <a:ext cx="5850930" cy="231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73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FF92A-96A8-E3B6-6F26-B14141F93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6962"/>
          </a:xfrm>
        </p:spPr>
        <p:txBody>
          <a:bodyPr/>
          <a:lstStyle/>
          <a:p>
            <a:r>
              <a:rPr lang="en" dirty="0"/>
              <a:t>Full adder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AC491-A7C3-D050-0F69-FB9564A24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r>
              <a:rPr lang="en-US" sz="2400" dirty="0"/>
              <a:t>The full-adder accepts two input bits and an input carry and generates a sum output </a:t>
            </a:r>
            <a:r>
              <a:rPr lang="en-IN" sz="2400" dirty="0"/>
              <a:t>and an output carry.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7845B-5F0D-1F5D-897E-29B6C4E965E3}"/>
              </a:ext>
            </a:extLst>
          </p:cNvPr>
          <p:cNvSpPr txBox="1"/>
          <p:nvPr/>
        </p:nvSpPr>
        <p:spPr>
          <a:xfrm>
            <a:off x="623680" y="570923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-Roman"/>
              </a:rPr>
              <a:t>L</a:t>
            </a:r>
            <a:r>
              <a:rPr lang="en-US" sz="1800" b="0" i="0" u="none" strike="noStrike" baseline="0" dirty="0">
                <a:latin typeface="Times-Roman"/>
              </a:rPr>
              <a:t>ogic symbol for a full-adder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092B52-D917-1027-2AA8-19518D7E7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4" y="2542854"/>
            <a:ext cx="4839375" cy="2049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09A843-D67B-9B47-F28D-5F800F179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68" y="1860140"/>
            <a:ext cx="5420481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7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E913-F088-FE72-C99C-434F0E02A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Full adder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ABDB8-6624-EBD1-43EE-9C4DECE5F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28514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full adder must add the two input bits and the input carry. </a:t>
            </a:r>
          </a:p>
          <a:p>
            <a:pPr lvl="1"/>
            <a:r>
              <a:rPr lang="en-US" sz="2000" dirty="0"/>
              <a:t>From the half-adder, the sum of the input bits </a:t>
            </a:r>
            <a:r>
              <a:rPr lang="en-US" sz="2000" i="1" dirty="0"/>
              <a:t>A </a:t>
            </a:r>
            <a:r>
              <a:rPr lang="en-US" sz="2000" dirty="0"/>
              <a:t>and </a:t>
            </a:r>
            <a:r>
              <a:rPr lang="en-US" sz="2000" i="1" dirty="0"/>
              <a:t>B </a:t>
            </a:r>
            <a:r>
              <a:rPr lang="en-US" sz="2000" dirty="0"/>
              <a:t>is the exclusive-OR of those two variables</a:t>
            </a:r>
          </a:p>
          <a:p>
            <a:pPr lvl="1"/>
            <a:r>
              <a:rPr lang="en-US" sz="2000" dirty="0"/>
              <a:t>For the input carry (</a:t>
            </a:r>
            <a:r>
              <a:rPr lang="en-US" sz="2000" i="1" dirty="0"/>
              <a:t>C</a:t>
            </a:r>
            <a:r>
              <a:rPr lang="en-US" sz="2000" dirty="0"/>
              <a:t>in) to be added to the input bits, it must be exclusive-</a:t>
            </a:r>
            <a:r>
              <a:rPr lang="en-US" sz="2000" dirty="0" err="1"/>
              <a:t>OR’d</a:t>
            </a:r>
            <a:r>
              <a:rPr lang="en-US" sz="2000" dirty="0"/>
              <a:t> with A XOR B, yielding the equation for the sum output of the full-adder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IN" sz="2400" dirty="0"/>
              <a:t>The output </a:t>
            </a:r>
            <a:r>
              <a:rPr lang="en-US" sz="2400" dirty="0"/>
              <a:t>carry of the full-adder is therefore produced by input A ANDed with input B and A XOR with B ANDed with Cin. These two terms are Ored</a:t>
            </a:r>
          </a:p>
          <a:p>
            <a:r>
              <a:rPr lang="en-US" sz="2400" dirty="0"/>
              <a:t>This function is implemented and combined with the sum logic to form a complete full-adder circuit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16064-2F4B-617C-ACB7-C71D1CF57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866" y="3190842"/>
            <a:ext cx="2448267" cy="476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2050BE-7B83-C693-26D3-D50F4C2EF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33" y="5419684"/>
            <a:ext cx="3267531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13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F5DF9-4EBA-2F32-18EC-C8D2DF3D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Full adder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5BC67D-8A6B-3B66-19CD-EF3C170B6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4483" y="1150604"/>
            <a:ext cx="7487695" cy="32961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F2DBF9-D04D-FB96-46A7-FC302852EB66}"/>
              </a:ext>
            </a:extLst>
          </p:cNvPr>
          <p:cNvSpPr txBox="1"/>
          <p:nvPr/>
        </p:nvSpPr>
        <p:spPr>
          <a:xfrm>
            <a:off x="2551871" y="4369304"/>
            <a:ext cx="8331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Complete logic circuit for a full-adder (each half-adder is enclosed </a:t>
            </a:r>
            <a:r>
              <a:rPr lang="en-IN" sz="1800" b="0" i="0" u="none" strike="noStrike" baseline="0" dirty="0">
                <a:latin typeface="Times-Roman"/>
              </a:rPr>
              <a:t>by a shaded area)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35F5B9-A59F-DF0A-74D8-F1040F9D3BC5}"/>
              </a:ext>
            </a:extLst>
          </p:cNvPr>
          <p:cNvSpPr txBox="1"/>
          <p:nvPr/>
        </p:nvSpPr>
        <p:spPr>
          <a:xfrm>
            <a:off x="1061001" y="4906115"/>
            <a:ext cx="10515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/>
              <a:t>T</a:t>
            </a:r>
            <a:r>
              <a:rPr lang="en-US" sz="2400" b="0" i="0" u="none" strike="noStrike" baseline="0" dirty="0"/>
              <a:t>wo half-adders with their output carries ORed to form the full-adder.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92014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B5DED-99CF-022B-8473-7612067C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Full adder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01A1F5-B6D4-B9FC-1486-F59091222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919" y="1027906"/>
            <a:ext cx="10660107" cy="512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7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D98CB-82F3-CF43-0FA4-4DEA13D23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Verilog Code for Full adder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16F88-9F62-EB86-D7F0-66453EDE2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module FA(</a:t>
            </a:r>
            <a:r>
              <a:rPr lang="en-IN" dirty="0" err="1"/>
              <a:t>A,B,Cin,Sum,Cout</a:t>
            </a:r>
            <a:r>
              <a:rPr lang="en-IN" dirty="0"/>
              <a:t>);</a:t>
            </a:r>
          </a:p>
          <a:p>
            <a:pPr marL="457200" lvl="1" indent="0">
              <a:buNone/>
            </a:pPr>
            <a:r>
              <a:rPr lang="en-IN" sz="2800" dirty="0"/>
              <a:t>input A, B, Cin;</a:t>
            </a:r>
          </a:p>
          <a:p>
            <a:pPr marL="457200" lvl="1" indent="0">
              <a:buNone/>
            </a:pPr>
            <a:r>
              <a:rPr lang="en-IN" sz="2800" dirty="0"/>
              <a:t>output Sum, Cout;</a:t>
            </a:r>
          </a:p>
          <a:p>
            <a:pPr marL="457200" lvl="1" indent="0">
              <a:buNone/>
            </a:pPr>
            <a:r>
              <a:rPr lang="en-IN" sz="2800" dirty="0"/>
              <a:t>assign Sum = A ^ B ^ Cin;</a:t>
            </a:r>
          </a:p>
          <a:p>
            <a:pPr marL="457200" lvl="1" indent="0">
              <a:buNone/>
            </a:pPr>
            <a:r>
              <a:rPr lang="en-IN" sz="2800" dirty="0"/>
              <a:t>assign Cout = (A&amp;B) | ((A ^ B)&amp;Cin)); </a:t>
            </a:r>
          </a:p>
          <a:p>
            <a:pPr marL="0" indent="0">
              <a:buNone/>
            </a:pPr>
            <a:r>
              <a:rPr lang="en-IN" dirty="0" err="1"/>
              <a:t>endmodule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6D5EEF-2700-149E-7BAE-7BA25A879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254" y="2124638"/>
            <a:ext cx="5205008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86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B091A-329B-6518-5FBE-9867D5BD8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2359"/>
          </a:xfrm>
        </p:spPr>
        <p:txBody>
          <a:bodyPr/>
          <a:lstStyle/>
          <a:p>
            <a:r>
              <a:rPr lang="en" dirty="0"/>
              <a:t>Half subtractor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FCC8-4F6B-E338-7B99-5F47CC71C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261"/>
            <a:ext cx="10515600" cy="4586702"/>
          </a:xfrm>
        </p:spPr>
        <p:txBody>
          <a:bodyPr>
            <a:normAutofit/>
          </a:bodyPr>
          <a:lstStyle/>
          <a:p>
            <a:pPr lvl="1" fontAlgn="base"/>
            <a:r>
              <a:rPr lang="en-US" dirty="0"/>
              <a:t>A half subtractor is a digital logic circuit that performs the binary subtraction of two single-bit binary numbers. It has two inputs, </a:t>
            </a:r>
            <a:r>
              <a:rPr lang="en-US" b="1" dirty="0"/>
              <a:t>A</a:t>
            </a:r>
            <a:r>
              <a:rPr lang="en-US" dirty="0"/>
              <a:t> (Minuend) and </a:t>
            </a:r>
            <a:r>
              <a:rPr lang="en-US" b="1" dirty="0"/>
              <a:t>B</a:t>
            </a:r>
            <a:r>
              <a:rPr lang="en-US" dirty="0"/>
              <a:t> (Subtrahend), and two outputs, </a:t>
            </a:r>
            <a:r>
              <a:rPr lang="en-US" b="1" dirty="0"/>
              <a:t>Difference and Borrow</a:t>
            </a:r>
            <a:r>
              <a:rPr lang="en-US" dirty="0"/>
              <a:t>.</a:t>
            </a:r>
            <a:r>
              <a:rPr lang="en-US" b="1" dirty="0"/>
              <a:t> </a:t>
            </a:r>
            <a:r>
              <a:rPr lang="en-US" dirty="0"/>
              <a:t>The Difference output represents the result of subtracting B from A, while the Borrow output indicates whether a borrow is needed when A is smaller than B.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1EE0E-A83E-64AF-8F76-CA7EEDCB5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968" y="3687587"/>
            <a:ext cx="4225615" cy="18029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3641FA-A17E-DC8D-EB1D-07723F677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065" y="3276196"/>
            <a:ext cx="4172532" cy="28102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C5EBC9-C64A-43B5-D9D6-7B46C581B079}"/>
              </a:ext>
            </a:extLst>
          </p:cNvPr>
          <p:cNvSpPr txBox="1"/>
          <p:nvPr/>
        </p:nvSpPr>
        <p:spPr>
          <a:xfrm>
            <a:off x="6766062" y="6179461"/>
            <a:ext cx="4693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Truth Table of Half Subtractor</a:t>
            </a:r>
          </a:p>
        </p:txBody>
      </p:sp>
    </p:spTree>
    <p:extLst>
      <p:ext uri="{BB962C8B-B14F-4D97-AF65-F5344CB8AC3E}">
        <p14:creationId xmlns:p14="http://schemas.microsoft.com/office/powerpoint/2010/main" val="2559127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8108-86D1-9EA1-D240-F25EB1D2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Half subtractor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43D8F-7714-F3E8-D464-A7D85D6B3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The SOP form of the Difference is as follows: </a:t>
            </a:r>
            <a:r>
              <a:rPr lang="en-US" b="1" dirty="0"/>
              <a:t>Difference = A'B+AB’</a:t>
            </a:r>
          </a:p>
          <a:p>
            <a:pPr fontAlgn="base"/>
            <a:r>
              <a:rPr lang="en-US" dirty="0"/>
              <a:t>The SOP form of the Borrow is </a:t>
            </a:r>
            <a:r>
              <a:rPr lang="en-US" b="1" dirty="0"/>
              <a:t>Borrow = A'B</a:t>
            </a:r>
          </a:p>
          <a:p>
            <a:pPr fontAlgn="base"/>
            <a:endParaRPr lang="en-US" b="1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366A0-B2BF-0EC2-F0D1-961C755DB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646" y="2323315"/>
            <a:ext cx="2062884" cy="1835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D9FF07-3953-B58C-E17B-3C6E217E3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414" y="2323314"/>
            <a:ext cx="2163291" cy="18356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719A50-0DED-E238-B90F-97B8D6BFA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366" y="3212822"/>
            <a:ext cx="5095461" cy="309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78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527E8-A29A-4B61-FDCE-784131C1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Verilog Code for Half subtractor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19CCE-6FD4-6371-8922-A61709FE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module Half(</a:t>
            </a:r>
            <a:r>
              <a:rPr lang="en-IN" dirty="0" err="1"/>
              <a:t>A,B,Difference,Borrow</a:t>
            </a:r>
            <a:r>
              <a:rPr lang="en-IN" dirty="0"/>
              <a:t>);</a:t>
            </a:r>
          </a:p>
          <a:p>
            <a:pPr marL="457200" lvl="1" indent="0">
              <a:buNone/>
            </a:pPr>
            <a:r>
              <a:rPr lang="en-IN" sz="2800" dirty="0"/>
              <a:t>input A,B;</a:t>
            </a:r>
          </a:p>
          <a:p>
            <a:pPr marL="457200" lvl="1" indent="0">
              <a:buNone/>
            </a:pPr>
            <a:r>
              <a:rPr lang="en-IN" sz="2800" dirty="0"/>
              <a:t>output Difference, Borrow;</a:t>
            </a:r>
          </a:p>
          <a:p>
            <a:pPr marL="457200" lvl="1" indent="0">
              <a:buNone/>
            </a:pPr>
            <a:r>
              <a:rPr lang="en-IN" sz="2800" dirty="0"/>
              <a:t>assign Difference = A ^ B;</a:t>
            </a:r>
          </a:p>
          <a:p>
            <a:pPr marL="457200" lvl="1" indent="0">
              <a:buNone/>
            </a:pPr>
            <a:r>
              <a:rPr lang="en-IN" sz="2800" dirty="0"/>
              <a:t>assign Borrow = (~A) &amp; B;</a:t>
            </a:r>
          </a:p>
          <a:p>
            <a:pPr marL="0" indent="0">
              <a:buNone/>
            </a:pPr>
            <a:r>
              <a:rPr lang="en-IN" dirty="0" err="1"/>
              <a:t>endmodule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A8B420-F56F-BED1-A8A1-E7B718C87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643" y="1690688"/>
            <a:ext cx="5472314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31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3B97-FBF7-3016-AADF-7993158ED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7084"/>
          </a:xfrm>
        </p:spPr>
        <p:txBody>
          <a:bodyPr/>
          <a:lstStyle/>
          <a:p>
            <a:r>
              <a:rPr lang="en" dirty="0"/>
              <a:t>Full subtractor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B8508-EBAA-EA39-FC50-0AACAEEA5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114"/>
            <a:ext cx="10515600" cy="5128590"/>
          </a:xfrm>
        </p:spPr>
        <p:txBody>
          <a:bodyPr>
            <a:normAutofit/>
          </a:bodyPr>
          <a:lstStyle/>
          <a:p>
            <a:pPr fontAlgn="base"/>
            <a:r>
              <a:rPr lang="en-US" sz="2400" dirty="0"/>
              <a:t>A </a:t>
            </a:r>
            <a:r>
              <a:rPr lang="en-US" sz="2400" b="1" dirty="0"/>
              <a:t>Full Subtractor</a:t>
            </a:r>
            <a:r>
              <a:rPr lang="en-US" sz="2400" dirty="0"/>
              <a:t> is a combinational circuit used to perform binary subtraction. It has three inputs:</a:t>
            </a:r>
          </a:p>
          <a:p>
            <a:pPr lvl="1" fontAlgn="base"/>
            <a:r>
              <a:rPr lang="en-US" sz="2000" b="1" dirty="0"/>
              <a:t>A</a:t>
            </a:r>
            <a:r>
              <a:rPr lang="en-US" sz="2000" dirty="0"/>
              <a:t> (Minuend), </a:t>
            </a:r>
            <a:r>
              <a:rPr lang="en-US" sz="2000" b="1" dirty="0"/>
              <a:t>B</a:t>
            </a:r>
            <a:r>
              <a:rPr lang="en-US" sz="2000" dirty="0"/>
              <a:t> (Subtrahend), </a:t>
            </a:r>
            <a:r>
              <a:rPr lang="en-US" sz="2000" b="1" dirty="0"/>
              <a:t>B-IN</a:t>
            </a:r>
            <a:r>
              <a:rPr lang="en-US" sz="2000" dirty="0"/>
              <a:t> (Borrow-in from the previous stage)</a:t>
            </a:r>
          </a:p>
          <a:p>
            <a:pPr fontAlgn="base"/>
            <a:r>
              <a:rPr lang="en-US" sz="2400" dirty="0"/>
              <a:t>It produces two outputs:</a:t>
            </a:r>
          </a:p>
          <a:p>
            <a:pPr lvl="1" fontAlgn="base"/>
            <a:r>
              <a:rPr lang="en-US" sz="2000" b="1" dirty="0"/>
              <a:t>Difference (D):</a:t>
            </a:r>
            <a:r>
              <a:rPr lang="en-US" sz="2000" dirty="0"/>
              <a:t> The result of the subtraction.</a:t>
            </a:r>
          </a:p>
          <a:p>
            <a:pPr lvl="1" fontAlgn="base"/>
            <a:r>
              <a:rPr lang="en-US" sz="2000" b="1" dirty="0"/>
              <a:t>Borrow-out (B-OUT):</a:t>
            </a:r>
            <a:r>
              <a:rPr lang="en-US" sz="2000" dirty="0"/>
              <a:t> Indicates if a borrow is needed for the next stage.</a:t>
            </a:r>
          </a:p>
          <a:p>
            <a:pPr fontAlgn="base"/>
            <a:r>
              <a:rPr lang="en-US" sz="2400" dirty="0"/>
              <a:t>The full subtractor is essential because a half-subtractor can only subtract the least significant bit (LSB) of binary numbers. </a:t>
            </a:r>
          </a:p>
          <a:p>
            <a:pPr lvl="1" fontAlgn="base"/>
            <a:r>
              <a:rPr lang="en-US" sz="2000" dirty="0"/>
              <a:t>However, if a borrow is generated during the subtraction of the LSBs, it will affect the subtraction in the next stages. A full subtractor handles this situation by considering the borrow from the previous stage, ensuring accurate subtraction even when a borrow is present.</a:t>
            </a:r>
          </a:p>
          <a:p>
            <a:pPr lvl="1" fontAlgn="base"/>
            <a:r>
              <a:rPr lang="en-US" sz="2000" dirty="0"/>
              <a:t>The full subtractor is used to subtract binary numbers with borrow handling, making it suitable for multi-bit subtraction in digital circuits like Arithmetic Logic Units (ALUs).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40123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ACD1F-50EA-A8A4-CB79-957F51F05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7632"/>
          </a:xfrm>
        </p:spPr>
        <p:txBody>
          <a:bodyPr/>
          <a:lstStyle/>
          <a:p>
            <a:r>
              <a:rPr lang="en" dirty="0"/>
              <a:t>Full subtractor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66FC7-56C4-1F94-B941-DEF68C792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3730"/>
            <a:ext cx="10515600" cy="5153233"/>
          </a:xfrm>
        </p:spPr>
        <p:txBody>
          <a:bodyPr/>
          <a:lstStyle/>
          <a:p>
            <a:pPr indent="0">
              <a:buNone/>
            </a:pPr>
            <a:r>
              <a:rPr lang="en-IN" dirty="0"/>
              <a:t>						Truth 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338E79-1F94-C873-091C-8847C37C5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561" y="1357068"/>
            <a:ext cx="4218440" cy="301324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0871147-1A89-7695-2D0E-062A4882A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995" y="1357068"/>
            <a:ext cx="5124805" cy="308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7776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5D81737-8732-486F-B8A0-E3FAB61E3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Full subtractor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92D6A2-F8CF-33FC-A35E-E6623EC1DEF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7409" y="1497634"/>
            <a:ext cx="3773557" cy="2611359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54F4EB1B-5836-D147-E9C1-1BFDC17B4E9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486942" y="1418121"/>
            <a:ext cx="5205528" cy="33239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Recognizing XOR and XNOR properties: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A'B' + AB = A XNOR B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AB' + A'B = A XOR 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Substituting these values: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D = Bin(A XNOR B) + Bin' (A XOR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Using XNOR identity: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D = Bin ⊕ (A ⊕ 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BDAC95-72BA-F7DF-4213-B4DD2F4F6C28}"/>
              </a:ext>
            </a:extLst>
          </p:cNvPr>
          <p:cNvSpPr txBox="1"/>
          <p:nvPr/>
        </p:nvSpPr>
        <p:spPr>
          <a:xfrm>
            <a:off x="762827" y="4295941"/>
            <a:ext cx="58367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</a:rPr>
              <a:t>Logical expression for the difference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273239"/>
                </a:solidFill>
              </a:rPr>
              <a:t>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</a:rPr>
              <a:t>The basic expression is: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D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A'B'Bin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A'BBin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 +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AB'Bin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 + ABBin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273239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273239"/>
                </a:solidFill>
              </a:rPr>
              <a:t>Factoring common terms:</a:t>
            </a:r>
            <a:endParaRPr lang="en-US" altLang="en-US" sz="24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	D = Bin(A'B' + AB) + Bin'(AB' + A'B)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27300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EE39-C714-06C2-60E3-7242A2E69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Full subtractor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F02BF1-D04F-AB27-AA13-44BF1F8CFB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09698" y="1690688"/>
            <a:ext cx="4507187" cy="3021767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008030F-B56A-EA74-D918-B929370D907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654683" y="1135049"/>
            <a:ext cx="6537317" cy="552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>
                <a:latin typeface="+mn-lt"/>
              </a:rPr>
              <a:t>Logical expression for borrow</a:t>
            </a:r>
            <a:endParaRPr lang="en-US" sz="2400" dirty="0"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   The </a:t>
            </a:r>
            <a:r>
              <a:rPr lang="en-US" sz="2400" b="1" dirty="0">
                <a:latin typeface="+mn-lt"/>
              </a:rPr>
              <a:t>borrow (Bout) output</a:t>
            </a:r>
            <a:r>
              <a:rPr lang="en-US" sz="2400" dirty="0">
                <a:latin typeface="+mn-lt"/>
              </a:rPr>
              <a:t> is derived as follows:</a:t>
            </a:r>
          </a:p>
          <a:p>
            <a:pPr marL="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Bout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A'B'Bin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+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A'BBin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' +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A'BBin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+ ABBin</a:t>
            </a:r>
          </a:p>
          <a:p>
            <a:pPr marL="457200" lvl="1" indent="0">
              <a:lnSpc>
                <a:spcPct val="100000"/>
              </a:lnSpc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Factoring common terms: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dirty="0">
                <a:latin typeface="+mn-lt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Bout = Bin(AB + A'B') + A'B(Bin + Bin’)</a:t>
            </a:r>
          </a:p>
          <a:p>
            <a:pPr marL="0" indent="0">
              <a:lnSpc>
                <a:spcPct val="100000"/>
              </a:lnSpc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Using XOR and XNOR properties: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AB + A'B' = A XNOR B</a:t>
            </a:r>
          </a:p>
          <a:p>
            <a:pPr marL="0" indent="0">
              <a:lnSpc>
                <a:spcPct val="100000"/>
              </a:lnSpc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Substituting these values: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Bout = Bin(A XNOR B) + A’B</a:t>
            </a:r>
          </a:p>
          <a:p>
            <a:pPr marL="0" indent="0">
              <a:lnSpc>
                <a:spcPct val="100000"/>
              </a:lnSpc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Using XNOR identity: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	Bout = Bin (A XOR B)' + A'B</a:t>
            </a:r>
          </a:p>
        </p:txBody>
      </p:sp>
    </p:spTree>
    <p:extLst>
      <p:ext uri="{BB962C8B-B14F-4D97-AF65-F5344CB8AC3E}">
        <p14:creationId xmlns:p14="http://schemas.microsoft.com/office/powerpoint/2010/main" val="2442188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061C3F-F6B1-CAD4-62EF-21ED8B3E2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Full subtractor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24399A2-A8F0-8943-E47C-AE15F0BC3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5462" y="1690688"/>
            <a:ext cx="5682526" cy="35604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A088013-A0BF-E39E-E4FA-6970A59AEF26}"/>
              </a:ext>
            </a:extLst>
          </p:cNvPr>
          <p:cNvSpPr txBox="1"/>
          <p:nvPr/>
        </p:nvSpPr>
        <p:spPr>
          <a:xfrm>
            <a:off x="5762210" y="1912491"/>
            <a:ext cx="292459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 = Bin ⊕ (A ⊕ B)</a:t>
            </a:r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F2E00C-5822-03DB-0954-99858B60CF96}"/>
              </a:ext>
            </a:extLst>
          </p:cNvPr>
          <p:cNvSpPr txBox="1"/>
          <p:nvPr/>
        </p:nvSpPr>
        <p:spPr>
          <a:xfrm>
            <a:off x="5762210" y="3699719"/>
            <a:ext cx="6097656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IN" sz="2400" b="0" dirty="0">
                <a:solidFill>
                  <a:srgbClr val="273239"/>
                </a:solidFill>
                <a:effectLst/>
              </a:rPr>
              <a:t>Bout = </a:t>
            </a:r>
            <a:r>
              <a:rPr lang="en-IN" sz="2400" b="0" dirty="0" err="1">
                <a:solidFill>
                  <a:srgbClr val="273239"/>
                </a:solidFill>
                <a:effectLst/>
              </a:rPr>
              <a:t>A'Bin</a:t>
            </a:r>
            <a:r>
              <a:rPr lang="en-IN" sz="2400" b="0" dirty="0">
                <a:solidFill>
                  <a:srgbClr val="273239"/>
                </a:solidFill>
                <a:effectLst/>
              </a:rPr>
              <a:t> + A'B + </a:t>
            </a:r>
            <a:r>
              <a:rPr lang="en-IN" sz="2400" b="0" dirty="0" err="1">
                <a:solidFill>
                  <a:srgbClr val="273239"/>
                </a:solidFill>
                <a:effectLst/>
              </a:rPr>
              <a:t>BBin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90848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8BF1DDC-25C3-0D5C-41E5-4FF9BD1ED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Full subtractor using half substractor</a:t>
            </a: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EF853BF-1A15-37BB-21AE-2325A3F1F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90583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 Full Subtractor can also be implemented with two Half Subtractor and one OR gate</a:t>
            </a:r>
          </a:p>
          <a:p>
            <a:r>
              <a:rPr lang="en-US" sz="2400" dirty="0"/>
              <a:t>The difference output from the second Half Subtractor is the exclusive-OR of Bin and the output of the first Half Subtractor, (difference output of Full Subtractor)</a:t>
            </a:r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F5C4E1-7806-EFDF-F6C1-790BA9DE0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78" y="3827676"/>
            <a:ext cx="7378412" cy="23492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D94F00B-A977-8663-8853-5DC8FE87CDE3}"/>
              </a:ext>
            </a:extLst>
          </p:cNvPr>
          <p:cNvSpPr txBox="1"/>
          <p:nvPr/>
        </p:nvSpPr>
        <p:spPr>
          <a:xfrm>
            <a:off x="7251274" y="4437031"/>
            <a:ext cx="292459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 = Bin ⊕ (A ⊕ B)</a:t>
            </a:r>
            <a:endParaRPr lang="en-IN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E82D3F-8985-BBC7-A32D-E91752D09E95}"/>
              </a:ext>
            </a:extLst>
          </p:cNvPr>
          <p:cNvSpPr txBox="1"/>
          <p:nvPr/>
        </p:nvSpPr>
        <p:spPr>
          <a:xfrm>
            <a:off x="7251274" y="5589968"/>
            <a:ext cx="354262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Bout = Bin (A XOR B)' + A'B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78411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3A069-62FB-06A7-A05C-92F1EE5E4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739A-89A8-E3E6-740D-9E49B6DB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Verilog Code for Full Subtractor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D3DB9-A830-E4B9-A38A-27C953D4C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30602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module </a:t>
            </a:r>
            <a:r>
              <a:rPr lang="en-IN" dirty="0" err="1"/>
              <a:t>Fullsubtractor</a:t>
            </a:r>
            <a:r>
              <a:rPr lang="en-IN" dirty="0"/>
              <a:t> (     input  wire A,     // Minuend</a:t>
            </a:r>
          </a:p>
          <a:p>
            <a:pPr marL="0" indent="0">
              <a:buNone/>
            </a:pPr>
            <a:r>
              <a:rPr lang="en-IN" dirty="0"/>
              <a:t>    input  wire B,     // Subtrahend</a:t>
            </a:r>
          </a:p>
          <a:p>
            <a:pPr marL="0" indent="0">
              <a:buNone/>
            </a:pPr>
            <a:r>
              <a:rPr lang="en-IN" dirty="0"/>
              <a:t>    input  wire Bin,   // Borrow in</a:t>
            </a:r>
          </a:p>
          <a:p>
            <a:pPr marL="0" indent="0">
              <a:buNone/>
            </a:pPr>
            <a:r>
              <a:rPr lang="en-IN" dirty="0"/>
              <a:t>    output wire D,     // Difference</a:t>
            </a:r>
          </a:p>
          <a:p>
            <a:pPr marL="0" indent="0">
              <a:buNone/>
            </a:pPr>
            <a:r>
              <a:rPr lang="en-IN" dirty="0"/>
              <a:t>    output wire Bout   // Borrow out );</a:t>
            </a:r>
          </a:p>
          <a:p>
            <a:pPr marL="0" indent="0">
              <a:buNone/>
            </a:pPr>
            <a:r>
              <a:rPr lang="en-IN" dirty="0"/>
              <a:t>    assign D = A ^ B ^ Bin; // Difference</a:t>
            </a:r>
          </a:p>
          <a:p>
            <a:pPr marL="0" indent="0">
              <a:buNone/>
            </a:pPr>
            <a:r>
              <a:rPr lang="en-IN" dirty="0"/>
              <a:t>    assign Bout = (~A &amp; B) | (~(A ^ B) &amp; Bin); // Borrow out</a:t>
            </a:r>
          </a:p>
          <a:p>
            <a:pPr marL="0" indent="0">
              <a:buNone/>
            </a:pPr>
            <a:r>
              <a:rPr lang="en-IN" dirty="0" err="1"/>
              <a:t>endmodule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613468-4240-008C-DD57-5C209A955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618" y="4432851"/>
            <a:ext cx="9545382" cy="235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506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C0456-8042-59DF-BB94-50BD17BF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15982-49E3-683E-2D1F-E1F7E528E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Magnitude comparator is a type of Combinational circuit</a:t>
            </a:r>
          </a:p>
          <a:p>
            <a:pPr lvl="1"/>
            <a:r>
              <a:rPr lang="en-US" dirty="0"/>
              <a:t>It compares two binary numbers and determines their relative magnitude. </a:t>
            </a:r>
          </a:p>
          <a:p>
            <a:pPr lvl="1"/>
            <a:r>
              <a:rPr lang="en-US" dirty="0"/>
              <a:t>It gives output whether one number is greater than the other, or less than or equal to. </a:t>
            </a:r>
          </a:p>
          <a:p>
            <a:r>
              <a:rPr lang="en-US" dirty="0"/>
              <a:t>A comparator receives </a:t>
            </a:r>
            <a:r>
              <a:rPr lang="en-US"/>
              <a:t>two </a:t>
            </a:r>
            <a:r>
              <a:rPr lang="en-US" i="1"/>
              <a:t>N</a:t>
            </a:r>
            <a:r>
              <a:rPr lang="en-US"/>
              <a:t>-bit binary </a:t>
            </a:r>
            <a:r>
              <a:rPr lang="en-US" dirty="0"/>
              <a:t>numbers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and outputs a 1-bit comparison result.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AE26FE-15A8-86E0-201D-488289CFC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821" y="4076979"/>
            <a:ext cx="3898639" cy="236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05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C052-8BA0-0ECB-FCF2-4FF1B4A5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1-Bit Magnitude Comparator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B5619-83D7-80B5-FDA8-1AB01F9A0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comparator used to compare two bits is called a single-bit comparator. It consists of two inputs each for two single-bit numbers and three outputs to generate less than, equal to, and greater than between two binary numbers. </a:t>
            </a:r>
          </a:p>
          <a:p>
            <a:r>
              <a:rPr lang="en-US" sz="2400" dirty="0"/>
              <a:t>The truth table for a 1-bit comparator is given below.</a:t>
            </a:r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A328F-67A0-4D8F-CD41-8DB39A585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890" y="3329609"/>
            <a:ext cx="4023275" cy="30534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91505F-7444-D2F6-BCFC-77A41D0CAC77}"/>
              </a:ext>
            </a:extLst>
          </p:cNvPr>
          <p:cNvSpPr txBox="1"/>
          <p:nvPr/>
        </p:nvSpPr>
        <p:spPr>
          <a:xfrm>
            <a:off x="5404401" y="3429000"/>
            <a:ext cx="3630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273239"/>
                </a:solidFill>
                <a:effectLst/>
              </a:rPr>
              <a:t>A&gt;B: AB’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273239"/>
                </a:solidFill>
                <a:effectLst/>
              </a:rPr>
              <a:t>A&lt;B: A’B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273239"/>
                </a:solidFill>
                <a:effectLst/>
              </a:rPr>
              <a:t>A=B: A'B' + AB </a:t>
            </a:r>
            <a:endParaRPr lang="en-IN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F6CEFD-7E11-5A56-D819-F065DB0A4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401" y="4629329"/>
            <a:ext cx="5949399" cy="209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506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EB3ED-6490-3ECD-1B7C-F74F9A005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27DB-BCCA-2160-D4AD-D4386DEA6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Verilog Code for </a:t>
            </a:r>
            <a:r>
              <a:rPr lang="en-IN" dirty="0"/>
              <a:t>1-Bit Magnitude Comparator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44757-901A-8125-8CA4-312089A51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module FA(input </a:t>
            </a:r>
            <a:r>
              <a:rPr lang="en-IN" dirty="0" err="1"/>
              <a:t>wireA,B</a:t>
            </a:r>
            <a:r>
              <a:rPr lang="en-IN" dirty="0"/>
              <a:t>, output wire C,D,E);</a:t>
            </a:r>
          </a:p>
          <a:p>
            <a:pPr marL="457200" lvl="1" indent="0">
              <a:buNone/>
            </a:pPr>
            <a:r>
              <a:rPr lang="en-IN" sz="2800" dirty="0"/>
              <a:t>wire An, Bn,</a:t>
            </a:r>
          </a:p>
          <a:p>
            <a:pPr marL="457200" lvl="1" indent="0">
              <a:buNone/>
            </a:pPr>
            <a:r>
              <a:rPr lang="en-IN" sz="2800" dirty="0"/>
              <a:t>assign An = ~A;</a:t>
            </a:r>
          </a:p>
          <a:p>
            <a:pPr marL="457200" lvl="1" indent="0">
              <a:buNone/>
            </a:pPr>
            <a:r>
              <a:rPr lang="en-IN" sz="2800" dirty="0"/>
              <a:t>assign Bn = ~B;</a:t>
            </a:r>
          </a:p>
          <a:p>
            <a:pPr marL="457200" lvl="1" indent="0">
              <a:buNone/>
            </a:pPr>
            <a:r>
              <a:rPr lang="en-IN" sz="2800" dirty="0"/>
              <a:t>assign C = An &amp; B;</a:t>
            </a:r>
          </a:p>
          <a:p>
            <a:pPr marL="457200" lvl="1" indent="0">
              <a:buNone/>
            </a:pPr>
            <a:r>
              <a:rPr lang="en-IN" sz="2800" dirty="0"/>
              <a:t>assign E = A &amp; Bn;</a:t>
            </a:r>
          </a:p>
          <a:p>
            <a:pPr marL="457200" lvl="1" indent="0">
              <a:buNone/>
            </a:pPr>
            <a:r>
              <a:rPr lang="en-IN" sz="2800" dirty="0"/>
              <a:t>assign D = C ~^ E;</a:t>
            </a:r>
          </a:p>
          <a:p>
            <a:pPr marL="0" indent="0">
              <a:buNone/>
            </a:pPr>
            <a:r>
              <a:rPr lang="en-IN" dirty="0" err="1"/>
              <a:t>endmodule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0D6C8-0C57-C7CF-FDE9-911A397E2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401" y="4629329"/>
            <a:ext cx="5949399" cy="209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38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C72CAF-A566-63DD-ED12-3056B264B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565" y="285311"/>
            <a:ext cx="9452113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832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1186</Words>
  <Application>Microsoft Office PowerPoint</Application>
  <PresentationFormat>Widescreen</PresentationFormat>
  <Paragraphs>127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Nunito</vt:lpstr>
      <vt:lpstr>Times-Roman</vt:lpstr>
      <vt:lpstr>Office Theme</vt:lpstr>
      <vt:lpstr>Half adder</vt:lpstr>
      <vt:lpstr>Verilog Code for Half adder </vt:lpstr>
      <vt:lpstr>Full adder</vt:lpstr>
      <vt:lpstr>Full adder</vt:lpstr>
      <vt:lpstr>Full adder</vt:lpstr>
      <vt:lpstr>Full adder</vt:lpstr>
      <vt:lpstr>Verilog Code for Full adder </vt:lpstr>
      <vt:lpstr>Half subtractor</vt:lpstr>
      <vt:lpstr>Half subtractor</vt:lpstr>
      <vt:lpstr>Verilog Code for Half subtractor </vt:lpstr>
      <vt:lpstr>Full subtractor</vt:lpstr>
      <vt:lpstr>Full subtractor</vt:lpstr>
      <vt:lpstr>Full subtractor</vt:lpstr>
      <vt:lpstr>Full subtractor</vt:lpstr>
      <vt:lpstr>Full subtractor</vt:lpstr>
      <vt:lpstr>Full subtractor using half substractor</vt:lpstr>
      <vt:lpstr>Verilog Code for Full Subtractor </vt:lpstr>
      <vt:lpstr>Comparators</vt:lpstr>
      <vt:lpstr>1-Bit Magnitude Comparator</vt:lpstr>
      <vt:lpstr>Verilog Code for 1-Bit Magnitude Comparator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2</cp:revision>
  <dcterms:created xsi:type="dcterms:W3CDTF">2025-09-10T09:09:56Z</dcterms:created>
  <dcterms:modified xsi:type="dcterms:W3CDTF">2025-10-21T17:26:06Z</dcterms:modified>
</cp:coreProperties>
</file>