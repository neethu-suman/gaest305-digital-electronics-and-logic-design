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498" r:id="rId2"/>
    <p:sldId id="540" r:id="rId3"/>
    <p:sldId id="308" r:id="rId4"/>
    <p:sldId id="500" r:id="rId5"/>
    <p:sldId id="499" r:id="rId6"/>
    <p:sldId id="542" r:id="rId7"/>
    <p:sldId id="543" r:id="rId8"/>
    <p:sldId id="544" r:id="rId9"/>
    <p:sldId id="541" r:id="rId10"/>
    <p:sldId id="545" r:id="rId11"/>
    <p:sldId id="546" r:id="rId12"/>
    <p:sldId id="547" r:id="rId13"/>
    <p:sldId id="548" r:id="rId14"/>
    <p:sldId id="40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5DB00-BFB9-4F93-8F53-C5859A450068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CFED19-C45D-4447-90A5-CEEBF634D7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1D70FC9-A22A-407D-B969-78AC1F11984F}" type="slidenum">
              <a:rPr lang="en-US" sz="1200">
                <a:latin typeface="Times New Roman" pitchFamily="18" charset="0"/>
              </a:rPr>
              <a:pPr eaLnBrk="1" hangingPunct="1"/>
              <a:t>3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66788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1FD7DE5-E181-45B2-BC13-47077D38CFD4}" type="slidenum">
              <a:rPr lang="en-US" sz="1200">
                <a:latin typeface="Times New Roman" pitchFamily="18" charset="0"/>
              </a:rPr>
              <a:pPr eaLnBrk="1" hangingPunct="1"/>
              <a:t>14</a:t>
            </a:fld>
            <a:endParaRPr lang="en-US" sz="1200">
              <a:latin typeface="Times New Roman" pitchFamily="18" charset="0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2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07D9D-89D3-8CB6-A89C-78BCCCEB21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BC5B3-4589-8D7B-F8CA-DF589FF61B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BBD65-A552-2FE0-A22D-4C5BBD17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2FDF9-7CD5-A82A-916F-828ADF3E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03053-8438-EDD2-5057-E1A6ED166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7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194C3-AD52-BEF5-A7B1-0E64BB22A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154A0-2996-718E-7884-CC9B3A55F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A14594-4848-70F9-AC47-5C5721EF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0DAB5-EDCA-FE2F-2C8F-68063B885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531A47-1686-4663-9FA5-B5C58187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1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06845-1E97-C1C5-C15D-611447EBC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17A4A-6519-85CC-6A24-ACD1BBE55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DF161-D33B-2846-4BAA-E093F972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F1DBE-73B3-058E-FF29-4BE64ABD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E71A7-8432-3AD6-DE0E-1DBFBC6B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228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FBC9-FEB1-01F1-D51A-9EBF8A77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88552-E33F-0DF0-7ADC-990292777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2014E-2363-36F6-3711-A6F90C23D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61815-33BF-29CF-3802-2FD787A78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B958CF-C3EE-3310-51A9-80D87496A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B16F5-BB96-2927-43A8-4E39C5456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222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BDDF-DD51-C11A-B273-684DA47FF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78CFEC-D950-5F2A-5807-BF3D61145D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9C0F5-7C14-7EC3-A6C3-7D646C1E9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D609C-2FCF-7C5B-4859-BDEF128DF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0BBD47-EEC2-1657-F8F4-67C56B3C9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3D599F-7029-8450-C779-1CDAD90B4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241882-FE92-E405-97FB-168E2A504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4C7E6-317E-FE95-A9FE-6605C7D8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8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30EB0-CD14-4F85-7BD5-AA051556F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4B3B4-1452-5276-CE6A-4FC63878B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19CD26-085C-033A-0985-0492FFEB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0A72A-64B7-1B97-086B-4A4260238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017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D1912-8774-54B5-AD4A-BCA1A878B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9F1FFE-9D07-BD47-D3DC-D4584BE7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47B4D-64FE-C266-DA49-70DE30F0D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9638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CEE5-8A89-9F78-512D-0AB326156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C98BB-BB92-46B7-A859-132667FC7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21CB3-5033-23F3-D5CB-68C1173EF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FA1DF7-3639-A901-8391-B7A292010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290C81-FF98-3E32-1648-283DEF09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F489C-F8B6-44DF-C057-B5609A195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415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0F24-CE54-EBAD-7FE1-B9281BA4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87BB9-C896-4CB7-EDAC-FC5ABBA803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613EC-1C8F-F2FF-62FC-08C6B0A81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44EE0-2D31-8492-9513-FB0485488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5E623-2023-2EF2-C69E-1F233C78B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9DB96-A983-FB01-4B47-D6F5AC56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60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5A31-F04F-44AD-1625-EC2F6839E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6EA62-D72C-DAF0-C3CE-0DD39E8C6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D35EB-D9D3-2FA2-2BC0-920677F73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C2501-1272-8B38-1CB0-C6AF89070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14E94-99E3-2D04-5F04-8EF38A3E2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723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7EED56-0F81-BDD0-7F60-FBE694389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C69DA-F0B0-2E08-4154-E0855B30A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516A-241B-A9AC-6CAB-F29FF6842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3F538-3B5D-0287-9C36-C18120448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6DCA9-789A-BC18-FA5D-E917BF7D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450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18E40-F23F-C5F5-081C-3F34F91E2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FCC3C-6133-5213-4B3E-8131AEBE2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E27EC-0920-5F30-CD48-4CF7FC458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63D3C-5C85-41F0-A45C-7454AFF29DE5}" type="datetimeFigureOut">
              <a:rPr lang="en-IN" smtClean="0"/>
              <a:t>03-05-2026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E1CA3-4C6B-E8D9-5B45-A3862384C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627E2-A9E3-76BB-2117-C509C4584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20F7D0-BEDD-4C75-B308-265E9279EF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4369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slideLayout" Target="../slideLayouts/slideLayout7.xml"/><Relationship Id="rId7" Type="http://schemas.openxmlformats.org/officeDocument/2006/relationships/oleObject" Target="../embeddings/oleObject2.bin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6F4B-7751-7445-0FE8-E3E47CC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7266"/>
          </a:xfrm>
        </p:spPr>
        <p:txBody>
          <a:bodyPr/>
          <a:lstStyle/>
          <a:p>
            <a:r>
              <a:rPr lang="en-US" dirty="0"/>
              <a:t>Logic Gates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30A2E-3D56-04A2-41F7-ECA39EF25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1296"/>
            <a:ext cx="10969487" cy="4755667"/>
          </a:xfrm>
        </p:spPr>
        <p:txBody>
          <a:bodyPr>
            <a:noAutofit/>
          </a:bodyPr>
          <a:lstStyle/>
          <a:p>
            <a:r>
              <a:rPr lang="en-US" sz="2000" dirty="0"/>
              <a:t>Logic gates are simple digital circuits that take one or more binary inputs and produce a binary output</a:t>
            </a:r>
          </a:p>
          <a:p>
            <a:r>
              <a:rPr lang="en-US" sz="2000" dirty="0"/>
              <a:t>A </a:t>
            </a:r>
            <a:r>
              <a:rPr lang="en-US" sz="2000" b="1" dirty="0"/>
              <a:t>logic symbol </a:t>
            </a:r>
            <a:r>
              <a:rPr lang="en-US" sz="2000" dirty="0"/>
              <a:t>is a graphical representation of the circuit that can be used in a schematic to show how circuits in a system interface to one another.</a:t>
            </a:r>
          </a:p>
          <a:p>
            <a:r>
              <a:rPr lang="en-US" sz="2000" dirty="0"/>
              <a:t>Inputs are usually drawn on the left (or top) and outputs on the right (or bottom). </a:t>
            </a:r>
          </a:p>
          <a:p>
            <a:r>
              <a:rPr lang="en-US" sz="2000" dirty="0"/>
              <a:t>Digital designers typically use letters near the beginning of the alphabet for gate inputs and the letter Y for the gate output. </a:t>
            </a:r>
          </a:p>
          <a:p>
            <a:r>
              <a:rPr lang="en-US" sz="2000" dirty="0"/>
              <a:t>The relationship between the inputs and the output can be described with a </a:t>
            </a:r>
            <a:r>
              <a:rPr lang="en-US" sz="2000" b="1" dirty="0"/>
              <a:t>truth table </a:t>
            </a:r>
            <a:r>
              <a:rPr lang="en-US" sz="2000" dirty="0"/>
              <a:t>or a Boolean equation.</a:t>
            </a:r>
          </a:p>
          <a:p>
            <a:r>
              <a:rPr lang="en-US" sz="2000" dirty="0"/>
              <a:t>A truth table lists inputs on the left and the corresponding output on the right. </a:t>
            </a:r>
          </a:p>
          <a:p>
            <a:r>
              <a:rPr lang="en-US" sz="2000" dirty="0"/>
              <a:t>It has one row for each possible combination of inputs. (If a logic circuit has n inputs, then it will have 2</a:t>
            </a:r>
            <a:r>
              <a:rPr lang="en-US" sz="2000" baseline="30000" dirty="0"/>
              <a:t>n</a:t>
            </a:r>
            <a:r>
              <a:rPr lang="en-US" sz="2000" dirty="0"/>
              <a:t> </a:t>
            </a:r>
            <a:r>
              <a:rPr lang="en-IN" sz="2000" dirty="0"/>
              <a:t>possible input codes.)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26074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CE74-BA19-29C7-45D1-229F2636A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 Gates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DC162-499F-FBE2-1B12-F0B0F7A24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 </a:t>
            </a:r>
            <a:r>
              <a:rPr lang="en-US" sz="2400" b="1" dirty="0"/>
              <a:t>logic expression </a:t>
            </a:r>
            <a:r>
              <a:rPr lang="en-US" sz="2400" dirty="0"/>
              <a:t>(also called a logic function), is an equation that provides the functionality of each output in the circuit as a function of the inputs. The logic operations for the basic gates are given a symbolic set of operators</a:t>
            </a:r>
            <a:endParaRPr lang="en-IN" sz="2400" dirty="0"/>
          </a:p>
          <a:p>
            <a:r>
              <a:rPr lang="en-US" sz="2400" dirty="0"/>
              <a:t>A </a:t>
            </a:r>
            <a:r>
              <a:rPr lang="en-US" sz="2400" b="1" dirty="0"/>
              <a:t>logic waveform</a:t>
            </a:r>
            <a:r>
              <a:rPr lang="en-US" sz="2400" dirty="0"/>
              <a:t> is a graphical depiction of the relationship of the output to the inputs with respect to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457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3"/>
          <p:cNvSpPr>
            <a:spLocks noGrp="1" noChangeArrowheads="1"/>
          </p:cNvSpPr>
          <p:nvPr>
            <p:ph type="body" idx="4294967295"/>
            <p:custDataLst>
              <p:tags r:id="rId1"/>
            </p:custDataLst>
          </p:nvPr>
        </p:nvSpPr>
        <p:spPr>
          <a:xfrm>
            <a:off x="1328530" y="1447800"/>
            <a:ext cx="8229600" cy="4525963"/>
          </a:xfrm>
        </p:spPr>
        <p:txBody>
          <a:bodyPr/>
          <a:lstStyle/>
          <a:p>
            <a:pPr eaLnBrk="1" hangingPunct="1"/>
            <a:r>
              <a:rPr lang="en-US" b="1" dirty="0"/>
              <a:t>Perform logic functions: </a:t>
            </a:r>
          </a:p>
          <a:p>
            <a:pPr lvl="1" eaLnBrk="1" hangingPunct="1"/>
            <a:r>
              <a:rPr lang="en-US" dirty="0"/>
              <a:t>inversion (NOT), AND, OR, NAND, NOR, etc.</a:t>
            </a:r>
          </a:p>
          <a:p>
            <a:pPr eaLnBrk="1" hangingPunct="1"/>
            <a:r>
              <a:rPr lang="en-US" b="1" dirty="0"/>
              <a:t>Single-input: </a:t>
            </a:r>
          </a:p>
          <a:p>
            <a:pPr lvl="1" eaLnBrk="1" hangingPunct="1"/>
            <a:r>
              <a:rPr lang="en-US" dirty="0"/>
              <a:t>NOT gate, buffer</a:t>
            </a:r>
          </a:p>
          <a:p>
            <a:pPr eaLnBrk="1" hangingPunct="1"/>
            <a:r>
              <a:rPr lang="en-US" b="1" dirty="0"/>
              <a:t>Two-input: </a:t>
            </a:r>
          </a:p>
          <a:p>
            <a:pPr lvl="1" eaLnBrk="1" hangingPunct="1"/>
            <a:r>
              <a:rPr lang="en-US" dirty="0"/>
              <a:t>AND, OR, XOR, NAND, NOR, XNOR</a:t>
            </a:r>
          </a:p>
          <a:p>
            <a:pPr eaLnBrk="1" hangingPunct="1"/>
            <a:r>
              <a:rPr lang="en-US" b="1" dirty="0"/>
              <a:t>Multiple-input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12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Logic Gates</a:t>
            </a:r>
          </a:p>
        </p:txBody>
      </p:sp>
    </p:spTree>
    <p:extLst>
      <p:ext uri="{BB962C8B-B14F-4D97-AF65-F5344CB8AC3E}">
        <p14:creationId xmlns:p14="http://schemas.microsoft.com/office/powerpoint/2010/main" val="2706356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C9F5CD-64B5-40AD-63B1-90A47A21E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Buffer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0A55C9-6EC6-3C82-0816-A7A419B06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7529" y="1636506"/>
            <a:ext cx="10899914" cy="4351338"/>
          </a:xfrm>
        </p:spPr>
        <p:txBody>
          <a:bodyPr>
            <a:normAutofit/>
          </a:bodyPr>
          <a:lstStyle/>
          <a:p>
            <a:r>
              <a:rPr lang="en-US" sz="2000" dirty="0"/>
              <a:t>It simply copies the input to the output.</a:t>
            </a:r>
          </a:p>
          <a:p>
            <a:r>
              <a:rPr lang="en-US" sz="2000" dirty="0"/>
              <a:t>From the logical point of view, a buffer is no different from a wire, so it might seem useless. </a:t>
            </a:r>
          </a:p>
          <a:p>
            <a:r>
              <a:rPr lang="en-US" sz="2000" dirty="0"/>
              <a:t>However, from the analog point of view, the buffer might have desirable characteristics, such as the ability to deliver large amounts of current to a motor or the ability to quickly send its output to many gates. </a:t>
            </a:r>
          </a:p>
          <a:p>
            <a:r>
              <a:rPr lang="en-US" sz="2000" dirty="0"/>
              <a:t>This is an example of why we need to consider multiple levels of abstraction to fully understand a system; the digital abstraction hides the real purpose of a buffer.</a:t>
            </a:r>
            <a:endParaRPr lang="en-IN" sz="20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002962-2D0F-75D6-D905-DA37550D98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47528" y="4144018"/>
            <a:ext cx="10515599" cy="2123906"/>
          </a:xfrm>
        </p:spPr>
      </p:pic>
    </p:spTree>
    <p:extLst>
      <p:ext uri="{BB962C8B-B14F-4D97-AF65-F5344CB8AC3E}">
        <p14:creationId xmlns:p14="http://schemas.microsoft.com/office/powerpoint/2010/main" val="14680333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6F62E45-E64B-A178-AC0E-8033F213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Inverter (NOT Gate)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1AF97-22AB-121D-173B-AAE5C6B8B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1178209" cy="4351338"/>
          </a:xfrm>
        </p:spPr>
        <p:txBody>
          <a:bodyPr>
            <a:normAutofit/>
          </a:bodyPr>
          <a:lstStyle/>
          <a:p>
            <a:r>
              <a:rPr lang="en-US" sz="2400" dirty="0"/>
              <a:t>A NOT gate has one input, A, and one output, Y</a:t>
            </a:r>
          </a:p>
          <a:p>
            <a:r>
              <a:rPr lang="en-US" sz="2400" dirty="0"/>
              <a:t>The NOT gate’s output is the inverse of its input. If A is FALSE, then Y is TRUE. If A is TRUE, then Y is FALSE. </a:t>
            </a:r>
          </a:p>
          <a:p>
            <a:r>
              <a:rPr lang="en-US" sz="2400" dirty="0"/>
              <a:t>The line over A in the Boolean equation is pronounced NOT, so Y = A is read “Y equals NOT A.” The NOT gate is also called an inverter.</a:t>
            </a:r>
          </a:p>
          <a:p>
            <a:r>
              <a:rPr lang="en-US" sz="2400" dirty="0"/>
              <a:t>Other texts use a variety of notations for NOT, including Y = A′, </a:t>
            </a:r>
            <a:r>
              <a:rPr lang="en-IN" sz="2400" dirty="0"/>
              <a:t>Y = ¬A, Y = !A, or Y = ~A.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7958BF-CBA2-DFE3-008C-B4FCF39F87BC}"/>
              </a:ext>
            </a:extLst>
          </p:cNvPr>
          <p:cNvCxnSpPr>
            <a:cxnSpLocks/>
          </p:cNvCxnSpPr>
          <p:nvPr/>
        </p:nvCxnSpPr>
        <p:spPr>
          <a:xfrm>
            <a:off x="2564296" y="3438939"/>
            <a:ext cx="19878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BE83B6DA-29DB-6F9D-58D8-F0078FF1F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4337665"/>
            <a:ext cx="10956234" cy="252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85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3008BF-8666-10DB-D7D0-B2242C645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AND GATE (</a:t>
            </a:r>
            <a:r>
              <a:rPr lang="en-IN" i="1" dirty="0"/>
              <a:t>logical product)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8B43A1-A876-1F5F-DFDC-18EE5A1FC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AND gate produces a TRUE output, Y, if and only if both A and B are TRUE. Otherwise, the output is FALSE.</a:t>
            </a:r>
            <a:endParaRPr lang="en-IN" sz="2400" dirty="0"/>
          </a:p>
          <a:p>
            <a:r>
              <a:rPr lang="en-US" sz="2400" dirty="0"/>
              <a:t>This operation is also called a </a:t>
            </a:r>
            <a:r>
              <a:rPr lang="en-US" sz="2400" i="1" dirty="0"/>
              <a:t>logical product </a:t>
            </a:r>
            <a:r>
              <a:rPr lang="en-US" sz="2400" dirty="0"/>
              <a:t>because if the inputs were multiplied together, the only time the output would be a 1 is if each and every input was a 1.</a:t>
            </a:r>
            <a:endParaRPr lang="en-IN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16F915-4C89-EF93-FAF5-8BFF22490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61" y="3739819"/>
            <a:ext cx="9273209" cy="257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90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F061-2E2D-0D82-91FE-A32641A0A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NAND Gate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72665-ADCA-0AEF-0C15-93286CF13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“N” in NAND stands for “NOT”, which represents the inversion</a:t>
            </a:r>
          </a:p>
          <a:p>
            <a:r>
              <a:rPr lang="en-US" sz="2400" dirty="0"/>
              <a:t> The symbol for a NAND gate is an AND gate with an inversion bubble on the output. </a:t>
            </a:r>
          </a:p>
          <a:p>
            <a:r>
              <a:rPr lang="en-US" sz="2400" dirty="0"/>
              <a:t>The logic expression for a NAND gate is the same as an AND gate, but with an inversion bar over the entire operation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7F064-C95A-9ED6-463E-A5D358AFC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18" y="3920243"/>
            <a:ext cx="9551504" cy="2642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12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280C-7484-283F-C17F-D8550921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OR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6B789-ED1F-A3AD-7007-66D9CE995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The </a:t>
            </a:r>
            <a:r>
              <a:rPr lang="en-US" sz="2400" i="1" dirty="0">
                <a:solidFill>
                  <a:srgbClr val="000000"/>
                </a:solidFill>
              </a:rPr>
              <a:t>OR gate </a:t>
            </a:r>
            <a:r>
              <a:rPr lang="en-US" sz="2400" dirty="0">
                <a:solidFill>
                  <a:srgbClr val="000000"/>
                </a:solidFill>
              </a:rPr>
              <a:t>produces a TRUE output, </a:t>
            </a:r>
            <a:r>
              <a:rPr lang="en-US" sz="2400" i="1" dirty="0">
                <a:solidFill>
                  <a:srgbClr val="000000"/>
                </a:solidFill>
              </a:rPr>
              <a:t>Y</a:t>
            </a:r>
            <a:r>
              <a:rPr lang="en-US" sz="2400" dirty="0">
                <a:solidFill>
                  <a:srgbClr val="000000"/>
                </a:solidFill>
              </a:rPr>
              <a:t>, if either </a:t>
            </a:r>
            <a:r>
              <a:rPr lang="en-US" sz="2400" i="1" dirty="0">
                <a:solidFill>
                  <a:srgbClr val="000000"/>
                </a:solidFill>
              </a:rPr>
              <a:t>A </a:t>
            </a:r>
            <a:r>
              <a:rPr lang="en-US" sz="2400" dirty="0">
                <a:solidFill>
                  <a:srgbClr val="000000"/>
                </a:solidFill>
              </a:rPr>
              <a:t>or </a:t>
            </a:r>
            <a:r>
              <a:rPr lang="en-US" sz="2400" i="1" dirty="0">
                <a:solidFill>
                  <a:srgbClr val="000000"/>
                </a:solidFill>
              </a:rPr>
              <a:t>B </a:t>
            </a:r>
            <a:r>
              <a:rPr lang="en-US" sz="2400" dirty="0">
                <a:solidFill>
                  <a:srgbClr val="000000"/>
                </a:solidFill>
              </a:rPr>
              <a:t>(or both) are TRUE</a:t>
            </a:r>
          </a:p>
          <a:p>
            <a:r>
              <a:rPr lang="en-US" sz="2400" dirty="0"/>
              <a:t>Also called a logical sum because of its similarity to logical disjunction in which the output is true if at least one of the inputs </a:t>
            </a:r>
            <a:r>
              <a:rPr lang="en-IN" sz="2400" dirty="0"/>
              <a:t>is true</a:t>
            </a:r>
          </a:p>
          <a:p>
            <a:endParaRPr lang="en-IN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BDA25-D0C3-E8DE-5FDB-6F153A1D4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12192000" cy="338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61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597BB-BA41-F9E1-AA14-59021051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NOR Gate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29277-7E2F-52E1-0B28-3B9649D53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NOR gate is identical to the OR gate with the exception that the output is inverted. </a:t>
            </a:r>
          </a:p>
          <a:p>
            <a:r>
              <a:rPr lang="en-US" sz="2400" dirty="0"/>
              <a:t>The symbol for a NOR gate is an OR gate with an inversion bubble on the output. </a:t>
            </a:r>
          </a:p>
          <a:p>
            <a:r>
              <a:rPr lang="en-US" sz="2400" dirty="0"/>
              <a:t>The logic expression for a NOR gate is the same as an OR gate, but with an inversion bar over the entire operation.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49AAA2-B22F-256A-26DC-EA5B23FB9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57" y="3839152"/>
            <a:ext cx="10515601" cy="294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083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7F1E-AF80-ECB5-39C0-77F5A3CA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XOR Gate (</a:t>
            </a:r>
            <a:r>
              <a:rPr lang="en-IN" i="1" dirty="0"/>
              <a:t>exclusive-OR gate)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CA491-D11F-D977-3736-91660177D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Also </a:t>
            </a:r>
            <a:r>
              <a:rPr lang="en-US" sz="2400" dirty="0"/>
              <a:t>called a </a:t>
            </a:r>
            <a:r>
              <a:rPr lang="en-US" sz="2400" i="1" dirty="0"/>
              <a:t>difference </a:t>
            </a:r>
            <a:r>
              <a:rPr lang="en-US" sz="2400" dirty="0"/>
              <a:t>gate because for the 2-input configuration, its output will be true when the </a:t>
            </a:r>
            <a:r>
              <a:rPr lang="en-US" sz="2400" b="1" dirty="0"/>
              <a:t>input codes are different from one another</a:t>
            </a:r>
            <a:r>
              <a:rPr lang="en-US" sz="2400" dirty="0"/>
              <a:t>.</a:t>
            </a:r>
          </a:p>
          <a:p>
            <a:r>
              <a:rPr lang="en-IN" sz="2400" i="1" dirty="0"/>
              <a:t>XOR </a:t>
            </a:r>
            <a:r>
              <a:rPr lang="en-IN" sz="2400" dirty="0"/>
              <a:t>(exclusive </a:t>
            </a:r>
            <a:r>
              <a:rPr lang="en-US" sz="2400" dirty="0"/>
              <a:t>OR is TRUE if </a:t>
            </a:r>
            <a:r>
              <a:rPr lang="en-US" sz="2400" i="1" dirty="0"/>
              <a:t>A </a:t>
            </a:r>
            <a:r>
              <a:rPr lang="en-US" sz="2400" dirty="0"/>
              <a:t>or </a:t>
            </a:r>
            <a:r>
              <a:rPr lang="en-US" sz="2400" i="1" dirty="0"/>
              <a:t>B</a:t>
            </a:r>
            <a:r>
              <a:rPr lang="en-US" sz="2400" dirty="0"/>
              <a:t>, but not both, are TRUE.</a:t>
            </a:r>
          </a:p>
          <a:p>
            <a:r>
              <a:rPr lang="en-US" dirty="0"/>
              <a:t>True when there is </a:t>
            </a:r>
            <a:r>
              <a:rPr lang="en-US" b="1" dirty="0"/>
              <a:t>an ODD number of 1’s on the inputs</a:t>
            </a:r>
            <a:endParaRPr lang="en-IN" sz="2400" dirty="0"/>
          </a:p>
          <a:p>
            <a:endParaRPr lang="en-US" sz="2400" dirty="0"/>
          </a:p>
          <a:p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CBC7B-B38B-46EC-B256-DB274DD35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74" y="4001294"/>
            <a:ext cx="10118035" cy="2797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151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1501-A9EA-1666-9F5F-74C489DE5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XOR Gate (</a:t>
            </a:r>
            <a:r>
              <a:rPr lang="en-IN" i="1" dirty="0"/>
              <a:t>exclusive-OR gate)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3842F2-D8F3-A287-3F6F-1402CD65F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4833" y="1925016"/>
            <a:ext cx="3681900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C75DB5-BF00-2E23-D833-D0D711E25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1171" y="1925016"/>
            <a:ext cx="2324424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555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AEECC-51E4-5750-6D69-78EFAAF7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XNOR Gate (Equality gate)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9D7D-C229-E7AC-9654-27A168116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r>
              <a:rPr lang="en-US" sz="2400" dirty="0"/>
              <a:t>Identical to the XOR gate, with the exception that the output is inverted. </a:t>
            </a:r>
          </a:p>
          <a:p>
            <a:r>
              <a:rPr lang="en-US" sz="2400" dirty="0"/>
              <a:t>This gate is also called an </a:t>
            </a:r>
            <a:r>
              <a:rPr lang="en-US" sz="2400" i="1" dirty="0"/>
              <a:t>equivalence </a:t>
            </a:r>
            <a:r>
              <a:rPr lang="en-US" sz="2400" dirty="0"/>
              <a:t>gate because for the 2-input configuration, its output will be true when the </a:t>
            </a:r>
            <a:r>
              <a:rPr lang="en-US" sz="2400" b="1" dirty="0"/>
              <a:t>input codes are equivalent to </a:t>
            </a:r>
            <a:r>
              <a:rPr lang="en-IN" sz="2400" b="1" dirty="0"/>
              <a:t>one another</a:t>
            </a:r>
            <a:r>
              <a:rPr lang="en-IN" sz="2400" dirty="0"/>
              <a:t>.</a:t>
            </a:r>
          </a:p>
          <a:p>
            <a:r>
              <a:rPr lang="en-US" sz="2400" dirty="0"/>
              <a:t> Output is true if there is an ODD number of 1’s on the inputs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4C3CE2-82F2-5D57-94F6-8F5CEDFE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7466"/>
            <a:ext cx="12192000" cy="3400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87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CF62A-3632-F457-2256-0A315D9C5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Given the following logic diagram, which is the correct logic expression </a:t>
            </a:r>
            <a:r>
              <a:rPr lang="en-IN" dirty="0"/>
              <a:t>for F?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34C984-CDA7-10AC-9761-456549279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6880" y="2220189"/>
            <a:ext cx="6020640" cy="19719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47974-C256-8FB7-CC48-94BB21745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107" y="5151328"/>
            <a:ext cx="2800741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09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998" name="Object 4"/>
          <p:cNvGraphicFramePr>
            <a:graphicFrameLocks noGrp="1" noChangeAspect="1"/>
          </p:cNvGraphicFramePr>
          <p:nvPr>
            <p:ph sz="half" idx="4294967295"/>
            <p:custDataLst>
              <p:tags r:id="rId1"/>
            </p:custDataLst>
          </p:nvPr>
        </p:nvGraphicFramePr>
        <p:xfrm>
          <a:off x="1666806" y="1066800"/>
          <a:ext cx="2484438" cy="473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961644" imgH="1914144" progId="Visio.Drawing.6">
                  <p:embed/>
                </p:oleObj>
              </mc:Choice>
              <mc:Fallback>
                <p:oleObj name="VISIO" r:id="rId5" imgW="961644" imgH="1914144" progId="Visio.Drawing.6">
                  <p:embed/>
                  <p:pic>
                    <p:nvPicPr>
                      <p:cNvPr id="849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6806" y="1066800"/>
                        <a:ext cx="2484438" cy="473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57400" y="1066800"/>
            <a:ext cx="8077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  <a:p>
            <a:pPr marL="342900" indent="-342900">
              <a:spcBef>
                <a:spcPct val="20000"/>
              </a:spcBef>
            </a:pPr>
            <a:endParaRPr lang="en-US" sz="3200">
              <a:latin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81200" y="68760"/>
            <a:ext cx="792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+mj-lt"/>
              </a:rPr>
              <a:t>Multiple-Input Logic Gates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/>
        </p:nvGraphicFramePr>
        <p:xfrm>
          <a:off x="5659438" y="1019175"/>
          <a:ext cx="2341562" cy="466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961200" imgH="1914480" progId="Visio.Drawing.6">
                  <p:embed/>
                </p:oleObj>
              </mc:Choice>
              <mc:Fallback>
                <p:oleObj name="VISIO" r:id="rId7" imgW="961200" imgH="1914480" progId="Visio.Drawing.6">
                  <p:embed/>
                  <p:pic>
                    <p:nvPicPr>
                      <p:cNvPr id="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9438" y="1019175"/>
                        <a:ext cx="2341562" cy="466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945E61D-5267-AD4F-8B36-1D0F9E31A8AA}"/>
              </a:ext>
            </a:extLst>
          </p:cNvPr>
          <p:cNvSpPr/>
          <p:nvPr/>
        </p:nvSpPr>
        <p:spPr>
          <a:xfrm>
            <a:off x="2123156" y="5857876"/>
            <a:ext cx="38966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FontTx/>
              <a:buChar char="•"/>
            </a:pPr>
            <a:r>
              <a:rPr lang="en-US" sz="2400" dirty="0"/>
              <a:t> Multi-input XOR: Odd parity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103402-D562-684D-9D11-E7C603CAC838}"/>
              </a:ext>
            </a:extLst>
          </p:cNvPr>
          <p:cNvSpPr/>
          <p:nvPr/>
        </p:nvSpPr>
        <p:spPr>
          <a:xfrm>
            <a:off x="8197584" y="1212212"/>
            <a:ext cx="1775411" cy="9303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308882-8E5E-364B-8BC8-01DC9D66C058}"/>
              </a:ext>
            </a:extLst>
          </p:cNvPr>
          <p:cNvSpPr txBox="1"/>
          <p:nvPr/>
        </p:nvSpPr>
        <p:spPr>
          <a:xfrm>
            <a:off x="8197584" y="1219200"/>
            <a:ext cx="1775411" cy="9233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Truth table rows</a:t>
            </a:r>
          </a:p>
          <a:p>
            <a:r>
              <a:rPr lang="en-US" dirty="0"/>
              <a:t>are listed in</a:t>
            </a:r>
          </a:p>
          <a:p>
            <a:r>
              <a:rPr lang="en-US" dirty="0"/>
              <a:t>binary order.</a:t>
            </a:r>
          </a:p>
        </p:txBody>
      </p:sp>
    </p:spTree>
    <p:extLst>
      <p:ext uri="{BB962C8B-B14F-4D97-AF65-F5344CB8AC3E}">
        <p14:creationId xmlns:p14="http://schemas.microsoft.com/office/powerpoint/2010/main" val="3654453433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PresentationFormat>Widescreen</PresentationFormat>
  <Paragraphs>61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VISIO</vt:lpstr>
      <vt:lpstr>Logic Gates</vt:lpstr>
      <vt:lpstr>Logic Gates</vt:lpstr>
      <vt:lpstr>PowerPoint Presentation</vt:lpstr>
      <vt:lpstr>Buffer</vt:lpstr>
      <vt:lpstr>Inverter (NOT Gate)</vt:lpstr>
      <vt:lpstr>AND GATE (logical product) </vt:lpstr>
      <vt:lpstr>NAND Gate </vt:lpstr>
      <vt:lpstr>OR Gate</vt:lpstr>
      <vt:lpstr>NOR Gate</vt:lpstr>
      <vt:lpstr>XOR Gate (exclusive-OR gate)</vt:lpstr>
      <vt:lpstr>XOR Gate (exclusive-OR gate)</vt:lpstr>
      <vt:lpstr>XNOR Gate (Equality gate)</vt:lpstr>
      <vt:lpstr>Given the following logic diagram, which is the correct logic expression for F?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2</cp:revision>
  <dcterms:created xsi:type="dcterms:W3CDTF">2026-05-03T08:21:26Z</dcterms:created>
  <dcterms:modified xsi:type="dcterms:W3CDTF">2026-05-03T08:26:04Z</dcterms:modified>
</cp:coreProperties>
</file>