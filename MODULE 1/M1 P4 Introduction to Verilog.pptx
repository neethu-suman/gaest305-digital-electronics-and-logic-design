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7" r:id="rId1"/>
  </p:sldMasterIdLst>
  <p:sldIdLst>
    <p:sldId id="294" r:id="rId2"/>
    <p:sldId id="257" r:id="rId3"/>
    <p:sldId id="258" r:id="rId4"/>
    <p:sldId id="259" r:id="rId5"/>
    <p:sldId id="260" r:id="rId6"/>
    <p:sldId id="295" r:id="rId7"/>
    <p:sldId id="296" r:id="rId8"/>
    <p:sldId id="299" r:id="rId9"/>
    <p:sldId id="300" r:id="rId10"/>
    <p:sldId id="290" r:id="rId11"/>
    <p:sldId id="292" r:id="rId12"/>
    <p:sldId id="297" r:id="rId13"/>
    <p:sldId id="301" r:id="rId14"/>
    <p:sldId id="261" r:id="rId15"/>
    <p:sldId id="262" r:id="rId16"/>
    <p:sldId id="302" r:id="rId17"/>
    <p:sldId id="263" r:id="rId18"/>
    <p:sldId id="264" r:id="rId19"/>
    <p:sldId id="265" r:id="rId20"/>
    <p:sldId id="266" r:id="rId21"/>
    <p:sldId id="267" r:id="rId22"/>
    <p:sldId id="303" r:id="rId23"/>
    <p:sldId id="282" r:id="rId24"/>
    <p:sldId id="283" r:id="rId25"/>
    <p:sldId id="298" r:id="rId26"/>
    <p:sldId id="285" r:id="rId27"/>
    <p:sldId id="287" r:id="rId28"/>
    <p:sldId id="288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0" r:id="rId42"/>
    <p:sldId id="28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5CE29-F1D2-8C65-8016-D3304061F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F44EF5-0576-D900-A1E8-B765916C3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56E26-5126-E6B4-B445-A03A78745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7A0AB-0388-91FF-36E8-C470147DC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E275E-95F5-1963-A7C1-DC436ADC2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608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4050-F883-98D5-7AEF-27510DD55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ADFDA-E0FD-5FBF-C205-9A7BCB7C2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C5CBD-2FA9-B652-967E-FF816A2D7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622CE-5556-6F09-3380-CA5A6C1C2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EC130-01DE-CC9D-DA9D-0C2681939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422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DF5C6-2A20-23E7-0D58-332E3991D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5F0EC-F3A8-FB61-7870-DB44A2C6F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ADE5D-ED28-21E9-2B72-A444D073C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57870-0C3F-D97A-0653-FF177E430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D55CD-CC3F-8CFF-A143-73C8EB6D8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961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C7564-4CC5-6055-873B-A12327F31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CD2EA-8A23-C127-8D8A-146C4BB35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DE6D8-3CD9-57D7-B1DC-6B2B01F4A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6FE3B-5C92-7C2B-68C6-30E2AC60E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010F0-EDD0-E3ED-D0E8-2E5EEE78A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E05D7-F458-7822-C1A1-2849FABF5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131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151FB-85EB-1A51-CC3F-96514DBE0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1D896-04EB-588B-EE31-FF0464095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76801B-4E64-519A-0116-0C02F2FC8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A0C5FA-C739-514F-A2F4-29C0752EC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CA32EB-2C7C-BDEE-504B-C0F777624A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F02082-E46A-9CD1-3CE7-BEBF912B0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C6F08D-3F4B-DAC7-1790-5C4B0D767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BB0E12-205E-94B3-02EF-98041561A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940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B790B-31D0-BD99-D6A2-173C9F0A1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6C8971-0E2F-AF42-37A7-0F95CF457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8957F3-4EA6-A152-8FA6-9A4875C39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30FFE4-C6B7-E133-F37F-F4A55D254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631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E7A983-FCEB-4FA1-9D69-79AF032A2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46FF7F-A268-76B3-AE52-B5C3B4436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EF3D2-915D-201D-9916-887B1357E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77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7C430-0565-E633-17D7-F4669CECF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D8855-6296-B6DB-422D-D9AA62291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A9BBD-4E46-F3D1-9C89-BECCFF579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D4B21-BC10-5BD7-AE2A-727DD084C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684DD-2FF7-5E97-886C-AF014B44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B9E82-AE6D-1320-6100-611C777C1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241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BC310-C0CE-B97B-DC4E-2977C6494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D8A0A1-3007-F954-D1CD-02667CC02F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050FA-76D9-561D-C9B7-D13BC8C1D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5D2D40-B552-E3C6-9748-F0A8169E3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68292-1D50-FC6F-F2D6-0500A09C5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0C984-982F-785D-70AC-2F6E1135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628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A040-AC0E-1FCB-7606-09F1E8F9B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3F002-BEED-16C0-5391-0F473F002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89AE3-82FD-126F-8A82-A877D9F95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1E9FD-8408-6F4C-8ED5-5B7D9E727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B4CAA-026B-2042-9B37-54CACB376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669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5575B-B7F4-7DB1-860C-B66243D031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CC7836-34DD-49AD-FF47-1C69D254B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991BA-0266-9744-78F7-A646D96D9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58238-14C5-FE87-5BF8-3F33B5043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59B7-A946-2AC9-4992-A16C987A7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92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554602-E272-D533-5CD2-2DAD87AAD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639D2-6D00-EA18-F8A5-A7F6A657B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CDF1E-5D4B-E237-82CC-C30081052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D30B0-AD5C-6323-D36F-F2E919DEDC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B6781-5827-4E7B-10A2-6F40361AD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598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EE321-DD0F-9EC4-32EE-126529DD8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/>
              <a:t>Verilog (Part 1)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7B8D2-0C31-5C8D-2D17-66012FB5E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dirty="0"/>
              <a:t>HDL Abstraction</a:t>
            </a:r>
          </a:p>
          <a:p>
            <a:r>
              <a:rPr lang="en" dirty="0"/>
              <a:t>Modern digital design flow </a:t>
            </a:r>
          </a:p>
          <a:p>
            <a:r>
              <a:rPr lang="en" dirty="0"/>
              <a:t>Verilog constructs</a:t>
            </a:r>
          </a:p>
          <a:p>
            <a:r>
              <a:rPr lang="en" dirty="0"/>
              <a:t>Data types</a:t>
            </a:r>
          </a:p>
          <a:p>
            <a:r>
              <a:rPr lang="en" dirty="0"/>
              <a:t>Module</a:t>
            </a:r>
          </a:p>
          <a:p>
            <a:r>
              <a:rPr lang="en" dirty="0"/>
              <a:t>Verilog operators.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0653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649" y="624110"/>
            <a:ext cx="10300963" cy="1280890"/>
          </a:xfrm>
        </p:spPr>
        <p:txBody>
          <a:bodyPr/>
          <a:lstStyle/>
          <a:p>
            <a:r>
              <a:rPr lang="en-US" b="1" dirty="0">
                <a:ea typeface="Cambria" panose="02040503050406030204" pitchFamily="18" charset="0"/>
                <a:cs typeface="Times New Roman" panose="02020603050405020304" pitchFamily="18" charset="0"/>
              </a:rPr>
              <a:t>HDL Abstraction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3649" y="1763486"/>
            <a:ext cx="10300963" cy="414773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Description Languages (HDL)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HDLs were originally defined to be able to model behavior at multiple levels of abstraction.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 is an important concept in engineering design because it allows us to specify how systems will operate without getting consumed prematurely with implementation details.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Also, by removing the details of the lower-level implementation, simulations can be conducted in reasonable amounts of time to model the higher-level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181145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6" y="624110"/>
            <a:ext cx="7761688" cy="623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090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4C8A6-1C29-0E6C-C110-00B324E1C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459"/>
          </a:xfrm>
        </p:spPr>
        <p:txBody>
          <a:bodyPr/>
          <a:lstStyle/>
          <a:p>
            <a:r>
              <a:rPr lang="en-US" b="1" dirty="0">
                <a:ea typeface="Cambria" panose="02040503050406030204" pitchFamily="18" charset="0"/>
                <a:cs typeface="Times New Roman" panose="02020603050405020304" pitchFamily="18" charset="0"/>
              </a:rPr>
              <a:t>HDL Abstraction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7584"/>
            <a:ext cx="10515600" cy="5169159"/>
          </a:xfrm>
        </p:spPr>
        <p:txBody>
          <a:bodyPr>
            <a:normAutofit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System level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Highest level of abstraction is the system level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Behavior of a system is described by stating a set of broad specifications. 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Ex: A specification such as “the computer system will perform 10 Floating Point Operations per Second (10 TFLOPS) on double precision data and consume no more than 100 Watts of power.”</a:t>
            </a:r>
          </a:p>
          <a:p>
            <a:r>
              <a:rPr lang="en-US" b="1" dirty="0">
                <a:cs typeface="Times New Roman" panose="02020603050405020304" pitchFamily="18" charset="0"/>
              </a:rPr>
              <a:t>Algorithmic level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Specifications begin to be broken down into sub-systems, each with an associated behavior that will accomplish a part of the primary task. 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Ex: computer specifications might be broken down into sub-systems such as a central processing unit (CPU) to perform the computation and random-access memory (RAM) to hold the inputs and outputs of the computation.</a:t>
            </a:r>
          </a:p>
        </p:txBody>
      </p:sp>
    </p:spTree>
    <p:extLst>
      <p:ext uri="{BB962C8B-B14F-4D97-AF65-F5344CB8AC3E}">
        <p14:creationId xmlns:p14="http://schemas.microsoft.com/office/powerpoint/2010/main" val="1958900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D3FF-E7BB-DE6E-F297-CF2624258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Cambria" panose="02040503050406030204" pitchFamily="18" charset="0"/>
                <a:cs typeface="Times New Roman" panose="02020603050405020304" pitchFamily="18" charset="0"/>
              </a:rPr>
              <a:t>HDL Abstraction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Register transfer level (RTL)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Details of how data is moved between and within sub-systems are described in addition to how the data is manipulated based on system inputs.</a:t>
            </a:r>
          </a:p>
          <a:p>
            <a:r>
              <a:rPr lang="en-US" b="1" dirty="0">
                <a:cs typeface="Times New Roman" panose="02020603050405020304" pitchFamily="18" charset="0"/>
              </a:rPr>
              <a:t>Gate level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Design is described using basic gates and registers (or storage elements).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Gate level is essentially a schematic (either graphically or text based) that contains the components and connections that will implement the functionality from the above levels of abstraction.</a:t>
            </a:r>
          </a:p>
        </p:txBody>
      </p:sp>
    </p:spTree>
    <p:extLst>
      <p:ext uri="{BB962C8B-B14F-4D97-AF65-F5344CB8AC3E}">
        <p14:creationId xmlns:p14="http://schemas.microsoft.com/office/powerpoint/2010/main" val="1747090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EE413-DB60-365E-F941-173796ECD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19040-6613-8657-78B2-77480BCF3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mbria" panose="02040503050406030204" pitchFamily="18" charset="0"/>
                <a:cs typeface="Times New Roman" panose="02020603050405020304" pitchFamily="18" charset="0"/>
              </a:rPr>
              <a:t>HDL Abstraction 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5F997-46EA-998C-2B02-F63B62EDC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Circuit level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The circuit level describes the operation of the basic gates and registers using transistors, wires, and other electrical components such as resistors and capacitors.</a:t>
            </a:r>
          </a:p>
          <a:p>
            <a:r>
              <a:rPr lang="en-US" b="1" dirty="0">
                <a:cs typeface="Times New Roman" panose="02020603050405020304" pitchFamily="18" charset="0"/>
              </a:rPr>
              <a:t>Material level</a:t>
            </a:r>
          </a:p>
          <a:p>
            <a:pPr lvl="1"/>
            <a:r>
              <a:rPr lang="en-US" dirty="0">
                <a:cs typeface="Times New Roman" panose="02020603050405020304" pitchFamily="18" charset="0"/>
              </a:rPr>
              <a:t>This level describes how different materials are combined and shaped in order to implement the transistors, devices, and wires from the circuit level.</a:t>
            </a:r>
          </a:p>
        </p:txBody>
      </p:sp>
    </p:spTree>
    <p:extLst>
      <p:ext uri="{BB962C8B-B14F-4D97-AF65-F5344CB8AC3E}">
        <p14:creationId xmlns:p14="http://schemas.microsoft.com/office/powerpoint/2010/main" val="3894756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6D9F6-ECE7-7DF1-B55D-2AE00776B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/>
              <a:t>Modern digital </a:t>
            </a:r>
            <a:br>
              <a:rPr lang="en" b="1" dirty="0"/>
            </a:br>
            <a:r>
              <a:rPr lang="en" b="1" dirty="0"/>
              <a:t>design flow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0F077-4196-6ED8-F4F3-2FD0C7F4C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5456FD-0145-C502-D0A0-F79442965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059" y="0"/>
            <a:ext cx="7732414" cy="703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307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7BA2CE-FE1F-26D0-16A0-DC0C58ED5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576" y="0"/>
            <a:ext cx="92839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32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BBD38F-9531-F209-A398-4CBB77FF0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025" y="179036"/>
            <a:ext cx="9607815" cy="640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374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Verilog Constructs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Hardware description languages (HDLs) allow the functionality of digital systems to be entered using text.</a:t>
            </a:r>
          </a:p>
          <a:p>
            <a:r>
              <a:rPr lang="en-US" dirty="0">
                <a:cs typeface="Times New Roman" panose="02020603050405020304" pitchFamily="18" charset="0"/>
              </a:rPr>
              <a:t>VHDL and Verilog are the two most common HDLs in use today. </a:t>
            </a:r>
          </a:p>
          <a:p>
            <a:r>
              <a:rPr lang="en-US" dirty="0">
                <a:cs typeface="Times New Roman" panose="02020603050405020304" pitchFamily="18" charset="0"/>
              </a:rPr>
              <a:t>In the 1980s, two major HDLs emerged, VHDL and Verilog. </a:t>
            </a:r>
          </a:p>
          <a:p>
            <a:r>
              <a:rPr lang="en-US" dirty="0">
                <a:cs typeface="Times New Roman" panose="02020603050405020304" pitchFamily="18" charset="0"/>
              </a:rPr>
              <a:t>VHDL was sponsored by the Department of Defense, while Verilog was driven by the commercial industry. </a:t>
            </a:r>
          </a:p>
          <a:p>
            <a:r>
              <a:rPr lang="en-US" dirty="0">
                <a:cs typeface="Times New Roman" panose="02020603050405020304" pitchFamily="18" charset="0"/>
              </a:rPr>
              <a:t>Both were later standardized by IEEE.</a:t>
            </a:r>
          </a:p>
        </p:txBody>
      </p:sp>
    </p:spTree>
    <p:extLst>
      <p:ext uri="{BB962C8B-B14F-4D97-AF65-F5344CB8AC3E}">
        <p14:creationId xmlns:p14="http://schemas.microsoft.com/office/powerpoint/2010/main" val="3213700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Verilog Constructs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920" y="1572932"/>
            <a:ext cx="10311646" cy="433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923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459A9-E978-C5A8-C69D-8FA6B06D7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32DE1-3298-CD9B-3381-C4B3EB6AE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1830"/>
          </a:xfrm>
        </p:spPr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Verilog Constructs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377CB-F289-8C74-0F59-71456EFBA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46244"/>
            <a:ext cx="11030339" cy="5169159"/>
          </a:xfrm>
        </p:spPr>
        <p:txBody>
          <a:bodyPr>
            <a:norm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A Verilog design describes a single system in a single file. The file has the suffix *.v.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Within the file, the system description is contained within a module.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The module includes the interface to the system(i.e., the inputs and outputs) and the description of the behavior.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Verilog is case sensitive.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Also, each Verilog assignment, definition, or declaration is terminated with a semicolon (;).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Comments in Verilog are supported in two ways.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>
                <a:cs typeface="Times New Roman" panose="02020603050405020304" pitchFamily="18" charset="0"/>
              </a:rPr>
              <a:t>Line comment</a:t>
            </a:r>
            <a:r>
              <a:rPr lang="en-US" sz="2000" dirty="0">
                <a:cs typeface="Times New Roman" panose="02020603050405020304" pitchFamily="18" charset="0"/>
              </a:rPr>
              <a:t> is preceded with two slashes (i.e., //). Everything after the slashes is considered a comment until the end of the line.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>
                <a:cs typeface="Times New Roman" panose="02020603050405020304" pitchFamily="18" charset="0"/>
              </a:rPr>
              <a:t>Block comment </a:t>
            </a:r>
            <a:r>
              <a:rPr lang="en-US" sz="2000" dirty="0">
                <a:cs typeface="Times New Roman" panose="02020603050405020304" pitchFamily="18" charset="0"/>
              </a:rPr>
              <a:t>begins with /* and ends with a */. Everything between /* and */ is considered a comment.  A block comment can span multiple lines.</a:t>
            </a:r>
            <a:endParaRPr lang="en-US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0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7A0C9-CD43-4882-23BF-0059A6398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Verilog Constructs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A32D9-18F9-DF23-7C84-EB485F82F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user-defined names in Verilog must start with an alphabetic letter, not a number. </a:t>
            </a:r>
          </a:p>
          <a:p>
            <a:r>
              <a:rPr lang="en-US" dirty="0"/>
              <a:t>User-defined names are not allowed to be the same as </a:t>
            </a:r>
            <a:r>
              <a:rPr lang="en-IN" dirty="0"/>
              <a:t>any Verilog keyword.</a:t>
            </a:r>
          </a:p>
        </p:txBody>
      </p:sp>
    </p:spTree>
    <p:extLst>
      <p:ext uri="{BB962C8B-B14F-4D97-AF65-F5344CB8AC3E}">
        <p14:creationId xmlns:p14="http://schemas.microsoft.com/office/powerpoint/2010/main" val="2133950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In Verilog, every signal, constant, variable, and function must be assigned a data type.</a:t>
            </a:r>
          </a:p>
          <a:p>
            <a:r>
              <a:rPr lang="en-US" dirty="0">
                <a:cs typeface="Times New Roman" panose="02020603050405020304" pitchFamily="18" charset="0"/>
              </a:rPr>
              <a:t>Value Set</a:t>
            </a:r>
          </a:p>
          <a:p>
            <a:r>
              <a:rPr lang="en-US" dirty="0">
                <a:cs typeface="Times New Roman" panose="02020603050405020304" pitchFamily="18" charset="0"/>
              </a:rPr>
              <a:t>Net Data Types</a:t>
            </a:r>
          </a:p>
          <a:p>
            <a:r>
              <a:rPr lang="en-US" dirty="0">
                <a:cs typeface="Times New Roman" panose="02020603050405020304" pitchFamily="18" charset="0"/>
              </a:rPr>
              <a:t>Variable Data Types</a:t>
            </a:r>
          </a:p>
          <a:p>
            <a:r>
              <a:rPr lang="en-US" dirty="0">
                <a:cs typeface="Times New Roman" panose="02020603050405020304" pitchFamily="18" charset="0"/>
              </a:rPr>
              <a:t>Vectors</a:t>
            </a:r>
          </a:p>
          <a:p>
            <a:r>
              <a:rPr lang="en-US" dirty="0">
                <a:cs typeface="Times New Roman" panose="02020603050405020304" pitchFamily="18" charset="0"/>
              </a:rPr>
              <a:t>Arrays</a:t>
            </a:r>
          </a:p>
        </p:txBody>
      </p:sp>
    </p:spTree>
    <p:extLst>
      <p:ext uri="{BB962C8B-B14F-4D97-AF65-F5344CB8AC3E}">
        <p14:creationId xmlns:p14="http://schemas.microsoft.com/office/powerpoint/2010/main" val="403447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Value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Verilog supports four basic values that a signal can take on: 0, 1, X, and Z. Most of the pre-defined data types in Verilog store these values. </a:t>
            </a:r>
          </a:p>
          <a:p>
            <a:endParaRPr lang="en-US" dirty="0"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6CEEA6-D442-575E-BDCE-FDC8A1BF0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81" y="3159787"/>
            <a:ext cx="7158550" cy="31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955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6D0FC-6BC0-0B77-E15E-77CA746BA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9193"/>
          </a:xfrm>
        </p:spPr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Value 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6A0DA-26D2-712A-6B04-081F794AA0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94318"/>
            <a:ext cx="3491204" cy="5206113"/>
          </a:xfrm>
        </p:spPr>
        <p:txBody>
          <a:bodyPr>
            <a:normAutofit/>
          </a:bodyPr>
          <a:lstStyle/>
          <a:p>
            <a:r>
              <a:rPr lang="en-US" sz="2000" dirty="0"/>
              <a:t>In Verilog, these values also have an associated strength.</a:t>
            </a:r>
          </a:p>
          <a:p>
            <a:r>
              <a:rPr lang="en-US" sz="2000" dirty="0"/>
              <a:t>The strengths are used to resolve the value of a signal when it is driven by multiple sources.</a:t>
            </a:r>
          </a:p>
          <a:p>
            <a:r>
              <a:rPr lang="en-US" sz="2000" dirty="0"/>
              <a:t>When a signal is driven by multiple drivers, it will take on the value of the driver with the highest strength. </a:t>
            </a:r>
          </a:p>
          <a:p>
            <a:r>
              <a:rPr lang="en-US" sz="2000" dirty="0"/>
              <a:t>If the two drivers have the same strength, the value will be unknown. </a:t>
            </a:r>
          </a:p>
          <a:p>
            <a:r>
              <a:rPr lang="en-US" sz="2000" dirty="0"/>
              <a:t>If the strength is not specified, it will default to strong drive, or level 6</a:t>
            </a:r>
            <a:endParaRPr lang="en-IN" sz="2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BF2609-4EEE-D347-8A5D-016CF63543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84C518-6493-5DAF-FA70-BFB92AB31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881" y="0"/>
            <a:ext cx="7829939" cy="17814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6311F4-9A75-5E1A-D1EF-1800D3DE8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881" y="1669690"/>
            <a:ext cx="7659276" cy="52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88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Net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Every signal within Verilog must be associated with a data type.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A net data type is one that models an interconnection between components and can take on the values 0, 1, X, and Z.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A signal with a net data type must be driven at all times and updates its value when the driver value changes.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The most common synthesizable net data type in Verilog is the wire.</a:t>
            </a:r>
          </a:p>
          <a:p>
            <a:r>
              <a:rPr lang="en-US" sz="2400" dirty="0"/>
              <a:t>Each of these net types can also have an associated </a:t>
            </a:r>
            <a:r>
              <a:rPr lang="en-US" sz="2400" i="1" dirty="0"/>
              <a:t>drive strength</a:t>
            </a:r>
            <a:r>
              <a:rPr lang="en-US" sz="2400" dirty="0"/>
              <a:t>. The strength is used in determining the final value of the net when it is connected to multiple </a:t>
            </a:r>
            <a:r>
              <a:rPr lang="en-IN" sz="2400" dirty="0"/>
              <a:t>drivers</a:t>
            </a:r>
            <a:endParaRPr lang="en-US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093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7DEF4-68C8-5C2E-3358-77E12FEFC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Net Data Types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0A8995A-1967-E987-1652-1E3B52FEEF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8469" y="1253331"/>
            <a:ext cx="8830681" cy="536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298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8472"/>
            <a:ext cx="10515600" cy="838524"/>
          </a:xfrm>
        </p:spPr>
        <p:txBody>
          <a:bodyPr>
            <a:normAutofit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Variable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015" y="1296954"/>
            <a:ext cx="10744233" cy="4642259"/>
          </a:xfrm>
        </p:spPr>
        <p:txBody>
          <a:bodyPr>
            <a:norm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Verilog also contains data types that model storage.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These are called variable data types.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A variable data type can take on the values 0, 1, X, and Z but does not have an associated strength.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 Variable data types will hold the value assigned to them until their next assignment.</a:t>
            </a:r>
            <a:endParaRPr lang="en-US" sz="2400" b="1" dirty="0"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684567-8297-CB77-57AC-C9BB42EE5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015" y="3791254"/>
            <a:ext cx="10744233" cy="306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198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In Verilog, a vector is a one-dimensional array of elements. All of the net data types, in addition to the variable type </a:t>
            </a:r>
            <a:r>
              <a:rPr lang="en-US" dirty="0" err="1">
                <a:cs typeface="Times New Roman" panose="02020603050405020304" pitchFamily="18" charset="0"/>
              </a:rPr>
              <a:t>reg</a:t>
            </a:r>
            <a:r>
              <a:rPr lang="en-US" dirty="0">
                <a:cs typeface="Times New Roman" panose="02020603050405020304" pitchFamily="18" charset="0"/>
              </a:rPr>
              <a:t>, can be used to form vectors. </a:t>
            </a:r>
          </a:p>
          <a:p>
            <a:endParaRPr lang="en-US" dirty="0"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B97E0D-4508-DC6D-DD41-D8AA8C88C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304" y="3087031"/>
            <a:ext cx="8838248" cy="4574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8619FD-8EDF-11F4-5400-768D45993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318" y="3724102"/>
            <a:ext cx="9311951" cy="227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085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An array is a multidimensional array of elements.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This can also be thought of as a “vector of vectors.”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Vectors within the array all have the same dimensions.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To declare an array, the element type and dimensions are defined first followed by the array name and its dimensions.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1D7EEB-0C3E-5B32-B003-829EA47FB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34" y="3933825"/>
            <a:ext cx="9498563" cy="7221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C35B83-6A61-595E-BF1D-F943A5B99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335" y="4954979"/>
            <a:ext cx="9647854" cy="154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64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06485-0490-AA44-BB62-A90DAE324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Expressing Numbers Using Different Bases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136CDB-1726-3388-9C1D-CA351F4CF9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7366" y="1583029"/>
            <a:ext cx="385906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773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692" y="1489218"/>
            <a:ext cx="10641597" cy="4739245"/>
          </a:xfrm>
        </p:spPr>
        <p:txBody>
          <a:bodyPr>
            <a:norm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All systems in Verilog are encapsulated inside of a module.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Modules can include instantiations of lower-level modules in order to support hierarchical designs.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The keywords module and </a:t>
            </a:r>
            <a:r>
              <a:rPr lang="en-US" sz="2400" dirty="0" err="1">
                <a:cs typeface="Times New Roman" panose="02020603050405020304" pitchFamily="18" charset="0"/>
              </a:rPr>
              <a:t>endmodule</a:t>
            </a:r>
            <a:r>
              <a:rPr lang="en-US" sz="2400" dirty="0">
                <a:cs typeface="Times New Roman" panose="02020603050405020304" pitchFamily="18" charset="0"/>
              </a:rPr>
              <a:t> signify the beginning and end of the system description.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When working on large designs, it is common practice to place each module in its own file with the same name.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FD5119-1CC0-D1A0-B1F7-4F24ABD93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642961"/>
            <a:ext cx="6992326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5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Port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The first item within a module is its definition of the inputs and outputs, or ports.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Each port needs to have a user-defined </a:t>
            </a:r>
            <a:r>
              <a:rPr lang="en-US" sz="2400" b="1" i="1" dirty="0">
                <a:cs typeface="Times New Roman" panose="02020603050405020304" pitchFamily="18" charset="0"/>
              </a:rPr>
              <a:t>name, a direction, and a type.</a:t>
            </a:r>
          </a:p>
          <a:p>
            <a:pPr lvl="1"/>
            <a:r>
              <a:rPr lang="en-US" sz="2000" dirty="0">
                <a:cs typeface="Times New Roman" panose="02020603050405020304" pitchFamily="18" charset="0"/>
              </a:rPr>
              <a:t>The user-defined port names are case sensitive and must begin an alphabetic character. </a:t>
            </a:r>
          </a:p>
          <a:p>
            <a:pPr lvl="1"/>
            <a:r>
              <a:rPr lang="en-US" sz="2000" dirty="0">
                <a:cs typeface="Times New Roman" panose="02020603050405020304" pitchFamily="18" charset="0"/>
              </a:rPr>
              <a:t>The port directions are declared to be one of the three types</a:t>
            </a:r>
            <a:r>
              <a:rPr lang="en-US" sz="2000" b="1" i="1" dirty="0">
                <a:cs typeface="Times New Roman" panose="02020603050405020304" pitchFamily="18" charset="0"/>
              </a:rPr>
              <a:t>: input, output, and </a:t>
            </a:r>
            <a:r>
              <a:rPr lang="en-US" sz="2000" b="1" i="1" dirty="0" err="1">
                <a:cs typeface="Times New Roman" panose="02020603050405020304" pitchFamily="18" charset="0"/>
              </a:rPr>
              <a:t>inout</a:t>
            </a:r>
            <a:r>
              <a:rPr lang="en-US" sz="2000" b="1" i="1" dirty="0">
                <a:cs typeface="Times New Roman" panose="02020603050405020304" pitchFamily="18" charset="0"/>
              </a:rPr>
              <a:t>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A port can take on any of the previously described data types, but only wires, registers, and integers are synthesizable.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Port names with the same type and direction can be listed on the same line separated by commas. </a:t>
            </a:r>
          </a:p>
        </p:txBody>
      </p:sp>
    </p:spTree>
    <p:extLst>
      <p:ext uri="{BB962C8B-B14F-4D97-AF65-F5344CB8AC3E}">
        <p14:creationId xmlns:p14="http://schemas.microsoft.com/office/powerpoint/2010/main" val="1904448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8D98B0B-EEDF-1CA4-1F42-CD213DADC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Port Definitions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BA31FA-9458-882F-C66C-018F668F1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19" y="1690688"/>
            <a:ext cx="8183117" cy="21720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A4A18D-AC41-6DC9-0ED1-AC7F8CA23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19" y="4227520"/>
            <a:ext cx="7887801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681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9193"/>
          </a:xfrm>
        </p:spPr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Signal Declarations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A signal that is used for internal connections within a system is declared within the module before its first use.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Each signal must be declared by listing its type followed by a user-defined name.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Signal names of like type can be declared on the same line separated with a comma.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All of the legal data types described above can be used for signals; however, only types net, </a:t>
            </a:r>
            <a:r>
              <a:rPr lang="en-US" sz="2400" dirty="0" err="1">
                <a:cs typeface="Times New Roman" panose="02020603050405020304" pitchFamily="18" charset="0"/>
              </a:rPr>
              <a:t>reg</a:t>
            </a:r>
            <a:r>
              <a:rPr lang="en-US" sz="2400" dirty="0">
                <a:cs typeface="Times New Roman" panose="02020603050405020304" pitchFamily="18" charset="0"/>
              </a:rPr>
              <a:t>, and integer will synthesize directly.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74F592F-C703-956A-1647-731C175AE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101" y="4150000"/>
            <a:ext cx="8650287" cy="302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4597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Parameter Declarations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1070"/>
            <a:ext cx="10515600" cy="4430152"/>
          </a:xfrm>
        </p:spPr>
        <p:txBody>
          <a:bodyPr>
            <a:norm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A parameter, or constant, is useful for representing a quantity that will be used multiple times in the architecture. The syntax for declaring a parameter is as follows:</a:t>
            </a:r>
          </a:p>
          <a:p>
            <a:endParaRPr lang="en-US" sz="2400" dirty="0">
              <a:cs typeface="Times New Roman" panose="02020603050405020304" pitchFamily="18" charset="0"/>
            </a:endParaRPr>
          </a:p>
          <a:p>
            <a:r>
              <a:rPr lang="en-US" sz="2400" dirty="0">
                <a:cs typeface="Times New Roman" panose="02020603050405020304" pitchFamily="18" charset="0"/>
              </a:rPr>
              <a:t>The type is optional and can only be integer, time, real, or </a:t>
            </a:r>
            <a:r>
              <a:rPr lang="en-US" sz="2400" dirty="0" err="1">
                <a:cs typeface="Times New Roman" panose="02020603050405020304" pitchFamily="18" charset="0"/>
              </a:rPr>
              <a:t>realtime</a:t>
            </a:r>
            <a:r>
              <a:rPr lang="en-US" sz="2400" dirty="0"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If a type is provided, the parameter will have the same properties as a variable of the same time.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If the type is excluded, the parameter will take on the type of the value assigned to it.</a:t>
            </a:r>
          </a:p>
          <a:p>
            <a:endParaRPr lang="en-US" sz="2400" dirty="0"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506" y="2203690"/>
            <a:ext cx="8075053" cy="8180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928" y="4847319"/>
            <a:ext cx="7160654" cy="133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63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Compiler Directives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A compiler directive provides additional information to the simulation tool on how to interpret the Verilog model.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A compiler directive is placed before the module definition and is preceded with a backtick (i.e., `).  Note that this is not an apostrophe.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392" y="3349625"/>
            <a:ext cx="10254408" cy="350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6021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5136"/>
          </a:xfrm>
        </p:spPr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Verilog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4906"/>
            <a:ext cx="10515600" cy="49265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Logical Operators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Logic Operators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 Logic Operators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Operators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Operators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Concatenation Operator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Replication Operator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Operators</a:t>
            </a:r>
          </a:p>
        </p:txBody>
      </p:sp>
    </p:spTree>
    <p:extLst>
      <p:ext uri="{BB962C8B-B14F-4D97-AF65-F5344CB8AC3E}">
        <p14:creationId xmlns:p14="http://schemas.microsoft.com/office/powerpoint/2010/main" val="13057412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Assignment Operator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Verilog uses the equal sign (=) to denote an assignment. </a:t>
            </a:r>
          </a:p>
          <a:p>
            <a:r>
              <a:rPr lang="en-US" dirty="0">
                <a:cs typeface="Times New Roman" panose="02020603050405020304" pitchFamily="18" charset="0"/>
              </a:rPr>
              <a:t>The left-hand side (LHS) of the assignment is the target signal.</a:t>
            </a:r>
          </a:p>
          <a:p>
            <a:r>
              <a:rPr lang="en-US" dirty="0">
                <a:cs typeface="Times New Roman" panose="02020603050405020304" pitchFamily="18" charset="0"/>
              </a:rPr>
              <a:t>The right-hand side (RHS) contains the input arguments and can contain both signals, constants, and operators</a:t>
            </a:r>
          </a:p>
          <a:p>
            <a:endParaRPr lang="en-US" dirty="0"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30" y="3691374"/>
            <a:ext cx="10521062" cy="227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3859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2499"/>
          </a:xfrm>
        </p:spPr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Bitwise 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2338" y="1380632"/>
            <a:ext cx="10515600" cy="4468788"/>
          </a:xfrm>
        </p:spPr>
        <p:txBody>
          <a:bodyPr>
            <a:norm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Bitwise operators perform logic functions on individual bits.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The inputs to the operation are single bits and the output is a single bit.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In the case where the inputs are vectors, each bit in the first vector is operated on by the bit in the same position from the second vector.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If the vectors are not the same length, the shorter vector is padded with leading zeros to make both lengths equal.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4201D5-5A76-5AB4-CA3E-DDBA68980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98125"/>
            <a:ext cx="10635286" cy="289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8728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CBBAB-8157-E344-32B6-C8F1EA18F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Bitwise Logical Operators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160" y="1861473"/>
            <a:ext cx="10770734" cy="391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2503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8483"/>
          </a:xfrm>
        </p:spPr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Reduction Logic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2434"/>
            <a:ext cx="10666412" cy="4468788"/>
          </a:xfrm>
        </p:spPr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A reduction operator is one that uses each bit of a vector as individual inputs into a logic operation and produces a single bit output.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6" y="2319004"/>
            <a:ext cx="10155933" cy="415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310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Boolean Logic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A Boolean logic operator is one that returns a value of TRUE (1) or FALSE (0) based on a logic operation of the input operations.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70665"/>
            <a:ext cx="9714527" cy="334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2308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Relational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A relational operator is one that returns a value of TRUE (1) or FALSE (0) based on a comparison of two inputs.</a:t>
            </a:r>
          </a:p>
          <a:p>
            <a:endParaRPr lang="en-US" dirty="0"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717" y="2747881"/>
            <a:ext cx="4285097" cy="339194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576" y="2747881"/>
            <a:ext cx="6602526" cy="356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4133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Conditional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Verilog contains a conditional operator that can be used to provide a more intuitive approach to modeling logic statements. The keyword for the conditional operator is ? with the following syntax:</a:t>
            </a:r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405" y="2942063"/>
            <a:ext cx="8847786" cy="7754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894" y="3608853"/>
            <a:ext cx="10356906" cy="275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1500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F952C-3BEA-564A-787C-785FD9A53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Conditional Operators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This operator specifies a Boolean condition in which if evaluated TRUE, the true_assignment will be assigned to the target.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If the Boolean condition is evaluated FALSE, the false_assignment portion of the operator will be assigned to the target.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 The values in this assignment can be signals or logic values.</a:t>
            </a:r>
          </a:p>
        </p:txBody>
      </p:sp>
    </p:spTree>
    <p:extLst>
      <p:ext uri="{BB962C8B-B14F-4D97-AF65-F5344CB8AC3E}">
        <p14:creationId xmlns:p14="http://schemas.microsoft.com/office/powerpoint/2010/main" val="30847511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Concatenation Operator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In Verilog, the curly brackets (i.e., {}) are used to concatenate multiple signals. The target of this operation must be the same size of the sum of the sizes of the input arguments.</a:t>
            </a:r>
          </a:p>
          <a:p>
            <a:endParaRPr lang="en-US" dirty="0"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035" y="3251356"/>
            <a:ext cx="8937938" cy="306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973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Replication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Verilog provides the ability to concatenate a vector with itself through the replication operator. This operator uses double curly brackets (i.e., {{}}) and an integer indicating the number of replications to be performed.</a:t>
            </a:r>
          </a:p>
          <a:p>
            <a:endParaRPr lang="en-US" dirty="0"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70" y="3578136"/>
            <a:ext cx="9931020" cy="230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2364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Numerical Operators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54786"/>
            <a:ext cx="7615335" cy="489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4733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63B97-08A2-34D2-4768-6A22FFAC6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Verilog Operators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Verilog will allow the use of these operators on arguments of different sizes, types, and signs.</a:t>
            </a:r>
          </a:p>
          <a:p>
            <a:r>
              <a:rPr lang="en-US" dirty="0">
                <a:cs typeface="Times New Roman" panose="02020603050405020304" pitchFamily="18" charset="0"/>
              </a:rPr>
              <a:t> The rules of the operations are as follows: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cs typeface="Times New Roman" panose="02020603050405020304" pitchFamily="18" charset="0"/>
              </a:rPr>
              <a:t>If two vectors are of different sizes, the smaller vector is expanded to the size of the larger vector. </a:t>
            </a:r>
          </a:p>
          <a:p>
            <a:pPr lvl="2"/>
            <a:r>
              <a:rPr lang="en-US" dirty="0">
                <a:cs typeface="Times New Roman" panose="02020603050405020304" pitchFamily="18" charset="0"/>
              </a:rPr>
              <a:t>If the smaller vector is unsigned, it is padded with zeros. </a:t>
            </a:r>
          </a:p>
          <a:p>
            <a:pPr lvl="2"/>
            <a:r>
              <a:rPr lang="en-US" dirty="0">
                <a:cs typeface="Times New Roman" panose="02020603050405020304" pitchFamily="18" charset="0"/>
              </a:rPr>
              <a:t>If the smaller vector is signed, it is padded with the sign bit.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cs typeface="Times New Roman" panose="02020603050405020304" pitchFamily="18" charset="0"/>
              </a:rPr>
              <a:t>If one of the arguments is real, then the arithmetic will take place using real numbers.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cs typeface="Times New Roman" panose="02020603050405020304" pitchFamily="18" charset="0"/>
              </a:rPr>
              <a:t>If one of the arguments is unsigned, then all arguments will be treated as unsigned.</a:t>
            </a:r>
          </a:p>
        </p:txBody>
      </p:sp>
    </p:spTree>
    <p:extLst>
      <p:ext uri="{BB962C8B-B14F-4D97-AF65-F5344CB8AC3E}">
        <p14:creationId xmlns:p14="http://schemas.microsoft.com/office/powerpoint/2010/main" val="5016663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Operator Precedence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5685" y="1474894"/>
            <a:ext cx="7134895" cy="491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47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</TotalTime>
  <Words>1983</Words>
  <Application>Microsoft Office PowerPoint</Application>
  <PresentationFormat>Widescreen</PresentationFormat>
  <Paragraphs>159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Calibri Light</vt:lpstr>
      <vt:lpstr>Cambria</vt:lpstr>
      <vt:lpstr>Times New Roman</vt:lpstr>
      <vt:lpstr>Office Theme</vt:lpstr>
      <vt:lpstr>Verilog (Part 1)</vt:lpstr>
      <vt:lpstr>HDL Abstraction </vt:lpstr>
      <vt:lpstr>PowerPoint Presentation</vt:lpstr>
      <vt:lpstr>HDL Abstraction </vt:lpstr>
      <vt:lpstr>HDL Abstraction </vt:lpstr>
      <vt:lpstr>HDL Abstraction </vt:lpstr>
      <vt:lpstr>Modern digital  design flow </vt:lpstr>
      <vt:lpstr>PowerPoint Presentation</vt:lpstr>
      <vt:lpstr>PowerPoint Presentation</vt:lpstr>
      <vt:lpstr>Verilog Constructs</vt:lpstr>
      <vt:lpstr>Verilog Constructs</vt:lpstr>
      <vt:lpstr>Verilog Constructs</vt:lpstr>
      <vt:lpstr>Verilog Constructs</vt:lpstr>
      <vt:lpstr>Data Types</vt:lpstr>
      <vt:lpstr>Value Set</vt:lpstr>
      <vt:lpstr>Value Set</vt:lpstr>
      <vt:lpstr>Net Data Types</vt:lpstr>
      <vt:lpstr>Net Data Types</vt:lpstr>
      <vt:lpstr>Variable Data Types</vt:lpstr>
      <vt:lpstr>Vectors</vt:lpstr>
      <vt:lpstr>Arrays</vt:lpstr>
      <vt:lpstr>Expressing Numbers Using Different Bases</vt:lpstr>
      <vt:lpstr>Module</vt:lpstr>
      <vt:lpstr>Port Definitions</vt:lpstr>
      <vt:lpstr>Port Definitions</vt:lpstr>
      <vt:lpstr>Signal Declarations</vt:lpstr>
      <vt:lpstr>Parameter Declarations</vt:lpstr>
      <vt:lpstr>Compiler Directives</vt:lpstr>
      <vt:lpstr>Verilog Operators</vt:lpstr>
      <vt:lpstr>Assignment Operator </vt:lpstr>
      <vt:lpstr>Bitwise Logical Operators</vt:lpstr>
      <vt:lpstr>Bitwise Logical Operators</vt:lpstr>
      <vt:lpstr>Reduction Logic Operators</vt:lpstr>
      <vt:lpstr>Boolean Logic Operators</vt:lpstr>
      <vt:lpstr>Relational Operators</vt:lpstr>
      <vt:lpstr>Conditional Operators</vt:lpstr>
      <vt:lpstr>Conditional Operators</vt:lpstr>
      <vt:lpstr>Concatenation Operator </vt:lpstr>
      <vt:lpstr>Replication Operator</vt:lpstr>
      <vt:lpstr>Numerical Operators</vt:lpstr>
      <vt:lpstr>Verilog Operators</vt:lpstr>
      <vt:lpstr>Operator Precedence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Neethu Suman</cp:lastModifiedBy>
  <cp:revision>22</cp:revision>
  <dcterms:created xsi:type="dcterms:W3CDTF">2025-07-27T07:56:17Z</dcterms:created>
  <dcterms:modified xsi:type="dcterms:W3CDTF">2025-08-09T12:09:10Z</dcterms:modified>
</cp:coreProperties>
</file>